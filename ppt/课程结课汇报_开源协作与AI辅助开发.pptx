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8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image" Target="../media/image11.png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1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image" Target="../media/image10.png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image" Target="../media/image9.png"/><Relationship Id="rId10" Type="http://schemas.openxmlformats.org/officeDocument/2006/relationships/tags" Target="../tags/tag8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9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5.png"/><Relationship Id="rId2" Type="http://schemas.openxmlformats.org/officeDocument/2006/relationships/image" Target="../media/image25.png"/><Relationship Id="rId1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B3A5B"/>
          </a:solidFill>
        </p:spPr>
      </p:sp>
      <p:sp>
        <p:nvSpPr>
          <p:cNvPr id="3" name="Shape 1"/>
          <p:cNvSpPr/>
          <p:nvPr/>
        </p:nvSpPr>
        <p:spPr>
          <a:xfrm>
            <a:off x="9692640" y="-640080"/>
            <a:ext cx="3108960" cy="3108960"/>
          </a:xfrm>
          <a:prstGeom prst="ellipse">
            <a:avLst/>
          </a:prstGeom>
          <a:solidFill>
            <a:srgbClr val="2DD4BF">
              <a:alpha val="18000"/>
            </a:srgbClr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3657600"/>
            <a:ext cx="822960" cy="822960"/>
          </a:xfrm>
          <a:prstGeom prst="ellipse">
            <a:avLst/>
          </a:prstGeom>
          <a:solidFill>
            <a:srgbClr val="F59E0B">
              <a:alpha val="7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685800" y="1280160"/>
            <a:ext cx="1463040" cy="0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课程结课 · 经验交流汇报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96012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 AI 走进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小组协作开发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411480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C6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辅助多人共同开发的实践与经验分享</a:t>
            </a:r>
            <a:endParaRPr lang="en-US" sz="1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9834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4956048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协作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9834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4956048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团队提效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9834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4956048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经验沉淀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85800" y="5989320"/>
            <a:ext cx="5486400" cy="0"/>
          </a:xfrm>
          <a:prstGeom prst="line">
            <a:avLst/>
          </a:prstGeom>
          <a:noFill/>
          <a:ln w="12700">
            <a:solidFill>
              <a:srgbClr val="2A3F5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762695" y="6080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A0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3504"/>
            <a:ext cx="91440" cy="54864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3" name="Text 1"/>
          <p:cNvSpPr/>
          <p:nvPr/>
        </p:nvSpPr>
        <p:spPr>
          <a:xfrm>
            <a:off x="960120" y="45720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INTRO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1054577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今天，我们分享什么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8200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10820095" cy="1143000"/>
          </a:xfrm>
          <a:prstGeom prst="rect">
            <a:avLst/>
          </a:prstGeom>
          <a:solidFill>
            <a:srgbClr val="12304C"/>
          </a:solidFill>
        </p:spPr>
      </p:sp>
      <p:sp>
        <p:nvSpPr>
          <p:cNvPr id="7" name="Text 5"/>
          <p:cNvSpPr/>
          <p:nvPr/>
        </p:nvSpPr>
        <p:spPr>
          <a:xfrm>
            <a:off x="960120" y="169164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DB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这次不汇报</a:t>
            </a:r>
            <a:r>
              <a:rPr lang="en-US" sz="1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「做了哪些功能、提交了多少次」</a:t>
            </a:r>
            <a:r>
              <a:rPr lang="en-US" sz="1400" dirty="0">
                <a:solidFill>
                  <a:srgbClr val="9DB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，而是聚焦一个更值得聊的真问题——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21408"/>
            <a:ext cx="1027145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不只是个人提效工具，更是重塑小组协作方式的新变量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85800" y="3108960"/>
            <a:ext cx="345429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474720"/>
            <a:ext cx="777240" cy="777240"/>
          </a:xfrm>
          <a:prstGeom prst="ellipse">
            <a:avLst/>
          </a:prstGeom>
          <a:solidFill>
            <a:srgbClr val="2DD4BF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922" y="3676802"/>
            <a:ext cx="373075" cy="3730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011680" y="3611880"/>
            <a:ext cx="189981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05840" y="4526280"/>
            <a:ext cx="281421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如何让 11 人的并行开发更顺滑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68698" y="3108960"/>
            <a:ext cx="345429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88738" y="3474720"/>
            <a:ext cx="777240" cy="777240"/>
          </a:xfrm>
          <a:prstGeom prst="ellipse">
            <a:avLst/>
          </a:prstGeom>
          <a:solidFill>
            <a:srgbClr val="F59E0B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821" y="3676802"/>
            <a:ext cx="373075" cy="3730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94578" y="3611880"/>
            <a:ext cx="189981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提效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688738" y="4526280"/>
            <a:ext cx="281421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在编码、沟通、Review 中的真实作用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051597" y="3108960"/>
            <a:ext cx="345429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1637" y="3474720"/>
            <a:ext cx="777240" cy="777240"/>
          </a:xfrm>
          <a:prstGeom prst="ellipse">
            <a:avLst/>
          </a:prstGeom>
          <a:solidFill>
            <a:srgbClr val="2E5C8A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3719" y="3676802"/>
            <a:ext cx="373075" cy="3730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377477" y="3611880"/>
            <a:ext cx="189981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经验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371637" y="4526280"/>
            <a:ext cx="281421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可复用的方法论与踩过的坑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85800" y="580644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本次汇报围绕「AI 如何协助多人共同开发」展开，附可落地的方法与反思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8580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Computing Platform · 课程结课经验交流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9677095" y="64739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3504"/>
            <a:ext cx="91440" cy="54864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3" name="Text 1"/>
          <p:cNvSpPr/>
          <p:nvPr/>
        </p:nvSpPr>
        <p:spPr>
          <a:xfrm>
            <a:off x="960120" y="45720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1054577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背景与挑战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8200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3931920" cy="4114800"/>
          </a:xfrm>
          <a:prstGeom prst="roundRect">
            <a:avLst>
              <a:gd name="adj" fmla="val 2326"/>
            </a:avLst>
          </a:prstGeom>
          <a:solidFill>
            <a:srgbClr val="12304C"/>
          </a:solidFill>
          <a:ln w="12700">
            <a:solidFill>
              <a:srgbClr val="12304C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965960"/>
            <a:ext cx="777240" cy="777240"/>
          </a:xfrm>
          <a:prstGeom prst="ellipse">
            <a:avLst/>
          </a:prstGeom>
          <a:solidFill>
            <a:srgbClr val="2DD4BF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922" y="216804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205740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51560" y="2971800"/>
            <a:ext cx="7315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3154680"/>
            <a:ext cx="320040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面向工程教育专业认证的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毕业要求达成度计算平台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前后端分离 · 开源协作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892040" y="1645920"/>
            <a:ext cx="66138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并行开发，我们撞上这些墙</a:t>
            </a:r>
            <a:endParaRPr lang="en-US" sz="1500" dirty="0"/>
          </a:p>
        </p:txBody>
      </p:sp>
      <p:sp>
        <p:nvSpPr>
          <p:cNvPr id="13" name="Shape 10"/>
          <p:cNvSpPr/>
          <p:nvPr>
            <p:custDataLst>
              <p:tags r:id="rId2"/>
            </p:custDataLst>
          </p:nvPr>
        </p:nvSpPr>
        <p:spPr>
          <a:xfrm>
            <a:off x="4892040" y="2103120"/>
            <a:ext cx="661385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14" name="Shape 11"/>
          <p:cNvSpPr/>
          <p:nvPr>
            <p:custDataLst>
              <p:tags r:id="rId3"/>
            </p:custDataLst>
          </p:nvPr>
        </p:nvSpPr>
        <p:spPr>
          <a:xfrm>
            <a:off x="5093208" y="2304288"/>
            <a:ext cx="512064" cy="512064"/>
          </a:xfrm>
          <a:prstGeom prst="ellipse">
            <a:avLst/>
          </a:prstGeom>
          <a:solidFill>
            <a:srgbClr val="F59E0B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226345" y="2437425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/>
          <p:nvPr>
            <p:custDataLst>
              <p:tags r:id="rId6"/>
            </p:custDataLst>
          </p:nvPr>
        </p:nvSpPr>
        <p:spPr>
          <a:xfrm>
            <a:off x="5760720" y="2212848"/>
            <a:ext cx="560801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风格参差不齐</a:t>
            </a:r>
            <a:endParaRPr lang="en-US" sz="1400" dirty="0"/>
          </a:p>
        </p:txBody>
      </p:sp>
      <p:sp>
        <p:nvSpPr>
          <p:cNvPr id="17" name="Text 13"/>
          <p:cNvSpPr/>
          <p:nvPr>
            <p:custDataLst>
              <p:tags r:id="rId7"/>
            </p:custDataLst>
          </p:nvPr>
        </p:nvSpPr>
        <p:spPr>
          <a:xfrm>
            <a:off x="5760720" y="2560320"/>
            <a:ext cx="560801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命名、结构、写法因人而异，合并后像「多人方言」</a:t>
            </a:r>
            <a:endParaRPr lang="en-US" sz="1150" dirty="0"/>
          </a:p>
        </p:txBody>
      </p:sp>
      <p:sp>
        <p:nvSpPr>
          <p:cNvPr id="18" name="Shape 14"/>
          <p:cNvSpPr/>
          <p:nvPr>
            <p:custDataLst>
              <p:tags r:id="rId8"/>
            </p:custDataLst>
          </p:nvPr>
        </p:nvSpPr>
        <p:spPr>
          <a:xfrm>
            <a:off x="4892040" y="3127248"/>
            <a:ext cx="661385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19" name="Shape 15"/>
          <p:cNvSpPr/>
          <p:nvPr>
            <p:custDataLst>
              <p:tags r:id="rId9"/>
            </p:custDataLst>
          </p:nvPr>
        </p:nvSpPr>
        <p:spPr>
          <a:xfrm>
            <a:off x="5093208" y="3328416"/>
            <a:ext cx="512064" cy="512064"/>
          </a:xfrm>
          <a:prstGeom prst="ellipse">
            <a:avLst/>
          </a:prstGeom>
          <a:solidFill>
            <a:srgbClr val="F59E0B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226345" y="3461553"/>
            <a:ext cx="245791" cy="245791"/>
          </a:xfrm>
          <a:prstGeom prst="rect">
            <a:avLst/>
          </a:prstGeom>
        </p:spPr>
      </p:pic>
      <p:sp>
        <p:nvSpPr>
          <p:cNvPr id="21" name="Text 16"/>
          <p:cNvSpPr/>
          <p:nvPr>
            <p:custDataLst>
              <p:tags r:id="rId12"/>
            </p:custDataLst>
          </p:nvPr>
        </p:nvSpPr>
        <p:spPr>
          <a:xfrm>
            <a:off x="5760720" y="3236976"/>
            <a:ext cx="560801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Review 负担重</a:t>
            </a:r>
            <a:endParaRPr lang="en-US" sz="1400" dirty="0"/>
          </a:p>
        </p:txBody>
      </p:sp>
      <p:sp>
        <p:nvSpPr>
          <p:cNvPr id="22" name="Text 17"/>
          <p:cNvSpPr/>
          <p:nvPr>
            <p:custDataLst>
              <p:tags r:id="rId13"/>
            </p:custDataLst>
          </p:nvPr>
        </p:nvSpPr>
        <p:spPr>
          <a:xfrm>
            <a:off x="5760720" y="3584448"/>
            <a:ext cx="560801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互审被低级问题淹没，真正该看的逻辑反而漏掉</a:t>
            </a:r>
            <a:endParaRPr lang="en-US" sz="1150" dirty="0"/>
          </a:p>
        </p:txBody>
      </p:sp>
      <p:sp>
        <p:nvSpPr>
          <p:cNvPr id="23" name="Shape 18"/>
          <p:cNvSpPr/>
          <p:nvPr>
            <p:custDataLst>
              <p:tags r:id="rId14"/>
            </p:custDataLst>
          </p:nvPr>
        </p:nvSpPr>
        <p:spPr>
          <a:xfrm>
            <a:off x="4892040" y="4151376"/>
            <a:ext cx="661385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24" name="Shape 19"/>
          <p:cNvSpPr/>
          <p:nvPr>
            <p:custDataLst>
              <p:tags r:id="rId15"/>
            </p:custDataLst>
          </p:nvPr>
        </p:nvSpPr>
        <p:spPr>
          <a:xfrm>
            <a:off x="5093208" y="4352544"/>
            <a:ext cx="512064" cy="512064"/>
          </a:xfrm>
          <a:prstGeom prst="ellipse">
            <a:avLst/>
          </a:prstGeom>
          <a:solidFill>
            <a:srgbClr val="F59E0B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5226345" y="4485681"/>
            <a:ext cx="245791" cy="245791"/>
          </a:xfrm>
          <a:prstGeom prst="rect">
            <a:avLst/>
          </a:prstGeom>
        </p:spPr>
      </p:pic>
      <p:sp>
        <p:nvSpPr>
          <p:cNvPr id="26" name="Text 20"/>
          <p:cNvSpPr/>
          <p:nvPr>
            <p:custDataLst>
              <p:tags r:id="rId18"/>
            </p:custDataLst>
          </p:nvPr>
        </p:nvSpPr>
        <p:spPr>
          <a:xfrm>
            <a:off x="5760720" y="4261104"/>
            <a:ext cx="560801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新人上手慢</a:t>
            </a:r>
            <a:endParaRPr lang="en-US" sz="1400" dirty="0"/>
          </a:p>
        </p:txBody>
      </p:sp>
      <p:sp>
        <p:nvSpPr>
          <p:cNvPr id="27" name="Text 21"/>
          <p:cNvSpPr/>
          <p:nvPr>
            <p:custDataLst>
              <p:tags r:id="rId19"/>
            </p:custDataLst>
          </p:nvPr>
        </p:nvSpPr>
        <p:spPr>
          <a:xfrm>
            <a:off x="5760720" y="4608576"/>
            <a:ext cx="560801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上下文对齐成本高，问一圈才能动一个小功能</a:t>
            </a:r>
            <a:endParaRPr lang="en-US" sz="1150" dirty="0"/>
          </a:p>
        </p:txBody>
      </p:sp>
      <p:sp>
        <p:nvSpPr>
          <p:cNvPr id="28" name="Shape 22"/>
          <p:cNvSpPr/>
          <p:nvPr>
            <p:custDataLst>
              <p:tags r:id="rId20"/>
            </p:custDataLst>
          </p:nvPr>
        </p:nvSpPr>
        <p:spPr>
          <a:xfrm>
            <a:off x="4892040" y="5175504"/>
            <a:ext cx="661385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29" name="Shape 23"/>
          <p:cNvSpPr/>
          <p:nvPr>
            <p:custDataLst>
              <p:tags r:id="rId21"/>
            </p:custDataLst>
          </p:nvPr>
        </p:nvSpPr>
        <p:spPr>
          <a:xfrm>
            <a:off x="5093208" y="5376672"/>
            <a:ext cx="512064" cy="512064"/>
          </a:xfrm>
          <a:prstGeom prst="ellipse">
            <a:avLst/>
          </a:prstGeom>
          <a:solidFill>
            <a:srgbClr val="F59E0B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5226345" y="5509809"/>
            <a:ext cx="245791" cy="245791"/>
          </a:xfrm>
          <a:prstGeom prst="rect">
            <a:avLst/>
          </a:prstGeom>
        </p:spPr>
      </p:pic>
      <p:sp>
        <p:nvSpPr>
          <p:cNvPr id="31" name="Text 24"/>
          <p:cNvSpPr/>
          <p:nvPr>
            <p:custDataLst>
              <p:tags r:id="rId24"/>
            </p:custDataLst>
          </p:nvPr>
        </p:nvSpPr>
        <p:spPr>
          <a:xfrm>
            <a:off x="5760720" y="5285232"/>
            <a:ext cx="560801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踩坑反复发生</a:t>
            </a:r>
            <a:endParaRPr lang="en-US" sz="1400" dirty="0"/>
          </a:p>
        </p:txBody>
      </p:sp>
      <p:sp>
        <p:nvSpPr>
          <p:cNvPr id="32" name="Text 25"/>
          <p:cNvSpPr/>
          <p:nvPr>
            <p:custDataLst>
              <p:tags r:id="rId25"/>
            </p:custDataLst>
          </p:nvPr>
        </p:nvSpPr>
        <p:spPr>
          <a:xfrm>
            <a:off x="5760720" y="5632704"/>
            <a:ext cx="560801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隐性知识靠口口相传，同样的坑不同的人各踩一次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68580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Computing Platform · 课程结课经验交流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9677095" y="64739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3504"/>
            <a:ext cx="91440" cy="54864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3" name="Text 1"/>
          <p:cNvSpPr/>
          <p:nvPr/>
        </p:nvSpPr>
        <p:spPr>
          <a:xfrm>
            <a:off x="960120" y="4572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嵌入协作工作流的五个环节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820095" cy="0"/>
          </a:xfrm>
          <a:prstGeom prst="line">
            <a:avLst/>
          </a:prstGeom>
          <a:noFill/>
          <a:ln w="12700">
            <a:solidFill>
              <a:srgbClr val="2A42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1874520" cy="2743200"/>
          </a:xfrm>
          <a:prstGeom prst="roundRect">
            <a:avLst>
              <a:gd name="adj" fmla="val 3902"/>
            </a:avLst>
          </a:prstGeom>
          <a:solidFill>
            <a:srgbClr val="1B3A5B"/>
          </a:solidFill>
          <a:ln w="12700">
            <a:solidFill>
              <a:srgbClr val="2A42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3876" y="2304288"/>
            <a:ext cx="658368" cy="658368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324" y="247802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154680"/>
            <a:ext cx="1874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需求理解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" y="3639312"/>
            <a:ext cx="16550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拆解任务 · 澄清业务口径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560320" y="2468880"/>
            <a:ext cx="36187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922194" y="2011680"/>
            <a:ext cx="1874520" cy="2743200"/>
          </a:xfrm>
          <a:prstGeom prst="roundRect">
            <a:avLst>
              <a:gd name="adj" fmla="val 3902"/>
            </a:avLst>
          </a:prstGeom>
          <a:solidFill>
            <a:srgbClr val="1B3A5B"/>
          </a:solidFill>
          <a:ln w="12700">
            <a:solidFill>
              <a:srgbClr val="2A425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30270" y="2304288"/>
            <a:ext cx="658368" cy="658368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718" y="247802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22194" y="3154680"/>
            <a:ext cx="1874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编码实现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031922" y="3639312"/>
            <a:ext cx="16550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生成样板与首版 · 人工优化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96714" y="2468880"/>
            <a:ext cx="36187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5158588" y="2011680"/>
            <a:ext cx="1874520" cy="2743200"/>
          </a:xfrm>
          <a:prstGeom prst="roundRect">
            <a:avLst>
              <a:gd name="adj" fmla="val 3902"/>
            </a:avLst>
          </a:prstGeom>
          <a:solidFill>
            <a:srgbClr val="1B3A5B"/>
          </a:solidFill>
          <a:ln w="12700">
            <a:solidFill>
              <a:srgbClr val="2A425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66664" y="2304288"/>
            <a:ext cx="658368" cy="658368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112" y="247802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58588" y="3154680"/>
            <a:ext cx="1874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团队沟通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268316" y="3639312"/>
            <a:ext cx="16550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 PR 说明 / commit / 文档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033108" y="2468880"/>
            <a:ext cx="36187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7394981" y="2011680"/>
            <a:ext cx="1874520" cy="2743200"/>
          </a:xfrm>
          <a:prstGeom prst="roundRect">
            <a:avLst>
              <a:gd name="adj" fmla="val 3902"/>
            </a:avLst>
          </a:prstGeom>
          <a:solidFill>
            <a:srgbClr val="1B3A5B"/>
          </a:solidFill>
          <a:ln w="12700">
            <a:solidFill>
              <a:srgbClr val="2A425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003057" y="2304288"/>
            <a:ext cx="658368" cy="658368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505" y="247802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94981" y="3154680"/>
            <a:ext cx="1874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Code Review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504709" y="3639312"/>
            <a:ext cx="16550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预审 · 人工聚焦业务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269501" y="2468880"/>
            <a:ext cx="36187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9631375" y="2011680"/>
            <a:ext cx="1874520" cy="2743200"/>
          </a:xfrm>
          <a:prstGeom prst="roundRect">
            <a:avLst>
              <a:gd name="adj" fmla="val 3902"/>
            </a:avLst>
          </a:prstGeom>
          <a:solidFill>
            <a:srgbClr val="1B3A5B"/>
          </a:solidFill>
          <a:ln w="12700">
            <a:solidFill>
              <a:srgbClr val="2A425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239451" y="2304288"/>
            <a:ext cx="658368" cy="658368"/>
          </a:xfrm>
          <a:prstGeom prst="ellipse">
            <a:avLst/>
          </a:prstGeom>
          <a:solidFill>
            <a:srgbClr val="2DD4BF"/>
          </a:solidFill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4899" y="2478024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31375" y="3154680"/>
            <a:ext cx="1874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知识沉淀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9741103" y="3639312"/>
            <a:ext cx="16550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维护记忆与规则 · 共识可继承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85800" y="5257800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960120" y="5257800"/>
            <a:ext cx="1027145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核心理念：  </a:t>
            </a: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不止让个人写得快，更让团队</a:t>
            </a: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沟通更顺、Review 更准、知识留得下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685800" y="621792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下面五个实践，分别对应工作流的五个环节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3504"/>
            <a:ext cx="91440" cy="54864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3" name="Text 1"/>
          <p:cNvSpPr/>
          <p:nvPr/>
        </p:nvSpPr>
        <p:spPr>
          <a:xfrm>
            <a:off x="960120" y="45720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PRACTICE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1054577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人机配对开发闭环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8200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6916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18836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606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需求描述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514600" y="1828800"/>
            <a:ext cx="41902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36544" y="1691640"/>
            <a:ext cx="822960" cy="822960"/>
          </a:xfrm>
          <a:prstGeom prst="ellipse">
            <a:avLst/>
          </a:prstGeom>
          <a:solidFill>
            <a:srgbClr val="2DD4BF"/>
          </a:solidFill>
          <a:ln w="19050">
            <a:solidFill>
              <a:srgbClr val="2DD4BF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568" y="18836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3624" y="2606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生成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62424" y="1828800"/>
            <a:ext cx="41902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684368" y="16916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92" y="188366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1448" y="2606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人工审查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010248" y="1828800"/>
            <a:ext cx="41902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7932191" y="16916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215" y="1883664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29271" y="2606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测试验证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9258071" y="1828800"/>
            <a:ext cx="41902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6"/>
          <p:cNvSpPr/>
          <p:nvPr/>
        </p:nvSpPr>
        <p:spPr>
          <a:xfrm>
            <a:off x="10180015" y="16916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2039" y="1883664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77095" y="2606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提交标注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36270" y="2915285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↻  持续迭代：每一轮把验证结果反馈给 AI，逐步逼近正确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85800" y="3383280"/>
            <a:ext cx="5181448" cy="2286000"/>
          </a:xfrm>
          <a:prstGeom prst="roundRect">
            <a:avLst>
              <a:gd name="adj" fmla="val 4000"/>
            </a:avLst>
          </a:prstGeom>
          <a:solidFill>
            <a:srgbClr val="ECFDF7"/>
          </a:solidFill>
          <a:ln w="12700">
            <a:solidFill>
              <a:srgbClr val="C7F0E5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960120" y="3657600"/>
            <a:ext cx="566928" cy="566928"/>
          </a:xfrm>
          <a:prstGeom prst="ellipse">
            <a:avLst/>
          </a:prstGeom>
          <a:solidFill>
            <a:srgbClr val="0F9D8F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21" y="3805001"/>
            <a:ext cx="272125" cy="27212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91640" y="3657600"/>
            <a:ext cx="408416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最擅长的活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1051560" y="4480560"/>
            <a:ext cx="128016" cy="128016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31" name="Text 23"/>
          <p:cNvSpPr/>
          <p:nvPr/>
        </p:nvSpPr>
        <p:spPr>
          <a:xfrm>
            <a:off x="1325880" y="438912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样板代码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2834640" y="4389120"/>
            <a:ext cx="28040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CRUD / DTO / 模板解析，几秒生成首版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1051560" y="4892040"/>
            <a:ext cx="128016" cy="128016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34" name="Text 26"/>
          <p:cNvSpPr/>
          <p:nvPr/>
        </p:nvSpPr>
        <p:spPr>
          <a:xfrm>
            <a:off x="1325880" y="480060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复杂逻辑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2834640" y="4800600"/>
            <a:ext cx="28040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矩阵计算、导入解析给出可改的实现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1051560" y="5303520"/>
            <a:ext cx="128016" cy="128016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37" name="Text 29"/>
          <p:cNvSpPr/>
          <p:nvPr/>
        </p:nvSpPr>
        <p:spPr>
          <a:xfrm>
            <a:off x="1325880" y="521208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调试定位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2834640" y="5212080"/>
            <a:ext cx="28040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解读报错、定位可疑代码段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6324448" y="3383280"/>
            <a:ext cx="5181448" cy="22860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FDE3C7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598768" y="3657600"/>
            <a:ext cx="566928" cy="566928"/>
          </a:xfrm>
          <a:prstGeom prst="ellipse">
            <a:avLst/>
          </a:prstGeom>
          <a:solidFill>
            <a:srgbClr val="F59E0B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169" y="3805001"/>
            <a:ext cx="272125" cy="272125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330288" y="3657600"/>
            <a:ext cx="408416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人始终把关的活</a:t>
            </a:r>
            <a:endParaRPr lang="en-US" sz="1600" dirty="0"/>
          </a:p>
        </p:txBody>
      </p:sp>
      <p:sp>
        <p:nvSpPr>
          <p:cNvPr id="43" name="Shape 34"/>
          <p:cNvSpPr/>
          <p:nvPr/>
        </p:nvSpPr>
        <p:spPr>
          <a:xfrm>
            <a:off x="6690208" y="4480560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4" name="Text 35"/>
          <p:cNvSpPr/>
          <p:nvPr/>
        </p:nvSpPr>
        <p:spPr>
          <a:xfrm>
            <a:off x="6964528" y="438912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业务口径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8473288" y="4389120"/>
            <a:ext cx="28040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达成度怎么算，AI 说了不算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6690208" y="4892040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7" name="Text 38"/>
          <p:cNvSpPr/>
          <p:nvPr/>
        </p:nvSpPr>
        <p:spPr>
          <a:xfrm>
            <a:off x="6964528" y="480060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安全边界</a:t>
            </a:r>
            <a:endParaRPr lang="en-US" sz="1250" dirty="0"/>
          </a:p>
        </p:txBody>
      </p:sp>
      <p:sp>
        <p:nvSpPr>
          <p:cNvPr id="48" name="Text 39"/>
          <p:cNvSpPr/>
          <p:nvPr/>
        </p:nvSpPr>
        <p:spPr>
          <a:xfrm>
            <a:off x="8473288" y="4800600"/>
            <a:ext cx="28040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权限、数据、密钥相关终审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6690208" y="5303520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50" name="Text 41"/>
          <p:cNvSpPr/>
          <p:nvPr/>
        </p:nvSpPr>
        <p:spPr>
          <a:xfrm>
            <a:off x="6964528" y="521208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架构决策</a:t>
            </a:r>
            <a:endParaRPr lang="en-US" sz="1250" dirty="0"/>
          </a:p>
        </p:txBody>
      </p:sp>
      <p:sp>
        <p:nvSpPr>
          <p:cNvPr id="51" name="Text 42"/>
          <p:cNvSpPr/>
          <p:nvPr/>
        </p:nvSpPr>
        <p:spPr>
          <a:xfrm>
            <a:off x="8473288" y="5212080"/>
            <a:ext cx="28040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为什么这么设计，人来定</a:t>
            </a:r>
            <a:endParaRPr lang="en-US" sz="1100" dirty="0"/>
          </a:p>
        </p:txBody>
      </p:sp>
      <p:sp>
        <p:nvSpPr>
          <p:cNvPr id="52" name="Text 43"/>
          <p:cNvSpPr/>
          <p:nvPr/>
        </p:nvSpPr>
        <p:spPr>
          <a:xfrm>
            <a:off x="68580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Computing Platform · 课程结课经验交流</a:t>
            </a:r>
            <a:endParaRPr lang="en-US" sz="900" dirty="0"/>
          </a:p>
        </p:txBody>
      </p:sp>
      <p:sp>
        <p:nvSpPr>
          <p:cNvPr id="53" name="Text 44"/>
          <p:cNvSpPr/>
          <p:nvPr/>
        </p:nvSpPr>
        <p:spPr>
          <a:xfrm>
            <a:off x="9677095" y="64739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3504"/>
            <a:ext cx="91440" cy="54864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3" name="Text 1"/>
          <p:cNvSpPr/>
          <p:nvPr/>
        </p:nvSpPr>
        <p:spPr>
          <a:xfrm>
            <a:off x="960120" y="45720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PRACTICE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1054577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让团队沟通更规范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8200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8132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AI 用在「人与人交接」的环节，协作摩擦肉眼可见地下降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0820095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1832" y="2299716"/>
            <a:ext cx="566928" cy="566928"/>
          </a:xfrm>
          <a:prstGeom prst="ellipse">
            <a:avLst/>
          </a:prstGeom>
          <a:solidFill>
            <a:srgbClr val="2DD4BF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233" y="2447117"/>
            <a:ext cx="272125" cy="272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084832"/>
            <a:ext cx="2286000" cy="99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Commit Message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069080" y="210312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0" y="215798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以前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206240" y="2395728"/>
            <a:ext cx="246888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“改了点东西”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858000" y="1920240"/>
            <a:ext cx="45720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360920" y="2103120"/>
            <a:ext cx="3916375" cy="960120"/>
          </a:xfrm>
          <a:prstGeom prst="roundRect">
            <a:avLst>
              <a:gd name="adj" fmla="val 5714"/>
            </a:avLst>
          </a:prstGeom>
          <a:solidFill>
            <a:srgbClr val="ECFDF7"/>
          </a:solidFill>
          <a:ln w="12700">
            <a:solidFill>
              <a:srgbClr val="C7F0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2157984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AI 后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98080" y="2395728"/>
            <a:ext cx="3733495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规范化为 feat / fix / refactor，一目了然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85800" y="3383280"/>
            <a:ext cx="10820095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41832" y="3762756"/>
            <a:ext cx="566928" cy="566928"/>
          </a:xfrm>
          <a:prstGeom prst="ellipse">
            <a:avLst/>
          </a:prstGeom>
          <a:solidFill>
            <a:srgbClr val="F59E0B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33" y="3910157"/>
            <a:ext cx="272125" cy="27212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691640" y="3547872"/>
            <a:ext cx="2286000" cy="99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 描述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4069080" y="35661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06240" y="362102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以前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206240" y="3858768"/>
            <a:ext cx="246888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“修好了，合并吧”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858000" y="3383280"/>
            <a:ext cx="45720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7360920" y="3566160"/>
            <a:ext cx="3916375" cy="960120"/>
          </a:xfrm>
          <a:prstGeom prst="roundRect">
            <a:avLst>
              <a:gd name="adj" fmla="val 5714"/>
            </a:avLst>
          </a:prstGeom>
          <a:solidFill>
            <a:srgbClr val="ECFDF7"/>
          </a:solidFill>
          <a:ln w="12700">
            <a:solidFill>
              <a:srgbClr val="C7F0E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498080" y="3621024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AI 后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498080" y="3858768"/>
            <a:ext cx="3733495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结构化说明：改了啥 · 为什么 · 怎么测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85800" y="4846320"/>
            <a:ext cx="10820095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941832" y="5225796"/>
            <a:ext cx="566928" cy="566928"/>
          </a:xfrm>
          <a:prstGeom prst="ellipse">
            <a:avLst/>
          </a:prstGeom>
          <a:solidFill>
            <a:srgbClr val="2E5C8A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233" y="5373197"/>
            <a:ext cx="272125" cy="27212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691640" y="5010912"/>
            <a:ext cx="2286000" cy="99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 / 字段文档</a:t>
            </a:r>
            <a:endParaRPr lang="en-US" sz="1450" dirty="0"/>
          </a:p>
        </p:txBody>
      </p:sp>
      <p:sp>
        <p:nvSpPr>
          <p:cNvPr id="33" name="Shape 28"/>
          <p:cNvSpPr/>
          <p:nvPr/>
        </p:nvSpPr>
        <p:spPr>
          <a:xfrm>
            <a:off x="4069080" y="50292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206240" y="508406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以前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206240" y="5321808"/>
            <a:ext cx="246888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经常忘了写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6858000" y="4846320"/>
            <a:ext cx="45720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2"/>
          <p:cNvSpPr/>
          <p:nvPr/>
        </p:nvSpPr>
        <p:spPr>
          <a:xfrm>
            <a:off x="7360920" y="5029200"/>
            <a:ext cx="3916375" cy="960120"/>
          </a:xfrm>
          <a:prstGeom prst="roundRect">
            <a:avLst>
              <a:gd name="adj" fmla="val 5714"/>
            </a:avLst>
          </a:prstGeom>
          <a:solidFill>
            <a:srgbClr val="ECFDF7"/>
          </a:solidFill>
          <a:ln w="12700">
            <a:solidFill>
              <a:srgbClr val="C7F0E5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498080" y="5084064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AI 后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7498080" y="5321808"/>
            <a:ext cx="3733495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依代码自动补全注释与文档，与代码同频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68580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Computing Platform · 课程结课经验交流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9677095" y="64739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3504"/>
            <a:ext cx="91440" cy="54864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3" name="Text 1"/>
          <p:cNvSpPr/>
          <p:nvPr/>
        </p:nvSpPr>
        <p:spPr>
          <a:xfrm>
            <a:off x="960120" y="45720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PRACTICE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1054577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辅助 Code Review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8200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8132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两层漏斗：机器扫掉低级问题，人集中火力看真正重要的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18144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2DD4BF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36098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2212848"/>
            <a:ext cx="3992728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第一层：AI 预审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2971800"/>
            <a:ext cx="46328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机器擅长、且量大面广的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033272" y="3429000"/>
            <a:ext cx="128016" cy="128016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3" name="Text 10"/>
          <p:cNvSpPr/>
          <p:nvPr/>
        </p:nvSpPr>
        <p:spPr>
          <a:xfrm>
            <a:off x="1325880" y="3337560"/>
            <a:ext cx="4267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代码风格 / 命名 / 重复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33272" y="3813048"/>
            <a:ext cx="128016" cy="128016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5" name="Text 12"/>
          <p:cNvSpPr/>
          <p:nvPr/>
        </p:nvSpPr>
        <p:spPr>
          <a:xfrm>
            <a:off x="1325880" y="3721608"/>
            <a:ext cx="4267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空指针、越界等常见 bug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33272" y="4197096"/>
            <a:ext cx="128016" cy="128016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7" name="Text 14"/>
          <p:cNvSpPr/>
          <p:nvPr/>
        </p:nvSpPr>
        <p:spPr>
          <a:xfrm>
            <a:off x="1325880" y="4105656"/>
            <a:ext cx="4267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异常处理与边界情况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33272" y="4581144"/>
            <a:ext cx="128016" cy="128016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19" name="Text 16"/>
          <p:cNvSpPr/>
          <p:nvPr/>
        </p:nvSpPr>
        <p:spPr>
          <a:xfrm>
            <a:off x="1325880" y="4489704"/>
            <a:ext cx="4267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明显的安全漏洞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33272" y="4965192"/>
            <a:ext cx="128016" cy="128016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21" name="Text 18"/>
          <p:cNvSpPr/>
          <p:nvPr/>
        </p:nvSpPr>
        <p:spPr>
          <a:xfrm>
            <a:off x="1325880" y="4873752"/>
            <a:ext cx="4267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拼写错误 / 遗漏的注释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24448" y="1920240"/>
            <a:ext cx="518144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98768" y="2194560"/>
            <a:ext cx="640080" cy="640080"/>
          </a:xfrm>
          <a:prstGeom prst="ellipse">
            <a:avLst/>
          </a:prstGeom>
          <a:solidFill>
            <a:srgbClr val="F59E0B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188" y="2360981"/>
            <a:ext cx="307238" cy="30723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21728" y="2212848"/>
            <a:ext cx="3992728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第二层：人工聚焦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598768" y="2971800"/>
            <a:ext cx="46328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人擅长、且机器判断不了的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671920" y="3429000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8" name="Text 24"/>
          <p:cNvSpPr/>
          <p:nvPr/>
        </p:nvSpPr>
        <p:spPr>
          <a:xfrm>
            <a:off x="6964528" y="3337560"/>
            <a:ext cx="4267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业务逻辑是否正确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671920" y="3813048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0" name="Text 26"/>
          <p:cNvSpPr/>
          <p:nvPr/>
        </p:nvSpPr>
        <p:spPr>
          <a:xfrm>
            <a:off x="6964528" y="3721608"/>
            <a:ext cx="4267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达成度计算口径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671920" y="4197096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2" name="Text 28"/>
          <p:cNvSpPr/>
          <p:nvPr/>
        </p:nvSpPr>
        <p:spPr>
          <a:xfrm>
            <a:off x="6964528" y="4105656"/>
            <a:ext cx="4267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架构与可维护性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671920" y="4581144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4" name="Text 30"/>
          <p:cNvSpPr/>
          <p:nvPr/>
        </p:nvSpPr>
        <p:spPr>
          <a:xfrm>
            <a:off x="6964528" y="4489704"/>
            <a:ext cx="4267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是否引入回归风险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671920" y="4965192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6" name="Text 32"/>
          <p:cNvSpPr/>
          <p:nvPr/>
        </p:nvSpPr>
        <p:spPr>
          <a:xfrm>
            <a:off x="6964528" y="4873752"/>
            <a:ext cx="4267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命名是否贴合业务语义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685800" y="5852160"/>
            <a:ext cx="10820095" cy="384048"/>
          </a:xfrm>
          <a:prstGeom prst="rect">
            <a:avLst/>
          </a:prstGeom>
          <a:solidFill>
            <a:srgbClr val="12304C"/>
          </a:solidFill>
        </p:spPr>
      </p:sp>
      <p:sp>
        <p:nvSpPr>
          <p:cNvPr id="38" name="Text 34"/>
          <p:cNvSpPr/>
          <p:nvPr/>
        </p:nvSpPr>
        <p:spPr>
          <a:xfrm>
            <a:off x="685800" y="5852160"/>
            <a:ext cx="1082009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结果：Review 速度与质量双赢 —— Reviewer 不再被「低级问题」淹没，能把时间花在刀刃上</a:t>
            </a:r>
            <a:endParaRPr lang="en-US" sz="1250" dirty="0"/>
          </a:p>
        </p:txBody>
      </p:sp>
      <p:sp>
        <p:nvSpPr>
          <p:cNvPr id="39" name="Text 35"/>
          <p:cNvSpPr/>
          <p:nvPr/>
        </p:nvSpPr>
        <p:spPr>
          <a:xfrm>
            <a:off x="68580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Computing Platform · 课程结课经验交流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9677095" y="64739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3504"/>
            <a:ext cx="91440" cy="54864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3" name="Text 1"/>
          <p:cNvSpPr/>
          <p:nvPr/>
        </p:nvSpPr>
        <p:spPr>
          <a:xfrm>
            <a:off x="960120" y="45720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PRACTICE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1054577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让团队知识可继承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8200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10820095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E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1045433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痛点：</a:t>
            </a:r>
            <a:r>
              <a:rPr lang="en-US" sz="125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隐性知识靠口口相传，新人反复踩同样的坑    </a:t>
            </a:r>
            <a:r>
              <a:rPr lang="en-US" sz="1250" b="1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解法：</a:t>
            </a:r>
            <a:r>
              <a:rPr lang="en-US" sz="1250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AI 维护一份「团队记忆」，把踩过的坑和约定结构化沉淀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真实案例 · 我们用 AI 维护的项目记忆（节选）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345429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926080"/>
            <a:ext cx="530352" cy="530352"/>
          </a:xfrm>
          <a:prstGeom prst="ellipse">
            <a:avLst/>
          </a:prstGeom>
          <a:solidFill>
            <a:srgbClr val="F59E0B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292" y="3063972"/>
            <a:ext cx="254569" cy="25456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2898648"/>
            <a:ext cx="235701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Long 序列化为字符串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60120" y="3611880"/>
            <a:ext cx="548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1832" y="3749040"/>
            <a:ext cx="2942234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分页 total、记录 id 返回字符串，前端做数值运算前必须 Number() 转换，否则比较/分页出错。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68698" y="2697480"/>
            <a:ext cx="345429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97298" y="2926080"/>
            <a:ext cx="530352" cy="530352"/>
          </a:xfrm>
          <a:prstGeom prst="ellipse">
            <a:avLst/>
          </a:prstGeom>
          <a:solidFill>
            <a:srgbClr val="2DD4BF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190" y="3063972"/>
            <a:ext cx="254569" cy="25456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37378" y="2898648"/>
            <a:ext cx="235701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达成度按年级过滤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643018" y="3611880"/>
            <a:ext cx="54864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24730" y="3749040"/>
            <a:ext cx="2942234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看板按 student.grade 过滤，演示数据是 2023；前端默认今年-4 会取不到，需手选年级。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051597" y="2697480"/>
            <a:ext cx="345429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80197" y="2926080"/>
            <a:ext cx="530352" cy="530352"/>
          </a:xfrm>
          <a:prstGeom prst="ellipse">
            <a:avLst/>
          </a:prstGeom>
          <a:solidFill>
            <a:srgbClr val="2E5C8A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088" y="3063972"/>
            <a:ext cx="254569" cy="25456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920277" y="2898648"/>
            <a:ext cx="235701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交接文档不可全信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325917" y="3611880"/>
            <a:ext cx="54864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307629" y="3749040"/>
            <a:ext cx="2942234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开发进度交接.md 常过时；判断功能是否实现，一律以代码为准，不靠文档描述。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85800" y="562356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这些「坑」由 AI 在踩坑当下记录、随项目继承 —— 新人开个会话就能查到，不必重新踩一遍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8580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Computing Platform · 课程结课经验交流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9677095" y="64739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3504"/>
            <a:ext cx="91440" cy="54864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3" name="Text 1"/>
          <p:cNvSpPr/>
          <p:nvPr/>
        </p:nvSpPr>
        <p:spPr>
          <a:xfrm>
            <a:off x="960120" y="45720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1054577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写好指令，是 AI 协作的基本功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8200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5181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180844"/>
            <a:ext cx="713232" cy="713232"/>
          </a:xfrm>
          <a:prstGeom prst="ellipse">
            <a:avLst/>
          </a:prstGeom>
          <a:solidFill>
            <a:srgbClr val="2DD4BF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560" y="2366284"/>
            <a:ext cx="342351" cy="3423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1901952"/>
            <a:ext cx="37184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给足上下文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920240" y="2395728"/>
            <a:ext cx="3718408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贴相关代码、接口签名、表结构。别让 AI 在空白里猜，越具体越准。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95848" y="1645920"/>
            <a:ext cx="5181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70168" y="2180844"/>
            <a:ext cx="713232" cy="713232"/>
          </a:xfrm>
          <a:prstGeom prst="ellipse">
            <a:avLst/>
          </a:prstGeom>
          <a:solidFill>
            <a:srgbClr val="F59E0B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608" y="2366284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30288" y="1901952"/>
            <a:ext cx="37184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给明确约束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330288" y="2395728"/>
            <a:ext cx="3718408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说清框架版本、命名规范、绝对不能动的部分，划好边界。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85800" y="3630168"/>
            <a:ext cx="5181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120" y="4165092"/>
            <a:ext cx="713232" cy="713232"/>
          </a:xfrm>
          <a:prstGeom prst="ellipse">
            <a:avLst/>
          </a:prstGeom>
          <a:solidFill>
            <a:srgbClr val="2E5C8A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60" y="4350532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20240" y="3886200"/>
            <a:ext cx="37184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分步求解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920240" y="4379976"/>
            <a:ext cx="3718408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复杂任务拆成小步，每步先验证再继续，避免一步走偏步步错。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095848" y="3630168"/>
            <a:ext cx="5181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70168" y="4165092"/>
            <a:ext cx="713232" cy="713232"/>
          </a:xfrm>
          <a:prstGeom prst="ellipse">
            <a:avLst/>
          </a:prstGeom>
          <a:solidFill>
            <a:srgbClr val="0F9D8F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608" y="4350532"/>
            <a:ext cx="342351" cy="34235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30288" y="3886200"/>
            <a:ext cx="37184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要求验证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330288" y="4379976"/>
            <a:ext cx="3718408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 AI 自查边界条件、补测试用例，把「我觉得对」变成「测过才对」。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85800" y="5806440"/>
            <a:ext cx="10820095" cy="457200"/>
          </a:xfrm>
          <a:prstGeom prst="rect">
            <a:avLst/>
          </a:prstGeom>
          <a:solidFill>
            <a:srgbClr val="12304C"/>
          </a:solidFill>
        </p:spPr>
      </p:sp>
      <p:sp>
        <p:nvSpPr>
          <p:cNvPr id="27" name="Text 21"/>
          <p:cNvSpPr/>
          <p:nvPr/>
        </p:nvSpPr>
        <p:spPr>
          <a:xfrm>
            <a:off x="960120" y="5806440"/>
            <a:ext cx="1027145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一句话：  </a:t>
            </a: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AI 当成一个聪明但没有上下文的新同事——你交代得越清楚，它交付得越靠谱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8580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Computing Platform · 课程结课经验交流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9677095" y="64739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3504"/>
            <a:ext cx="91440" cy="54864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3" name="Text 1"/>
          <p:cNvSpPr/>
          <p:nvPr/>
        </p:nvSpPr>
        <p:spPr>
          <a:xfrm>
            <a:off x="960120" y="45720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AGREEMENT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1054577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团队级的 AI 协作约定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8200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8132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「多人协作」能成立，靠的不是各自用 AI，而是几条共同遵守的规矩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518144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130552"/>
            <a:ext cx="603504" cy="603504"/>
          </a:xfrm>
          <a:prstGeom prst="ellipse">
            <a:avLst/>
          </a:prstGeom>
          <a:solidFill>
            <a:srgbClr val="2DD4BF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031" y="2287463"/>
            <a:ext cx="289682" cy="2896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2112264"/>
            <a:ext cx="39927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透明标注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2624328"/>
            <a:ext cx="46785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参与的提交用 Co-Authored-By 标注，协作过程可追溯、可复盘。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3429000"/>
            <a:ext cx="4678528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</p:spPr>
      </p:sp>
      <p:sp>
        <p:nvSpPr>
          <p:cNvPr id="13" name="Text 10"/>
          <p:cNvSpPr/>
          <p:nvPr/>
        </p:nvSpPr>
        <p:spPr>
          <a:xfrm>
            <a:off x="1097280" y="3429000"/>
            <a:ext cx="44042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 32 次提交如此标注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95848" y="1874520"/>
            <a:ext cx="518144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70168" y="2130552"/>
            <a:ext cx="603504" cy="603504"/>
          </a:xfrm>
          <a:prstGeom prst="ellipse">
            <a:avLst/>
          </a:prstGeom>
          <a:solidFill>
            <a:srgbClr val="F59E0B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079" y="2287463"/>
            <a:ext cx="289682" cy="28968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47408" y="2112264"/>
            <a:ext cx="39927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边界清晰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370168" y="2624328"/>
            <a:ext cx="46785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业务口径、计算逻辑必须人工确认，AI 只产出候选方案。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370168" y="3429000"/>
            <a:ext cx="4678528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</p:spPr>
      </p:sp>
      <p:sp>
        <p:nvSpPr>
          <p:cNvPr id="20" name="Text 16"/>
          <p:cNvSpPr/>
          <p:nvPr/>
        </p:nvSpPr>
        <p:spPr>
          <a:xfrm>
            <a:off x="6507328" y="3429000"/>
            <a:ext cx="44042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达成度怎么算，人不放权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85800" y="4087368"/>
            <a:ext cx="518144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60120" y="4343400"/>
            <a:ext cx="603504" cy="603504"/>
          </a:xfrm>
          <a:prstGeom prst="ellipse">
            <a:avLst/>
          </a:prstGeom>
          <a:solidFill>
            <a:srgbClr val="2E5C8A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031" y="4500311"/>
            <a:ext cx="289682" cy="28968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737360" y="4325112"/>
            <a:ext cx="39927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数据红线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960120" y="4837176"/>
            <a:ext cx="46785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真实学生数据、密钥、敏感信息绝不输入大模型。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960120" y="5641848"/>
            <a:ext cx="4678528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</p:spPr>
      </p:sp>
      <p:sp>
        <p:nvSpPr>
          <p:cNvPr id="27" name="Text 22"/>
          <p:cNvSpPr/>
          <p:nvPr/>
        </p:nvSpPr>
        <p:spPr>
          <a:xfrm>
            <a:off x="1097280" y="5641848"/>
            <a:ext cx="44042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C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用脱敏 / 演示数据替代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095848" y="4087368"/>
            <a:ext cx="518144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370168" y="4343400"/>
            <a:ext cx="603504" cy="603504"/>
          </a:xfrm>
          <a:prstGeom prst="ellipse">
            <a:avLst/>
          </a:prstGeom>
          <a:solidFill>
            <a:srgbClr val="0F9D8F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079" y="4500311"/>
            <a:ext cx="289682" cy="28968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147408" y="4325112"/>
            <a:ext cx="39927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Review 不省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6370168" y="4837176"/>
            <a:ext cx="46785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生成的代码同样进 PR、过 CI、走人工 Review。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6370168" y="5641848"/>
            <a:ext cx="4678528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</p:spPr>
      </p:sp>
      <p:sp>
        <p:nvSpPr>
          <p:cNvPr id="34" name="Text 28"/>
          <p:cNvSpPr/>
          <p:nvPr/>
        </p:nvSpPr>
        <p:spPr>
          <a:xfrm>
            <a:off x="6507328" y="5641848"/>
            <a:ext cx="44042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没有任何代码是「免检」的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8580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Computing Platform · 课程结课经验交流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9677095" y="64739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3504"/>
            <a:ext cx="91440" cy="54864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3" name="Text 1"/>
          <p:cNvSpPr/>
          <p:nvPr/>
        </p:nvSpPr>
        <p:spPr>
          <a:xfrm>
            <a:off x="960120" y="45720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713232"/>
            <a:ext cx="1054577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给后来者的几条建议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8200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2533574" cy="393192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288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2442134" y="2011680"/>
            <a:ext cx="603504" cy="603504"/>
          </a:xfrm>
          <a:prstGeom prst="ellipse">
            <a:avLst/>
          </a:prstGeom>
          <a:solidFill>
            <a:srgbClr val="2DD4BF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9045" y="2168591"/>
            <a:ext cx="289682" cy="2896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2926080"/>
            <a:ext cx="216781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2DD4BF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05256" y="3931920"/>
            <a:ext cx="50292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" y="4069080"/>
            <a:ext cx="2131238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AI 嵌进协作流程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47974" y="1691640"/>
            <a:ext cx="2533574" cy="393192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30854" y="18288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4400" dirty="0"/>
          </a:p>
        </p:txBody>
      </p:sp>
      <p:sp>
        <p:nvSpPr>
          <p:cNvPr id="15" name="Shape 12"/>
          <p:cNvSpPr/>
          <p:nvPr/>
        </p:nvSpPr>
        <p:spPr>
          <a:xfrm>
            <a:off x="5204308" y="2011680"/>
            <a:ext cx="603504" cy="603504"/>
          </a:xfrm>
          <a:prstGeom prst="ellipse">
            <a:avLst/>
          </a:prstGeom>
          <a:solidFill>
            <a:srgbClr val="F59E0B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219" y="2168591"/>
            <a:ext cx="289682" cy="28968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49142" y="2926080"/>
            <a:ext cx="216781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F59E0B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667430" y="3931920"/>
            <a:ext cx="50292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49142" y="4069080"/>
            <a:ext cx="2131238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用规范和 Review 兜底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10148" y="1691640"/>
            <a:ext cx="2533574" cy="393192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393028" y="18288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4400" dirty="0"/>
          </a:p>
        </p:txBody>
      </p:sp>
      <p:sp>
        <p:nvSpPr>
          <p:cNvPr id="22" name="Shape 18"/>
          <p:cNvSpPr/>
          <p:nvPr/>
        </p:nvSpPr>
        <p:spPr>
          <a:xfrm>
            <a:off x="7966481" y="2011680"/>
            <a:ext cx="603504" cy="603504"/>
          </a:xfrm>
          <a:prstGeom prst="ellipse">
            <a:avLst/>
          </a:prstGeom>
          <a:solidFill>
            <a:srgbClr val="2E5C8A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392" y="2168591"/>
            <a:ext cx="289682" cy="28968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11316" y="2926080"/>
            <a:ext cx="216781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2E5C8A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429604" y="3931920"/>
            <a:ext cx="502920" cy="0"/>
          </a:xfrm>
          <a:prstGeom prst="line">
            <a:avLst/>
          </a:prstGeom>
          <a:noFill/>
          <a:ln w="31750">
            <a:solidFill>
              <a:srgbClr val="2E5C8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11316" y="4069080"/>
            <a:ext cx="2131238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让知识可沉淀、可继承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972321" y="1691640"/>
            <a:ext cx="2533574" cy="3931920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9155201" y="18288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4400" dirty="0"/>
          </a:p>
        </p:txBody>
      </p:sp>
      <p:sp>
        <p:nvSpPr>
          <p:cNvPr id="29" name="Shape 24"/>
          <p:cNvSpPr/>
          <p:nvPr/>
        </p:nvSpPr>
        <p:spPr>
          <a:xfrm>
            <a:off x="10728655" y="2011680"/>
            <a:ext cx="603504" cy="603504"/>
          </a:xfrm>
          <a:prstGeom prst="ellipse">
            <a:avLst/>
          </a:prstGeom>
          <a:solidFill>
            <a:srgbClr val="0F9D8F"/>
          </a:solidFill>
          <a:effectLst>
            <a:outerShdw blurRad="152400" dist="50800" dir="5400000" algn="bl" rotWithShape="0">
              <a:srgbClr val="0B1A2E">
                <a:alpha val="12000"/>
              </a:srgbClr>
            </a:outerShdw>
          </a:effectLst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5566" y="2168591"/>
            <a:ext cx="289682" cy="28968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73489" y="2926080"/>
            <a:ext cx="216781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0F9D8F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9191777" y="3931920"/>
            <a:ext cx="502920" cy="0"/>
          </a:xfrm>
          <a:prstGeom prst="line">
            <a:avLst/>
          </a:prstGeom>
          <a:noFill/>
          <a:ln w="31750">
            <a:solidFill>
              <a:srgbClr val="0F9D8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173489" y="4069080"/>
            <a:ext cx="2131238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人，始终是终审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8580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Computing Platform · 课程结课经验交流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9677095" y="64739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3657600" cy="3657600"/>
          </a:xfrm>
          <a:prstGeom prst="ellipse">
            <a:avLst/>
          </a:prstGeom>
          <a:solidFill>
            <a:srgbClr val="1B3A5B"/>
          </a:solidFill>
        </p:spPr>
      </p:sp>
      <p:sp>
        <p:nvSpPr>
          <p:cNvPr id="3" name="Shape 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DD4BF">
              <a:alpha val="16000"/>
            </a:srgbClr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194560"/>
            <a:ext cx="1463040" cy="0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23160"/>
            <a:ext cx="10820095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85800" y="3657600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DB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 · 欢迎交流指正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57400" y="4434840"/>
            <a:ext cx="8076895" cy="777240"/>
          </a:xfrm>
          <a:prstGeom prst="roundRect">
            <a:avLst>
              <a:gd name="adj" fmla="val 7059"/>
            </a:avLst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4434840"/>
            <a:ext cx="807689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不会替代团队，但善用 AI 的团队，会走得更远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5943600"/>
            <a:ext cx="10820095" cy="0"/>
          </a:xfrm>
          <a:prstGeom prst="line">
            <a:avLst/>
          </a:prstGeom>
          <a:noFill/>
          <a:ln w="12700">
            <a:solidFill>
              <a:srgbClr val="2A3F58"/>
            </a:solidFill>
            <a:prstDash val="solid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2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3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4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5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6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7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8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9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10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11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12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13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14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15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16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17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18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19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ags/tag20.xml><?xml version="1.0" encoding="utf-8"?>
<p:tagLst xmlns:p="http://schemas.openxmlformats.org/presentationml/2006/main">
  <p:tag name="KSO_WM_DIAGRAM_VIRTUALLY_FRAME" val="{&quot;height&quot;:313.91999999999996,&quot;left&quot;:385.2,&quot;top&quot;:165.6,&quot;width&quot;:520.775984251968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2482</Words>
  <Application>WPS 演示</Application>
  <PresentationFormat>On-screen Show (16:9)</PresentationFormat>
  <Paragraphs>376</Paragraphs>
  <Slides>12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 AI 走进小组协作开发</dc:title>
  <dc:creator>Computing Platform Team</dc:creator>
  <dc:subject>PptxGenJS Presentation</dc:subject>
  <cp:lastModifiedBy>像风像云像你.</cp:lastModifiedBy>
  <cp:revision>3</cp:revision>
  <dcterms:created xsi:type="dcterms:W3CDTF">2026-07-01T01:13:00Z</dcterms:created>
  <dcterms:modified xsi:type="dcterms:W3CDTF">2026-07-01T02:40:08Z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DFFAF0FF4A8A4F89BE43A92ED9BD955E_12</vt:lpwstr>
  </property>
</Properties>
</file>