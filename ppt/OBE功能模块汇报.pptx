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9" r:id="rId5"/>
    <p:sldId id="270" r:id="rId6"/>
    <p:sldId id="279" r:id="rId7"/>
    <p:sldId id="280" r:id="rId8"/>
    <p:sldId id="282" r:id="rId9"/>
    <p:sldId id="272" r:id="rId10"/>
    <p:sldId id="273" r:id="rId11"/>
    <p:sldId id="274" r:id="rId12"/>
    <p:sldId id="276" r:id="rId13"/>
    <p:sldId id="281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84" r:id="rId24"/>
  </p:sldIdLst>
  <p:sldSz cx="13333095" cy="7499985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blog.csdn.net/liulin_521/article/details/155862222?sharetype=blog&amp;shareId=155862222&amp;sharerefer=APP&amp;sharesource=qq_64666991&amp;sharefrom=link&#13;" TargetMode="External"/><Relationship Id="rId1" Type="http://schemas.openxmlformats.org/officeDocument/2006/relationships/hyperlink" Target="https://www.bilibili.com/video/BV1kX546QEjG/?spm_id_from=333.337.search-card.all.click&amp;vd_source=ea45fa5e2ed4b271153bc09e893040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5900000"/>
            <a:ext cx="13333333" cy="1600000"/>
          </a:xfrm>
          <a:prstGeom prst="rect">
            <a:avLst/>
          </a:prstGeom>
          <a:solidFill>
            <a:srgbClr val="EEF6FF"/>
          </a:solidFill>
          <a:ln>
            <a:solidFill>
              <a:srgbClr val="EEF6FF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820000" y="125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3900" b="1">
                <a:solidFill>
                  <a:srgbClr val="FFFFFF"/>
                </a:solidFill>
              </a:rPr>
              <a:t>OBE达成度计算平台</a:t>
            </a:r>
            <a:endParaRPr lang="zh-CN" sz="3900" b="1">
              <a:solidFill>
                <a:srgbClr val="FFFFFF"/>
              </a:solidFill>
            </a:endParaRPr>
          </a:p>
          <a:p>
            <a:pPr>
              <a:buNone/>
            </a:pPr>
            <a:r>
              <a:rPr lang="zh-CN" sz="3900" b="0">
                <a:solidFill>
                  <a:srgbClr val="FFFFFF"/>
                </a:solidFill>
              </a:rPr>
              <a:t>前端界面功能模块汇报</a:t>
            </a:r>
            <a:endParaRPr lang="zh-CN" sz="3900" b="0">
              <a:solidFill>
                <a:srgbClr val="FFFFFF"/>
              </a:solidFill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880000" y="3050000"/>
            <a:ext cx="85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100" b="0">
                <a:solidFill>
                  <a:srgbClr val="DCEAFF"/>
                </a:solidFill>
              </a:rPr>
              <a:t>围绕 UI 界面展示系统入口、数据维护、达成度计算和报表导出流程</a:t>
            </a:r>
            <a:endParaRPr lang="zh-CN" sz="2100" b="0">
              <a:solidFill>
                <a:srgbClr val="DCEAFF"/>
              </a:solidFill>
            </a:endParaRPr>
          </a:p>
        </p:txBody>
      </p:sp>
      <p:sp>
        <p:nvSpPr>
          <p:cNvPr id="6" name="shape"/>
          <p:cNvSpPr/>
          <p:nvPr/>
        </p:nvSpPr>
        <p:spPr>
          <a:xfrm>
            <a:off x="870000" y="4340000"/>
            <a:ext cx="2160000" cy="560000"/>
          </a:xfrm>
          <a:prstGeom prst="roundRect">
            <a:avLst/>
          </a:prstGeom>
          <a:solidFill>
            <a:srgbClr val="1776F2"/>
          </a:solidFill>
          <a:ln>
            <a:solidFill>
              <a:srgbClr val="1776F2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FFFFFF"/>
                </a:solidFill>
              </a:rPr>
              <a:t>Vue + Element Plus</a:t>
            </a:r>
            <a:endParaRPr lang="zh-CN" sz="1700" b="1">
              <a:solidFill>
                <a:srgbClr val="FFFFFF"/>
              </a:solidFill>
            </a:endParaRPr>
          </a:p>
        </p:txBody>
      </p:sp>
      <p:sp>
        <p:nvSpPr>
          <p:cNvPr id="7" name="shape"/>
          <p:cNvSpPr/>
          <p:nvPr/>
        </p:nvSpPr>
        <p:spPr>
          <a:xfrm>
            <a:off x="3260000" y="4340000"/>
            <a:ext cx="1600000" cy="560000"/>
          </a:xfrm>
          <a:prstGeom prst="roundRect">
            <a:avLst/>
          </a:prstGeom>
          <a:solidFill>
            <a:srgbClr val="24A761"/>
          </a:solidFill>
          <a:ln>
            <a:solidFill>
              <a:srgbClr val="24A761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FFFFFF"/>
                </a:solidFill>
              </a:rPr>
              <a:t>ECharts</a:t>
            </a:r>
            <a:endParaRPr lang="zh-CN" sz="1700" b="1">
              <a:solidFill>
                <a:srgbClr val="FFFFFF"/>
              </a:solidFill>
            </a:endParaRPr>
          </a:p>
        </p:txBody>
      </p:sp>
      <p:sp>
        <p:nvSpPr>
          <p:cNvPr id="8" name="shape"/>
          <p:cNvSpPr/>
          <p:nvPr/>
        </p:nvSpPr>
        <p:spPr>
          <a:xfrm>
            <a:off x="5100000" y="4340000"/>
            <a:ext cx="2120000" cy="560000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FFFFFF"/>
                </a:solidFill>
              </a:rPr>
              <a:t>工程认证</a:t>
            </a:r>
            <a:endParaRPr lang="zh-CN" sz="17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项目</a:t>
            </a:r>
            <a:r>
              <a:rPr lang="zh-CN" sz="2450" b="1">
                <a:solidFill>
                  <a:srgbClr val="25364D"/>
                </a:solidFill>
              </a:rPr>
              <a:t>背景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r>
              <a:rPr lang="zh-CN" altLang="en-US" sz="2450" b="1">
                <a:solidFill>
                  <a:srgbClr val="25364D"/>
                </a:solidFill>
              </a:rPr>
              <a:t>基于</a:t>
            </a:r>
            <a:r>
              <a:rPr lang="en-US" altLang="zh-CN" sz="2450" b="1">
                <a:solidFill>
                  <a:srgbClr val="25364D"/>
                </a:solidFill>
              </a:rPr>
              <a:t>OBE（Outcome-Based Education）</a:t>
            </a:r>
            <a:r>
              <a:rPr lang="zh-CN" altLang="en-US" sz="2450" b="1">
                <a:solidFill>
                  <a:srgbClr val="25364D"/>
                </a:solidFill>
              </a:rPr>
              <a:t>教育理念，构建毕业要求达成度计算与管理系统，解决传统教学管理中数据分散、计算复杂、追溯困难的问题</a:t>
            </a: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 algn="l">
              <a:buNone/>
            </a:pPr>
            <a:r>
              <a:rPr lang="zh-CN" altLang="en-US" sz="2450" b="1">
                <a:solidFill>
                  <a:srgbClr val="25364D"/>
                </a:solidFill>
              </a:rPr>
              <a:t>后端技术</a:t>
            </a:r>
            <a:r>
              <a:rPr lang="zh-CN" altLang="en-US" sz="2450" b="1">
                <a:solidFill>
                  <a:srgbClr val="25364D"/>
                </a:solidFill>
              </a:rPr>
              <a:t>选型</a:t>
            </a: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049655" y="3174365"/>
          <a:ext cx="10431780" cy="2255520"/>
        </p:xfrm>
        <a:graphic>
          <a:graphicData uri="http://schemas.openxmlformats.org/drawingml/2006/table">
            <a:tbl>
              <a:tblPr/>
              <a:tblGrid>
                <a:gridCol w="3477260"/>
                <a:gridCol w="3477260"/>
                <a:gridCol w="3477260"/>
              </a:tblGrid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技术类别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技术选型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后端框架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Spring Boot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2.7.18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ORM</a:t>
                      </a: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框架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MyBatis-Plus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3.5.2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MySQL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8.0+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接口文档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Knife4j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4.4.0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身份认证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JWT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0.11.5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工具库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Hutool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5.8.8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开发环境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JDK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761100" y="1158255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indent="457200">
              <a:buNone/>
            </a:pPr>
            <a:r>
              <a:rPr lang="zh-CN" sz="2450" b="1">
                <a:solidFill>
                  <a:srgbClr val="25364D"/>
                </a:solidFill>
              </a:rPr>
              <a:t>整体架构</a:t>
            </a:r>
            <a:r>
              <a:rPr lang="en-US" altLang="zh-CN" sz="2450" b="1">
                <a:solidFill>
                  <a:srgbClr val="25364D"/>
                </a:solidFill>
              </a:rPr>
              <a:t>                                                                </a:t>
            </a:r>
            <a:r>
              <a:rPr lang="zh-CN" altLang="en-US" sz="2450" b="1">
                <a:solidFill>
                  <a:srgbClr val="25364D"/>
                </a:solidFill>
              </a:rPr>
              <a:t>分层说明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2298700"/>
            <a:ext cx="6109335" cy="3093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555" y="2108200"/>
            <a:ext cx="3361690" cy="3284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项目</a:t>
            </a:r>
            <a:r>
              <a:rPr lang="zh-CN" sz="2450" b="1">
                <a:solidFill>
                  <a:srgbClr val="25364D"/>
                </a:solidFill>
              </a:rPr>
              <a:t>结构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93360" y="1804035"/>
            <a:ext cx="6744335" cy="4509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springboot-init-master/</a:t>
            </a:r>
            <a:endParaRPr lang="en-US" altLang="zh-CN"/>
          </a:p>
          <a:p>
            <a:r>
              <a:rPr lang="en-US" altLang="zh-CN"/>
              <a:t>├── src/main/java/com/yupi/springbootinit/</a:t>
            </a:r>
            <a:endParaRPr lang="en-US" altLang="zh-CN"/>
          </a:p>
          <a:p>
            <a:r>
              <a:rPr lang="en-US" altLang="zh-CN"/>
              <a:t>│   ├── controller/        # </a:t>
            </a:r>
            <a:r>
              <a:rPr lang="zh-CN" altLang="en-US"/>
              <a:t>接口层</a:t>
            </a:r>
            <a:endParaRPr lang="zh-CN" altLang="en-US"/>
          </a:p>
          <a:p>
            <a:r>
              <a:rPr lang="en-US" altLang="zh-CN"/>
              <a:t>│   ├── service/           # </a:t>
            </a:r>
            <a:r>
              <a:rPr lang="zh-CN" altLang="en-US"/>
              <a:t>业务逻辑层</a:t>
            </a:r>
            <a:endParaRPr lang="zh-CN" altLang="en-US"/>
          </a:p>
          <a:p>
            <a:r>
              <a:rPr lang="en-US" altLang="zh-CN"/>
              <a:t>│   ├── model/             # </a:t>
            </a:r>
            <a:r>
              <a:rPr lang="zh-CN" altLang="en-US"/>
              <a:t>数据模型</a:t>
            </a:r>
            <a:endParaRPr lang="zh-CN" altLang="en-US"/>
          </a:p>
          <a:p>
            <a:r>
              <a:rPr lang="en-US" altLang="zh-CN"/>
              <a:t>│   │   ├── entity/        # </a:t>
            </a:r>
            <a:r>
              <a:rPr lang="zh-CN" altLang="en-US"/>
              <a:t>实体类</a:t>
            </a:r>
            <a:endParaRPr lang="zh-CN" altLang="en-US"/>
          </a:p>
          <a:p>
            <a:r>
              <a:rPr lang="en-US" altLang="zh-CN"/>
              <a:t>│   │   ├── dto/           # </a:t>
            </a:r>
            <a:r>
              <a:rPr lang="zh-CN" altLang="en-US"/>
              <a:t>请求/响应对象</a:t>
            </a:r>
            <a:endParaRPr lang="zh-CN" altLang="en-US"/>
          </a:p>
          <a:p>
            <a:r>
              <a:rPr lang="en-US" altLang="zh-CN"/>
              <a:t>│   │   └── vo/            # </a:t>
            </a:r>
            <a:r>
              <a:rPr lang="zh-CN" altLang="en-US"/>
              <a:t>视图对象</a:t>
            </a:r>
            <a:endParaRPr lang="zh-CN" altLang="en-US"/>
          </a:p>
          <a:p>
            <a:r>
              <a:rPr lang="en-US" altLang="zh-CN"/>
              <a:t>│   ├── common/            # </a:t>
            </a:r>
            <a:r>
              <a:rPr lang="zh-CN" altLang="en-US"/>
              <a:t>公共类</a:t>
            </a:r>
            <a:endParaRPr lang="zh-CN" altLang="en-US"/>
          </a:p>
          <a:p>
            <a:r>
              <a:rPr lang="en-US" altLang="zh-CN"/>
              <a:t>│   ├── exception/         # </a:t>
            </a:r>
            <a:r>
              <a:rPr lang="zh-CN" altLang="en-US"/>
              <a:t>异常处理</a:t>
            </a:r>
            <a:endParaRPr lang="zh-CN" altLang="en-US"/>
          </a:p>
          <a:p>
            <a:r>
              <a:rPr lang="en-US" altLang="zh-CN"/>
              <a:t>│   └── constant/          # </a:t>
            </a:r>
            <a:r>
              <a:rPr lang="zh-CN" altLang="en-US"/>
              <a:t>常量定义</a:t>
            </a:r>
            <a:endParaRPr lang="zh-CN" altLang="en-US"/>
          </a:p>
          <a:p>
            <a:r>
              <a:rPr lang="en-US" altLang="zh-CN"/>
              <a:t>├── src/main/resources/</a:t>
            </a:r>
            <a:endParaRPr lang="en-US" altLang="zh-CN"/>
          </a:p>
          <a:p>
            <a:r>
              <a:rPr lang="en-US" altLang="zh-CN"/>
              <a:t>│   └── application.yml    # </a:t>
            </a:r>
            <a:r>
              <a:rPr lang="zh-CN" altLang="en-US"/>
              <a:t>配置文件</a:t>
            </a:r>
            <a:endParaRPr lang="zh-CN" altLang="en-US"/>
          </a:p>
          <a:p>
            <a:r>
              <a:rPr lang="en-US" altLang="zh-CN"/>
              <a:t>└── sql/</a:t>
            </a:r>
            <a:endParaRPr lang="en-US" altLang="zh-CN"/>
          </a:p>
          <a:p>
            <a:r>
              <a:rPr lang="en-US" altLang="zh-CN"/>
              <a:t>    └── create_table.sql   # </a:t>
            </a:r>
            <a:r>
              <a:rPr lang="zh-CN" altLang="en-US"/>
              <a:t>数据库初始化脚本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" y="1733550"/>
            <a:ext cx="3582670" cy="5563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33755" y="822325"/>
            <a:ext cx="11499850" cy="52355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indent="457200">
              <a:buNone/>
            </a:pPr>
            <a:r>
              <a:rPr lang="zh-CN" altLang="en-US" sz="2450" b="1">
                <a:solidFill>
                  <a:srgbClr val="25364D"/>
                </a:solidFill>
              </a:rPr>
              <a:t>用户权限</a:t>
            </a:r>
            <a:endParaRPr lang="zh-CN" altLang="en-US" sz="2450" b="1">
              <a:solidFill>
                <a:srgbClr val="25364D"/>
              </a:solidFill>
            </a:endParaRPr>
          </a:p>
          <a:p>
            <a:pPr marL="914400" lvl="2" indent="457200">
              <a:buNone/>
            </a:pPr>
            <a:r>
              <a:rPr lang="en-US" altLang="zh-CN" sz="2450" b="1">
                <a:solidFill>
                  <a:srgbClr val="25364D"/>
                </a:solidFill>
              </a:rPr>
              <a:t>     </a:t>
            </a:r>
            <a:r>
              <a:rPr lang="zh-CN" altLang="en-US" sz="2450" b="1">
                <a:solidFill>
                  <a:srgbClr val="25364D"/>
                </a:solidFill>
              </a:rPr>
              <a:t>采用自定义</a:t>
            </a:r>
            <a:r>
              <a:rPr lang="en-US" altLang="zh-CN" sz="2450" b="1">
                <a:solidFill>
                  <a:srgbClr val="25364D"/>
                </a:solidFill>
              </a:rPr>
              <a:t>JWT + AOP</a:t>
            </a:r>
            <a:r>
              <a:rPr lang="zh-CN" altLang="en-US" sz="2450" b="1">
                <a:solidFill>
                  <a:srgbClr val="25364D"/>
                </a:solidFill>
              </a:rPr>
              <a:t>拦截器实现权限管理</a:t>
            </a:r>
            <a:endParaRPr lang="zh-CN" altLang="en-US" sz="2450" b="1">
              <a:solidFill>
                <a:srgbClr val="25364D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2453640"/>
            <a:ext cx="2711450" cy="48748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960" y="5334000"/>
            <a:ext cx="7981315" cy="2034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395" y="1877695"/>
            <a:ext cx="3770630" cy="35274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835" y="1229995"/>
            <a:ext cx="3148965" cy="468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indent="457200">
              <a:buNone/>
            </a:pPr>
            <a:r>
              <a:rPr lang="zh-CN" altLang="en-US" sz="2450" b="1">
                <a:solidFill>
                  <a:srgbClr val="25364D"/>
                </a:solidFill>
              </a:rPr>
              <a:t>接口测试</a:t>
            </a:r>
            <a:r>
              <a:rPr lang="en-US" altLang="zh-CN" sz="2450" b="1">
                <a:solidFill>
                  <a:srgbClr val="25364D"/>
                </a:solidFill>
              </a:rPr>
              <a:t>-Knife4j</a:t>
            </a:r>
            <a:endParaRPr lang="en-US" alt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sz="2450" b="1">
              <a:solidFill>
                <a:srgbClr val="25364D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1733550"/>
            <a:ext cx="10892790" cy="558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indent="457200">
              <a:buNone/>
            </a:pPr>
            <a:r>
              <a:rPr lang="zh-CN" altLang="en-US" sz="2450" b="1">
                <a:solidFill>
                  <a:srgbClr val="25364D"/>
                </a:solidFill>
              </a:rPr>
              <a:t>接口测试</a:t>
            </a:r>
            <a:r>
              <a:rPr lang="en-US" altLang="zh-CN" sz="2450" b="1">
                <a:solidFill>
                  <a:srgbClr val="25364D"/>
                </a:solidFill>
              </a:rPr>
              <a:t>-Knife4j</a:t>
            </a:r>
            <a:endParaRPr lang="en-US" alt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sz="2450" b="1">
              <a:solidFill>
                <a:srgbClr val="25364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655" y="1877695"/>
            <a:ext cx="5759450" cy="5394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30" y="1805940"/>
            <a:ext cx="6480175" cy="5467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模块设计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455" y="1877695"/>
            <a:ext cx="8060055" cy="5062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模块设计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1545" y="941705"/>
            <a:ext cx="3764280" cy="5496560"/>
          </a:xfrm>
          <a:prstGeom prst="rect">
            <a:avLst/>
          </a:prstGeom>
        </p:spPr>
      </p:pic>
      <p:pic>
        <p:nvPicPr>
          <p:cNvPr id="7" name="图片 6" descr="87c7d564-3ab3-434e-97dd-4bed96394d6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545" y="6342380"/>
            <a:ext cx="3736340" cy="8578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30" y="1033780"/>
            <a:ext cx="5328285" cy="6163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模块设计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3935" y="804545"/>
            <a:ext cx="5633720" cy="6518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165" y="869950"/>
            <a:ext cx="4606925" cy="6386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模块设计</a:t>
            </a:r>
            <a:endParaRPr lang="zh-CN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altLang="en-US" sz="2450" b="1">
              <a:solidFill>
                <a:srgbClr val="25364D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25" y="1445895"/>
            <a:ext cx="7477125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后端</a:t>
            </a:r>
            <a:r>
              <a:rPr lang="zh-CN" sz="2500" b="1">
                <a:solidFill>
                  <a:srgbClr val="FFFFFF"/>
                </a:solidFill>
              </a:rPr>
              <a:t>汇报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indent="457200">
              <a:buNone/>
            </a:pPr>
            <a:r>
              <a:rPr lang="zh-CN" altLang="en-US" sz="2450" b="1">
                <a:solidFill>
                  <a:srgbClr val="25364D"/>
                </a:solidFill>
              </a:rPr>
              <a:t>关键技术</a:t>
            </a:r>
            <a:r>
              <a:rPr lang="zh-CN" altLang="en-US" sz="2450" b="1">
                <a:solidFill>
                  <a:srgbClr val="25364D"/>
                </a:solidFill>
              </a:rPr>
              <a:t>实现</a:t>
            </a:r>
            <a:endParaRPr lang="zh-CN" altLang="en-US" sz="2450" b="1">
              <a:solidFill>
                <a:srgbClr val="25364D"/>
              </a:solidFill>
            </a:endParaRPr>
          </a:p>
          <a:p>
            <a:pPr indent="457200">
              <a:buNone/>
            </a:pPr>
            <a:endParaRPr lang="zh-CN" sz="2450" b="1">
              <a:solidFill>
                <a:srgbClr val="25364D"/>
              </a:solidFill>
            </a:endParaRPr>
          </a:p>
        </p:txBody>
      </p:sp>
      <p:pic>
        <p:nvPicPr>
          <p:cNvPr id="5" name="图片 4" descr="50fbebf87437afde38f234e42fb8323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510" y="1661795"/>
            <a:ext cx="6585585" cy="51282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690" y="1659255"/>
            <a:ext cx="6682105" cy="5140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095" cy="7380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7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前端：从数据到计算再到导出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780000" y="1050000"/>
            <a:ext cx="11700000" cy="4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300" b="1">
                <a:solidFill>
                  <a:srgbClr val="25364D"/>
                </a:solidFill>
              </a:rPr>
              <a:t>平台采用左侧导航 + 顶部状态栏 + 内容工作区的后台管理布局。</a:t>
            </a:r>
            <a:endParaRPr lang="zh-CN" sz="230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首页负责全局概览，快速说明平台当前运行情况。</a:t>
            </a:r>
            <a:endParaRPr lang="zh-CN" sz="230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基础数据、支撑矩阵、课程大纲构成达成度计算前置配置。</a:t>
            </a:r>
            <a:endParaRPr lang="zh-CN" sz="230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成绩导入、课程级计算、专业级计算完成三层达成度链路。</a:t>
            </a:r>
            <a:endParaRPr lang="zh-CN" sz="230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报表中心负责输出认证所需的可追溯材料。</a:t>
            </a:r>
            <a:endParaRPr lang="zh-CN" sz="2300" b="0">
              <a:solidFill>
                <a:srgbClr val="25364D"/>
              </a:solidFill>
            </a:endParaRPr>
          </a:p>
        </p:txBody>
      </p:sp>
      <p:sp>
        <p:nvSpPr>
          <p:cNvPr id="5" name="shape"/>
          <p:cNvSpPr/>
          <p:nvPr/>
        </p:nvSpPr>
        <p:spPr>
          <a:xfrm>
            <a:off x="820000" y="6050000"/>
            <a:ext cx="11600000" cy="620000"/>
          </a:xfrm>
          <a:prstGeom prst="roundRect">
            <a:avLst/>
          </a:prstGeom>
          <a:solidFill>
            <a:srgbClr val="EEF6FF"/>
          </a:solidFill>
          <a:ln>
            <a:solidFill>
              <a:srgbClr val="BCD8FF"/>
            </a:solidFill>
          </a:ln>
        </p:spPr>
        <p:txBody>
          <a:bodyPr wrap="square"/>
          <a:lstStyle/>
          <a:p>
            <a:r>
              <a:rPr lang="zh-CN" sz="1900" b="1">
                <a:solidFill>
                  <a:srgbClr val="174F98"/>
                </a:solidFill>
              </a:rPr>
              <a:t>展示重点：说明每个界面模块“给谁用、做什么、产出什么数据”。</a:t>
            </a:r>
            <a:endParaRPr lang="zh-CN" sz="1900" b="1">
              <a:solidFill>
                <a:srgbClr val="174F9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095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1. 登录与角色入口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提供统一系统入口，通过角色选择进入对应业务场景。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覆盖系统管理员、教务管理员、专业负责人、课程教师四类角色。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用于展示平台围绕工程教育认证的分工协作流程。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页面路径：/login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2. 首页综合看板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汇总毕业要求、课程总数、学生总数、课程锁定率等核心指标。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通过雷达图展示毕业要求达成度，通过饼图展示课程计算状态。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提供最近计算记录、通知公告和常用功能快捷入口。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页面路径：/dashboard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3. 基础数据管理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维护专业课程库、学年学期、教学班、学生名单等基础数据。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展示课程代码、课程名称、教师、学生数、学期和计算状态。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管理毕业要求与二级指标点，为后续计算提供统一数据源。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页面路径：/basic-data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4. 宏观支撑矩阵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专业负责人配置课程对毕业要求指标点的支撑权重 Wc。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每个指标点列合计要求为 1.00，保证专业级计算权重有效。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矩阵结果参与公式 Gk = Σ(Ek × Wc)，连接课程级与专业级达成度。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页面路径：/matrix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5. 课程大纲配置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维护课程目标 CO、目标描述和示例达成度。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配置课程目标到指标点的内部贡献权重 wjk，列合计必须为 1.00。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管理考核点、分值、对应课程目标和考核方式。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页面路径：/syllabus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6. 成绩导入与预览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支持课程教师导入 Excel 成绩模板，也可下载标准模板。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预览学生各考核点原始成绩，并支持单条编辑。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点击计算并锁定后生成课程目标达成度与课程级指标点达成度 Ek。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页面路径：/score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7. 专业级计算看板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检查各课程是否完成计算并锁定，未锁定时提示暂不能执行。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展示一级、二级、三级达成度计算链路，说明数据如何逐级汇总。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输出专业指标点最终达成度 Gk，并标识达成或待改进。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页面路径：/calculation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8. 报表与导出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提供单项指标点达成度表，便于快速查看专业达成情况。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支持课程目标达成情况、专业毕业要求报告、支撑矩阵台账等报表。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面向不同角色提供 Excel 与 PDF 导出入口，形成可追溯材料。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页面路径：/report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altLang="zh-CN" sz="2500" b="1">
                <a:solidFill>
                  <a:srgbClr val="FFFFFF"/>
                </a:solidFill>
              </a:rPr>
              <a:t>claude code</a:t>
            </a:r>
            <a:r>
              <a:rPr lang="zh-CN" altLang="en-US" sz="2500" b="1">
                <a:solidFill>
                  <a:srgbClr val="FFFFFF"/>
                </a:solidFill>
              </a:rPr>
              <a:t>开发</a:t>
            </a:r>
            <a:r>
              <a:rPr lang="zh-CN" altLang="en-US" sz="2500" b="1">
                <a:solidFill>
                  <a:srgbClr val="FFFFFF"/>
                </a:solidFill>
              </a:rPr>
              <a:t>分享</a:t>
            </a:r>
            <a:endParaRPr lang="zh-CN" altLang="en-US" sz="2500" b="1">
              <a:solidFill>
                <a:srgbClr val="FFFFFF"/>
              </a:solidFill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850265" y="1229995"/>
            <a:ext cx="9896475" cy="43002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altLang="zh-CN" sz="1850" b="0">
                <a:solidFill>
                  <a:srgbClr val="25364D"/>
                </a:solidFill>
                <a:hlinkClick r:id="rId1" tooltip="" action="ppaction://hlinkfile"/>
              </a:rPr>
              <a:t>https://www.bilibili.com/video/BV1kX546QEjG/?spm_id_from=333.337.search-card.all.click&amp;vd_source=ea45fa5e2ed4b271153bc09e89304041</a:t>
            </a:r>
            <a:endParaRPr lang="en-US" altLang="zh-CN" sz="1850" b="0">
              <a:solidFill>
                <a:srgbClr val="25364D"/>
              </a:solidFill>
              <a:hlinkClick r:id="rId1" tooltip="" action="ppaction://hlinkfile"/>
            </a:endParaRPr>
          </a:p>
          <a:p>
            <a:pPr>
              <a:buNone/>
            </a:pPr>
            <a:endParaRPr lang="zh-CN" sz="1850" b="0">
              <a:solidFill>
                <a:srgbClr val="25364D"/>
              </a:solidFill>
            </a:endParaRPr>
          </a:p>
          <a:p>
            <a:pPr>
              <a:buNone/>
            </a:pPr>
            <a:endParaRPr lang="zh-CN" sz="1850" b="0">
              <a:solidFill>
                <a:srgbClr val="25364D"/>
              </a:solidFill>
            </a:endParaRPr>
          </a:p>
          <a:p>
            <a:pPr>
              <a:buNone/>
            </a:pPr>
            <a:endParaRPr lang="zh-CN" sz="1850" b="0">
              <a:solidFill>
                <a:srgbClr val="25364D"/>
              </a:solidFill>
            </a:endParaRPr>
          </a:p>
          <a:p>
            <a:pPr>
              <a:buNone/>
            </a:pPr>
            <a:r>
              <a:rPr lang="en-US" altLang="zh-CN" sz="1850" b="0">
                <a:solidFill>
                  <a:srgbClr val="25364D"/>
                </a:solidFill>
                <a:hlinkClick r:id="rId2" tooltip="" action="ppaction://hlinkfile"/>
              </a:rPr>
              <a:t>https://blog.csdn.net/liulin_521/article/details/155862222?sharetype=blog&amp;shareId=155862222&amp;sharerefer=APP&amp;sharesource=qq_64666991&amp;sharefrom=link</a:t>
            </a:r>
            <a:endParaRPr lang="en-US" altLang="zh-CN" sz="1850" b="0">
              <a:solidFill>
                <a:srgbClr val="25364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BE">
  <a:themeElements>
    <a:clrScheme name="OBE">
      <a:dk1>
        <a:srgbClr val="142033"/>
      </a:dk1>
      <a:lt1>
        <a:srgbClr val="FFFFFF"/>
      </a:lt1>
      <a:dk2>
        <a:srgbClr val="061A34"/>
      </a:dk2>
      <a:lt2>
        <a:srgbClr val="F4F7FB"/>
      </a:lt2>
      <a:accent1>
        <a:srgbClr val="1776F2"/>
      </a:accent1>
      <a:accent2>
        <a:srgbClr val="24A761"/>
      </a:accent2>
      <a:accent3>
        <a:srgbClr val="F5A524"/>
      </a:accent3>
      <a:accent4>
        <a:srgbClr val="E5484D"/>
      </a:accent4>
      <a:accent5>
        <a:srgbClr val="0B4FB3"/>
      </a:accent5>
      <a:accent6>
        <a:srgbClr val="68778D"/>
      </a:accent6>
      <a:hlink>
        <a:srgbClr val="1776F2"/>
      </a:hlink>
      <a:folHlink>
        <a:srgbClr val="0B4FB3"/>
      </a:folHlink>
    </a:clrScheme>
    <a:fontScheme name="OB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B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2274</Words>
  <Application>WPS 演示</Application>
  <PresentationFormat>Widescreen</PresentationFormat>
  <Paragraphs>231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Calibri</vt:lpstr>
      <vt:lpstr>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OBE前端界面功能模块汇报</dc:title>
  <dc:creator>Codex</dc:creator>
  <cp:lastModifiedBy>WPS_1586523613</cp:lastModifiedBy>
  <cp:revision>7</cp:revision>
  <dcterms:created xsi:type="dcterms:W3CDTF">2026-05-26T08:31:00Z</dcterms:created>
  <dcterms:modified xsi:type="dcterms:W3CDTF">2026-05-27T07:10:04Z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71991195A7DE4BA2855C5274252C114E_13</vt:lpwstr>
  </property>
</Properties>
</file>