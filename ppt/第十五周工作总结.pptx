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  <p:sldMasterId id="2147483670" r:id="rId8"/>
    <p:sldMasterId id="2147483672" r:id="rId9"/>
    <p:sldMasterId id="2147483674" r:id="rId10"/>
    <p:sldMasterId id="2147483676" r:id="rId11"/>
    <p:sldMasterId id="2147483678" r:id="rId12"/>
    <p:sldMasterId id="2147483680" r:id="rId13"/>
    <p:sldMasterId id="2147483682" r:id="rId14"/>
  </p:sldMasterIdLst>
  <p:notesMasterIdLst>
    <p:notesMasterId r:id="rId16"/>
  </p:notesMasterIdLst>
  <p:sldIdLst>
    <p:sldId id="256" r:id="rId15"/>
    <p:sldId id="257" r:id="rId17"/>
    <p:sldId id="258" r:id="rId18"/>
    <p:sldId id="262" r:id="rId19"/>
    <p:sldId id="280" r:id="rId20"/>
    <p:sldId id="263" r:id="rId21"/>
    <p:sldId id="265" r:id="rId22"/>
    <p:sldId id="269" r:id="rId23"/>
    <p:sldId id="270" r:id="rId24"/>
    <p:sldId id="273" r:id="rId25"/>
    <p:sldId id="274" r:id="rId26"/>
    <p:sldId id="275" r:id="rId27"/>
    <p:sldId id="282" r:id="rId28"/>
    <p:sldId id="283" r:id="rId29"/>
    <p:sldId id="284" r:id="rId30"/>
    <p:sldId id="285" r:id="rId31"/>
    <p:sldId id="290" r:id="rId32"/>
    <p:sldId id="286" r:id="rId33"/>
    <p:sldId id="291" r:id="rId34"/>
    <p:sldId id="287" r:id="rId35"/>
    <p:sldId id="288" r:id="rId36"/>
    <p:sldId id="289" r:id="rId3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80" userDrawn="1">
          <p15:clr>
            <a:srgbClr val="747775"/>
          </p15:clr>
        </p15:guide>
        <p15:guide id="2" pos="292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80"/>
        <p:guide pos="292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0" Type="http://schemas.openxmlformats.org/officeDocument/2006/relationships/tableStyles" Target="tableStyles.xml"/><Relationship Id="rId4" Type="http://schemas.openxmlformats.org/officeDocument/2006/relationships/slideMaster" Target="slideMasters/slideMaster3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22.xml"/><Relationship Id="rId36" Type="http://schemas.openxmlformats.org/officeDocument/2006/relationships/slide" Target="slides/slide21.xml"/><Relationship Id="rId35" Type="http://schemas.openxmlformats.org/officeDocument/2006/relationships/slide" Target="slides/slide20.xml"/><Relationship Id="rId34" Type="http://schemas.openxmlformats.org/officeDocument/2006/relationships/slide" Target="slides/slide19.xml"/><Relationship Id="rId33" Type="http://schemas.openxmlformats.org/officeDocument/2006/relationships/slide" Target="slides/slide18.xml"/><Relationship Id="rId32" Type="http://schemas.openxmlformats.org/officeDocument/2006/relationships/slide" Target="slides/slide17.xml"/><Relationship Id="rId31" Type="http://schemas.openxmlformats.org/officeDocument/2006/relationships/slide" Target="slides/slide16.xml"/><Relationship Id="rId30" Type="http://schemas.openxmlformats.org/officeDocument/2006/relationships/slide" Target="slides/slide1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4.xml"/><Relationship Id="rId28" Type="http://schemas.openxmlformats.org/officeDocument/2006/relationships/slide" Target="slides/slide13.xml"/><Relationship Id="rId27" Type="http://schemas.openxmlformats.org/officeDocument/2006/relationships/slide" Target="slides/slide12.xml"/><Relationship Id="rId26" Type="http://schemas.openxmlformats.org/officeDocument/2006/relationships/slide" Target="slides/slide11.xml"/><Relationship Id="rId25" Type="http://schemas.openxmlformats.org/officeDocument/2006/relationships/slide" Target="slides/slide10.xml"/><Relationship Id="rId24" Type="http://schemas.openxmlformats.org/officeDocument/2006/relationships/slide" Target="slides/slide9.xml"/><Relationship Id="rId23" Type="http://schemas.openxmlformats.org/officeDocument/2006/relationships/slide" Target="slides/slide8.xml"/><Relationship Id="rId22" Type="http://schemas.openxmlformats.org/officeDocument/2006/relationships/slide" Target="slides/slide7.xml"/><Relationship Id="rId21" Type="http://schemas.openxmlformats.org/officeDocument/2006/relationships/slide" Target="slides/slide6.xml"/><Relationship Id="rId20" Type="http://schemas.openxmlformats.org/officeDocument/2006/relationships/slide" Target="slides/slide5.xml"/><Relationship Id="rId2" Type="http://schemas.openxmlformats.org/officeDocument/2006/relationships/theme" Target="theme/theme1.xml"/><Relationship Id="rId19" Type="http://schemas.openxmlformats.org/officeDocument/2006/relationships/slide" Target="slides/slide4.xml"/><Relationship Id="rId18" Type="http://schemas.openxmlformats.org/officeDocument/2006/relationships/slide" Target="slides/slide3.xml"/><Relationship Id="rId17" Type="http://schemas.openxmlformats.org/officeDocument/2006/relationships/slide" Target="slides/slide2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毕业成果管理系统的开发工作总结会。本次汇报将总结我们团队在2026年6月第一周的工作进展、新功能演示、技术难点攻克以及未来的工作计划。希望通过这次汇报，能让大家对项目的最新状态有一个全面的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本次汇报将分为四个部分。首先，我会介绍本周的整体工作进展；其次，将详细演示本周上线的核心功能；接着，分享我们在开发过程中遇到的技术难点及其解决方案；最后，进行总结并规划下周的工作。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周，我们小组四位成员分工明确，高效协作。于佳杰负责核心功能开发，完成了三级达成度计算并修复了关键bug。IStarrrr保障了数据完整性，实现了级联删除校验。lzzpp搭建了CI/CD流程，提升了开发效率。我作为项目统筹，负责代码合并、质量把控和进度管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进入功能演示部分。本周最大的亮点是实现了完整的三级达成度计算体系。这个体系分为三个层级：一级是学生个人的课程目标达成度，二级是课程对指标点的达成度，三级是整个专业对毕业要求的达成度。下面我将分步进行详细介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一级达成度，即学生个人的课程目标达成度。它的计算逻辑是，根据学生在各个考核点的得分，结合考核点对课程目标的支撑权重，进行加权平均。这里有一个实际案例，通过计算，我们可以得出某位学生在CO1这个课程目标上的达成度是0.87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一级达成度，即学生个人的课程目标达成度。它的计算逻辑是，根据学生在各个考核点的得分，结合考核点对课程目标的支撑权重，进行加权平均。这里有一个实际案例，通过计算，我们可以得出某位学生在CO1这个课程目标上的达成度是0.87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三级达成度，它衡量的是整个专业对某个毕业要求指标点的达成情况。这是通过综合所有支撑该指标点的课程的二级达成度，并结合宏观权重计算得出的。在这个案例中，该专业的指标点1.1达成度为0.841，高于0.7的阈值，说明满足了毕业要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第三部分，难点攻克。本周我们遇到的第一个挑战是浮点数的精度控制问题。直接使用double计算会导致精度丢失。我们的解决方案是全面改用Java的BigDecimal类进行高精度计算，并统一了计算和存储的精度标准，彻底解决了这个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难点是如何保证级联删除的完整性。我们设计了一套完整的校验框架，在删除操作执行前，会自动检查所有可能的下游数据引用。这确保了数据的完整性，避免了因误删导致的系统错误，并为用户提供了清晰的错误提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个难点是实现学生绑定的恢复机制。我们设计了一个智能绑定方法，它能够判断是应该创建新的绑定关系，还是恢复一个之前被软删除的关系。这不仅满足了业务需求，还保证了数据的历史完整性和操作的安全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部分，我们来总结一下本周的开发经验。首先是关于BigDecimal的使用，我们总结出必须统一精度和舍入模式，并进行分母为零的检查。其次是数据完整性校验，我们提炼出一套模块化的校验框架，确保删除操作的安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复杂计算方面，我们遵循分层设计原则，将计算过程分解为数据准备、核心计算和结果处理等步骤。在团队协作方面，我们严格遵守GitHub的协作规范，包括规范的PR标题和分支命名，这大大提高了我们的协作效率和代码质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进入项目主页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https://github.com/WindZzz1/Computing_Platform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点击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Issues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标签页点击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New Issue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按钮选择合适的模板（我们使用 "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Bug report"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或 "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Feature request"）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，## 👥 任务认领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请以下同学之一认领此任务：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- @张三 - 负责学院模块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- @李四 - 负责专业模块  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- @王五 - 负责课程模块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认领后请：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1. 评论 "我来做这个任务"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2. 开始前请先查看相关代码结构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3. 预计 3 天内完成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进入项目主页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https://github.com/WindZzz1/Computing_Platform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点击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Issues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标签页点击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New Issue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按钮选择合适的模板（我们使用 "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Bug report"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或 "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Feature request"）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，## 👥 任务认领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请以下同学之一认领此任务：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- @张三 - 负责学院模块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- @李四 - 负责专业模块  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- @王五 - 负责课程模块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认领后请：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1. 评论 "我来做这个任务"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2. 开始前请先查看相关代码结构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3. 预计 3 天内完成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第一步：在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GitHub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上创建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Pull Request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访问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https://github.com/WindZzz1/Computing_Platform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点击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Pull requests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标签页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点击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New pull request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按钮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选择：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base repository: WindZzz1/Computing_Platform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base: main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head repository: WindZzz1/Computing_Platform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compare: feature/fix-delete-validation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第二步：填写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PR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标题和描述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4.1 接收到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PR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通知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当张三创建了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PR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后，审查者会收到通知：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GitHub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邮件通知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项目首页的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PR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列表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如果你被 @ 了，会直接收到提醒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第一步：查看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PR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概览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访问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PR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页面：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https://github.com/WindZzz1/Computing_Platform/pull/26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PR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页面展示的信息：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PR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标题和描述 - 了解变更目的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文件变更统计 - +150 -20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lines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涉及文件列表 - 哪些文件被修改了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检查状态 -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CI/CD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是否通过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4.2 在网页上查看代码改动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第二步：查看具体的代码改动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点击 "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Files changed"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标签页：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展示代码变动的三种视图：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Unified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视图 - 左右对比，改动更清晰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Split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视图 - 上下并排，适合大改动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Diff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视图 - 显示具体的差异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第三步：发现问题并添加评论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在代码行下方添加评论：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评论 1 - 关于精度问题：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### 第四步：开发者的回应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**张三看到评论后的回复：**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**回复评论 2：**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```markdown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感谢指正！你说得对，我确实遗漏了毕业要求和指标矩阵的检查。我立即修复这个问题。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✅ 已修改：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- 添加了 `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countRequirementByMajorId`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和 `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countMatrixByMajorId`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方法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- 在删除逻辑中加入了这两个检查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- 错误消息现在会显示所有引用的数量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请再次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Review，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谢谢！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第五步：继续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Code Review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审查者查看修改后的代码：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回复：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✅ 很好！现在的逻辑更加完整了：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1. **引用检查** - 覆盖了所有下游数据关系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2. **错误提示** - 信息详细且格式统一  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3. **代码质量** - 符合项目规范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我再检查了一遍，没有发现其他问题。代码可以合并了！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Firecrawl MCP ⽹⻚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内容抓取⾸先要介绍的是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Firecrawl MCP，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让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能够⾃动抓取和理解⽹⻚内容。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我在开发项⽬时经常需要从⽹上获取参考资料、阅读官⽅⽂档和技术博客，或者分析竞品的功能实现。如果⼈⼯来做这件事，需要先打开⽹站、再⼿动复制粘贴内容，或者⾃⼰写个爬⾍脚本，麻烦得⼀批。有了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Firecrawl MCP，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这事⼉就简单多了。我直接在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编程⼯具中跟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说：帮我获取这个⽹站的内容帮我读⼀下这个⽂档帮我从⽹上搜索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XX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相关的信息它就能⾃动把⽹⻚的内容、结构、甚⾄是动态加载的数据都给我抓下来。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Context7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能帮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获取到最新的技术⽂档。我们都知道，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的训练数据是有截⽌时间的，⽐如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GPT-4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的知识可能只更新到 2023 年。这就导致⼀个问题，当你问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关于某个框架最新版本的⽤法时，它给出的答案可能是过时的。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Context7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就是来解决这个问题的。它会⾃动从官⽅⽂档⽹站抓取最新的、特定版本的⽂档内容，然后提供给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AI。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Web to MCP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是⼀个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Chrome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扩展，搭配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MCP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使⽤，能把⽹⻚上的任何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UI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组件直接发送给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AI，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让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⽣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成对应的代码，⽤最快的速度抄作业！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Firecrawl MCP ⽹⻚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内容抓取⾸先要介绍的是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Firecrawl MCP，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让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能够⾃动抓取和理解⽹⻚内容。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我在开发项⽬时经常需要从⽹上获取参考资料、阅读官⽅⽂档和技术博客，或者分析竞品的功能实现。如果⼈⼯来做这件事，需要先打开⽹站、再⼿动复制粘贴内容，或者⾃⼰写个爬⾍脚本，麻烦得⼀批。有了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Firecrawl MCP，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这事⼉就简单多了。我直接在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编程⼯具中跟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说：帮我获取这个⽹站的内容帮我读⼀下这个⽂档帮我从⽹上搜索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XX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相关的信息它就能⾃动把⽹⻚的内容、结构、甚⾄是动态加载的数据都给我抓下来。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Context7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能帮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获取到最新的技术⽂档。我们都知道，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的训练数据是有截⽌时间的，⽐如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GPT-4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的知识可能只更新到 2023 年。这就导致⼀个问题，当你问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关于某个框架最新版本的⽤法时，它给出的答案可能是过时的。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Context7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就是来解决这个问题的。它会⾃动从官⽅⽂档⽹站抓取最新的、特定版本的⽂档内容，然后提供给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AI。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Web to MCP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是⼀个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Chrome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扩展，搭配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MCP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使⽤，能把⽹⻚上的任何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UI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组件直接发送给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AI，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让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⽣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成对应的代码，⽤最快的速度抄作业！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Web to MCP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是⼀个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Chrome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扩展，搭配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MCP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使⽤，能把⽹⻚上的任何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UI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组件直接发送给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AI，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让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⽣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成对应的代码，⽤最快的速度抄作业！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很多时候，我在浏览⽹站时看到⼀个不错的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UI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组件，想让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帮我实现类似的效果。以前的做法是截图，然后跟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描述：“帮我做⼀个类似这样的按钮，圆⻆、渐变⾊、带阴影……” 既费时⼜不准确。有了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Web to MCP，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我只需要在⽹⻚上点击某个想复刻的元素：它就会⾃动捕获组件的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DOM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结构、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CSS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样式、甚⾄是交互效果，并且给你⼀个让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复刻组件的提示词。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你只需要把提示词发送给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AI，AI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会调⽤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MCP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拿到完整的组件信息，并⽣成代码来复刻组件。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Firecrawl MCP ⽹⻚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内容抓取⾸先要介绍的是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Firecrawl MCP，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让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能够⾃动抓取和理解⽹⻚内容。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我在开发项⽬时经常需要从⽹上获取参考资料、阅读官⽅⽂档和技术博客，或者分析竞品的功能实现。如果⼈⼯来做这件事，需要先打开⽹站、再⼿动复制粘贴内容，或者⾃⼰写个爬⾍脚本，麻烦得⼀批。有了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Firecrawl MCP，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这事⼉就简单多了。我直接在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编程⼯具中跟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说：帮我获取这个⽹站的内容帮我读⼀下这个⽂档帮我从⽹上搜索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XX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相关的信息它就能⾃动把⽹⻚的内容、结构、甚⾄是动态加载的数据都给我抓下来。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Context7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能帮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获取到最新的技术⽂档。我们都知道，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的训练数据是有截⽌时间的，⽐如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GPT-4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的知识可能只更新到 2023 年。这就导致⼀个问题，当你问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关于某个框架最新版本的⽤法时，它给出的答案可能是过时的。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Context7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就是来解决这个问题的。它会⾃动从官⽅⽂档⽹站抓取最新的、特定版本的⽂档内容，然后提供给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AI。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Web to MCP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是⼀个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Chrome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扩展，搭配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MCP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使⽤，能把⽹⻚上的任何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UI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组件直接发送给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AI，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让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⽣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成对应的代码，⽤最快的速度抄作业！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它定义了⼀种 封装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⼯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作流 的标准：开发者可以把复杂的任务指令、脚本和资源打包成⼀个 技能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（Skill）；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作为⽤户，你只需要安装这些技能，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就能⽴刻学会这项本事，不⽤重复造轮⼦。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安装完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SKills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后，你只需要和之前⼀样跟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对话，程序会⾃动根据你的任务选择使⽤什么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Skills。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⽐如我让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开发⼀个精美的狼⼈杀⽹⻚游戏，它会询问我是否要使⽤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frontend-design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技能。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使⽤这个技能后，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会选择独特的设计⻛格，⽣成的界⾯既有个性⼜专业，告别千篇⼀律的蓝紫渐变⾊。⽽且不需要你每次都重复输⼊⼀堆设计要求，⾮常⽅便！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它定义了⼀种 封装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⼯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作流 的标准：开发者可以把复杂的任务指令、脚本和资源打包成⼀个 技能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（Skill）；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作为⽤户，你只需要安装这些技能，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就能⽴刻学会这项本事，不⽤重复造轮⼦。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安装完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SKills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后，你只需要和之前⼀样跟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对话，程序会⾃动根据你的任务选择使⽤什么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Skills。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⽐如我让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开发⼀个精美的狼⼈杀⽹⻚游戏，它会询问我是否要使⽤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frontend-design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技能。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使⽤这个技能后，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会选择独特的设计⻛格，⽣成的界⾯既有个性⼜专业，告别千篇⼀律的蓝紫渐变⾊。⽽且不需要你每次都重复输⼊⼀堆设计要求，⾮常⽅便！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2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31" Type="http://schemas.openxmlformats.org/officeDocument/2006/relationships/notesSlide" Target="../notesSlides/notesSlide2.xml"/><Relationship Id="rId30" Type="http://schemas.openxmlformats.org/officeDocument/2006/relationships/slideLayout" Target="../slideLayouts/slideLayout12.xml"/><Relationship Id="rId3" Type="http://schemas.openxmlformats.org/officeDocument/2006/relationships/tags" Target="../tags/tag2.xml"/><Relationship Id="rId29" Type="http://schemas.openxmlformats.org/officeDocument/2006/relationships/tags" Target="../tags/tag20.xml"/><Relationship Id="rId28" Type="http://schemas.openxmlformats.org/officeDocument/2006/relationships/tags" Target="../tags/tag19.xml"/><Relationship Id="rId27" Type="http://schemas.openxmlformats.org/officeDocument/2006/relationships/tags" Target="../tags/tag18.xml"/><Relationship Id="rId26" Type="http://schemas.openxmlformats.org/officeDocument/2006/relationships/image" Target="../media/image10.svg"/><Relationship Id="rId25" Type="http://schemas.openxmlformats.org/officeDocument/2006/relationships/image" Target="../media/image9.png"/><Relationship Id="rId24" Type="http://schemas.openxmlformats.org/officeDocument/2006/relationships/tags" Target="../tags/tag17.xml"/><Relationship Id="rId23" Type="http://schemas.openxmlformats.org/officeDocument/2006/relationships/tags" Target="../tags/tag16.xml"/><Relationship Id="rId22" Type="http://schemas.openxmlformats.org/officeDocument/2006/relationships/tags" Target="../tags/tag15.xml"/><Relationship Id="rId21" Type="http://schemas.openxmlformats.org/officeDocument/2006/relationships/tags" Target="../tags/tag14.xml"/><Relationship Id="rId20" Type="http://schemas.openxmlformats.org/officeDocument/2006/relationships/tags" Target="../tags/tag13.xml"/><Relationship Id="rId2" Type="http://schemas.openxmlformats.org/officeDocument/2006/relationships/tags" Target="../tags/tag1.xml"/><Relationship Id="rId19" Type="http://schemas.openxmlformats.org/officeDocument/2006/relationships/image" Target="../media/image8.svg"/><Relationship Id="rId18" Type="http://schemas.openxmlformats.org/officeDocument/2006/relationships/image" Target="../media/image7.png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image" Target="../media/image6.svg"/><Relationship Id="rId11" Type="http://schemas.openxmlformats.org/officeDocument/2006/relationships/image" Target="../media/image5.png"/><Relationship Id="rId10" Type="http://schemas.openxmlformats.org/officeDocument/2006/relationships/tags" Target="../tags/tag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tags" Target="../tags/tag23.xml"/><Relationship Id="rId31" Type="http://schemas.openxmlformats.org/officeDocument/2006/relationships/notesSlide" Target="../notesSlides/notesSlide3.xml"/><Relationship Id="rId30" Type="http://schemas.openxmlformats.org/officeDocument/2006/relationships/slideLayout" Target="../slideLayouts/slideLayout12.xml"/><Relationship Id="rId3" Type="http://schemas.openxmlformats.org/officeDocument/2006/relationships/tags" Target="../tags/tag22.xml"/><Relationship Id="rId29" Type="http://schemas.openxmlformats.org/officeDocument/2006/relationships/tags" Target="../tags/tag40.xml"/><Relationship Id="rId28" Type="http://schemas.openxmlformats.org/officeDocument/2006/relationships/tags" Target="../tags/tag39.xml"/><Relationship Id="rId27" Type="http://schemas.openxmlformats.org/officeDocument/2006/relationships/image" Target="../media/image18.svg"/><Relationship Id="rId26" Type="http://schemas.openxmlformats.org/officeDocument/2006/relationships/image" Target="../media/image17.png"/><Relationship Id="rId25" Type="http://schemas.openxmlformats.org/officeDocument/2006/relationships/tags" Target="../tags/tag38.xml"/><Relationship Id="rId24" Type="http://schemas.openxmlformats.org/officeDocument/2006/relationships/tags" Target="../tags/tag37.xml"/><Relationship Id="rId23" Type="http://schemas.openxmlformats.org/officeDocument/2006/relationships/tags" Target="../tags/tag36.xml"/><Relationship Id="rId22" Type="http://schemas.openxmlformats.org/officeDocument/2006/relationships/tags" Target="../tags/tag35.xml"/><Relationship Id="rId21" Type="http://schemas.openxmlformats.org/officeDocument/2006/relationships/tags" Target="../tags/tag34.xml"/><Relationship Id="rId20" Type="http://schemas.openxmlformats.org/officeDocument/2006/relationships/image" Target="../media/image16.svg"/><Relationship Id="rId2" Type="http://schemas.openxmlformats.org/officeDocument/2006/relationships/tags" Target="../tags/tag21.xml"/><Relationship Id="rId19" Type="http://schemas.openxmlformats.org/officeDocument/2006/relationships/image" Target="../media/image15.png"/><Relationship Id="rId18" Type="http://schemas.openxmlformats.org/officeDocument/2006/relationships/tags" Target="../tags/tag33.xml"/><Relationship Id="rId17" Type="http://schemas.openxmlformats.org/officeDocument/2006/relationships/tags" Target="../tags/tag32.xml"/><Relationship Id="rId16" Type="http://schemas.openxmlformats.org/officeDocument/2006/relationships/tags" Target="../tags/tag31.xml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image" Target="../media/image14.svg"/><Relationship Id="rId12" Type="http://schemas.openxmlformats.org/officeDocument/2006/relationships/image" Target="../media/image13.png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3" Type="http://schemas.openxmlformats.org/officeDocument/2006/relationships/tags" Target="../tags/tag42.xml"/><Relationship Id="rId24" Type="http://schemas.openxmlformats.org/officeDocument/2006/relationships/notesSlide" Target="../notesSlides/notesSlide4.xml"/><Relationship Id="rId23" Type="http://schemas.openxmlformats.org/officeDocument/2006/relationships/slideLayout" Target="../slideLayouts/slideLayout12.xml"/><Relationship Id="rId22" Type="http://schemas.openxmlformats.org/officeDocument/2006/relationships/tags" Target="../tags/tag55.xml"/><Relationship Id="rId21" Type="http://schemas.openxmlformats.org/officeDocument/2006/relationships/tags" Target="../tags/tag54.xml"/><Relationship Id="rId20" Type="http://schemas.openxmlformats.org/officeDocument/2006/relationships/tags" Target="../tags/tag53.xml"/><Relationship Id="rId2" Type="http://schemas.openxmlformats.org/officeDocument/2006/relationships/tags" Target="../tags/tag41.xml"/><Relationship Id="rId19" Type="http://schemas.openxmlformats.org/officeDocument/2006/relationships/image" Target="../media/image22.svg"/><Relationship Id="rId18" Type="http://schemas.openxmlformats.org/officeDocument/2006/relationships/image" Target="../media/image21.png"/><Relationship Id="rId17" Type="http://schemas.openxmlformats.org/officeDocument/2006/relationships/tags" Target="../tags/tag52.xml"/><Relationship Id="rId16" Type="http://schemas.openxmlformats.org/officeDocument/2006/relationships/tags" Target="../tags/tag51.xml"/><Relationship Id="rId15" Type="http://schemas.openxmlformats.org/officeDocument/2006/relationships/tags" Target="../tags/tag50.xml"/><Relationship Id="rId14" Type="http://schemas.openxmlformats.org/officeDocument/2006/relationships/tags" Target="../tags/tag49.xml"/><Relationship Id="rId13" Type="http://schemas.openxmlformats.org/officeDocument/2006/relationships/tags" Target="../tags/tag48.xml"/><Relationship Id="rId12" Type="http://schemas.openxmlformats.org/officeDocument/2006/relationships/image" Target="../media/image4.svg"/><Relationship Id="rId11" Type="http://schemas.openxmlformats.org/officeDocument/2006/relationships/image" Target="../media/image3.png"/><Relationship Id="rId10" Type="http://schemas.openxmlformats.org/officeDocument/2006/relationships/tags" Target="../tags/tag47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svg"/><Relationship Id="rId8" Type="http://schemas.openxmlformats.org/officeDocument/2006/relationships/image" Target="../media/image29.png"/><Relationship Id="rId7" Type="http://schemas.openxmlformats.org/officeDocument/2006/relationships/image" Target="../media/image28.svg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6.png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png"/><Relationship Id="rId8" Type="http://schemas.openxmlformats.org/officeDocument/2006/relationships/image" Target="../media/image37.png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9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2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15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23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3" Type="http://schemas.openxmlformats.org/officeDocument/2006/relationships/image" Target="../media/image58.png"/><Relationship Id="rId2" Type="http://schemas.openxmlformats.org/officeDocument/2006/relationships/image" Target="../media/image56.png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61.png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1.xml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毕业成果管理系统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810000"/>
            <a:ext cx="12700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431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本周开发工作总结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5461000"/>
            <a:ext cx="4826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112000" y="5588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</a:t>
            </a: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于佳杰</a:t>
            </a:r>
            <a:endParaRPr lang="zh-CN" altLang="en-US" sz="1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 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4FD1C5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032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2225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651000" y="2184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工作进展</a:t>
            </a:r>
            <a:endParaRPr lang="en-US" sz="1100"/>
          </a:p>
        </p:txBody>
      </p:sp>
      <p:cxnSp>
        <p:nvCxnSpPr>
          <p:cNvPr id="8" name="Connector 8"/>
          <p:cNvCxnSpPr/>
          <p:nvPr>
            <p:custDataLst>
              <p:tags r:id="rId7"/>
            </p:custDataLst>
          </p:nvPr>
        </p:nvCxnSpPr>
        <p:spPr>
          <a:xfrm rot="-9167">
            <a:off x="1016008" y="2851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1016000" y="3048000"/>
            <a:ext cx="476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回顾团队成员核心贡献与整体项目里程碑节点，结合Git代码提交统计数据，全景展示本周研发任务的落地情况与进度概览。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6413500" y="2032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67500" y="22225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7302500" y="2184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功能演示</a:t>
            </a:r>
            <a:endParaRPr lang="en-US" sz="1100"/>
          </a:p>
        </p:txBody>
      </p:sp>
      <p:cxnSp>
        <p:nvCxnSpPr>
          <p:cNvPr id="13" name="Connector 13"/>
          <p:cNvCxnSpPr/>
          <p:nvPr>
            <p:custDataLst>
              <p:tags r:id="rId14"/>
            </p:custDataLst>
          </p:nvPr>
        </p:nvCxnSpPr>
        <p:spPr>
          <a:xfrm rot="-9167">
            <a:off x="6667508" y="2851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6667500" y="3048000"/>
            <a:ext cx="476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聚焦三级达成度自动计算引擎、实时监控看板搭建，以及数据校验规则配置与CI/CD自动化流水线的实际运行效果演示。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762000" y="4191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16000" y="43815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20"/>
            </p:custDataLst>
          </p:nvPr>
        </p:nvSpPr>
        <p:spPr>
          <a:xfrm>
            <a:off x="1651000" y="4343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难点攻克</a:t>
            </a:r>
            <a:endParaRPr lang="en-US" sz="1100"/>
          </a:p>
        </p:txBody>
      </p:sp>
      <p:cxnSp>
        <p:nvCxnSpPr>
          <p:cNvPr id="18" name="Connector 18"/>
          <p:cNvCxnSpPr/>
          <p:nvPr>
            <p:custDataLst>
              <p:tags r:id="rId21"/>
            </p:custDataLst>
          </p:nvPr>
        </p:nvCxnSpPr>
        <p:spPr>
          <a:xfrm rot="-9167">
            <a:off x="1016008" y="5010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>
            <p:custDataLst>
              <p:tags r:id="rId22"/>
            </p:custDataLst>
          </p:nvPr>
        </p:nvSpPr>
        <p:spPr>
          <a:xfrm>
            <a:off x="1016000" y="5207000"/>
            <a:ext cx="476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深度解析BigDecimal精度丢失、级联删除死锁、复杂权重计算Bug及数据恢复机制等关键技术难题的排查思路与最终解决方案。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23"/>
            </p:custDataLst>
          </p:nvPr>
        </p:nvSpPr>
        <p:spPr>
          <a:xfrm>
            <a:off x="6413500" y="4191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667500" y="4381500"/>
            <a:ext cx="457200" cy="457200"/>
          </a:xfrm>
          <a:prstGeom prst="rect">
            <a:avLst/>
          </a:prstGeom>
        </p:spPr>
      </p:pic>
      <p:sp>
        <p:nvSpPr>
          <p:cNvPr id="22" name="AutoShape 22"/>
          <p:cNvSpPr/>
          <p:nvPr>
            <p:custDataLst>
              <p:tags r:id="rId27"/>
            </p:custDataLst>
          </p:nvPr>
        </p:nvSpPr>
        <p:spPr>
          <a:xfrm>
            <a:off x="7302500" y="4343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</a:t>
            </a:r>
            <a:r>
              <a:rPr lang="zh-CN" altLang="en-US" sz="20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分享</a:t>
            </a:r>
            <a:endParaRPr lang="zh-CN" altLang="en-US" sz="2000" b="1" i="0" u="none" strike="noStrike">
              <a:solidFill>
                <a:srgbClr val="4FD1C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3" name="Connector 23"/>
          <p:cNvCxnSpPr/>
          <p:nvPr>
            <p:custDataLst>
              <p:tags r:id="rId28"/>
            </p:custDataLst>
          </p:nvPr>
        </p:nvCxnSpPr>
        <p:spPr>
          <a:xfrm rot="-9167">
            <a:off x="6667508" y="5010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>
            <p:custDataLst>
              <p:tags r:id="rId29"/>
            </p:custDataLst>
          </p:nvPr>
        </p:nvSpPr>
        <p:spPr>
          <a:xfrm>
            <a:off x="6667500" y="5207000"/>
            <a:ext cx="476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沉淀本周技术实践中的宝贵经验，量化核心产出成果，并基于当前进度科学规划下周重点研发任务与风险应对策略。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工作进展：小组贡献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4FD1C5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032000"/>
            <a:ext cx="2540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762000" y="2032000"/>
            <a:ext cx="25400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22860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1397000" y="2260600"/>
            <a:ext cx="177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于佳杰</a:t>
            </a: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endParaRPr lang="zh-CN" altLang="en-US" sz="1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1016000" y="36195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模块C和D开发：完成了专业级达成度计算功能模块（三级达成度）</a:t>
            </a:r>
            <a:endParaRPr lang="en-US" sz="1400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r>
              <a:rPr lang="en-US" sz="1400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Bug修复：修复模块B中内部权重和宏观权重的计算bug</a:t>
            </a:r>
            <a:endParaRPr lang="en-US" sz="1400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r>
              <a:rPr lang="en-US" sz="1400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架构优化：重构三级计算逻辑，提升代码质量和可维护性</a:t>
            </a:r>
            <a:endParaRPr lang="en-US" sz="1400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r>
              <a:rPr lang="zh-CN" altLang="en-US" sz="1400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代码合并：处理多个分支的合并冲突</a:t>
            </a:r>
            <a:endParaRPr lang="zh-CN" altLang="en-US" sz="1400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3467100" y="2032000"/>
            <a:ext cx="2540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3467100" y="2032000"/>
            <a:ext cx="25400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57600" y="22860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4"/>
            </p:custDataLst>
          </p:nvPr>
        </p:nvSpPr>
        <p:spPr>
          <a:xfrm>
            <a:off x="4102100" y="2260600"/>
            <a:ext cx="177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杨亚星</a:t>
            </a:r>
            <a:endParaRPr lang="en-US" sz="18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5"/>
            </p:custDataLst>
          </p:nvPr>
        </p:nvSpPr>
        <p:spPr>
          <a:xfrm>
            <a:off x="3657600" y="35687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00000"/>
              </a:lnSpc>
              <a:buSzTx/>
              <a:buNone/>
              <a:defRPr/>
            </a:pPr>
            <a:r>
              <a:rPr lang="en-US" sz="1400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模块B开发，修复Bug</a:t>
            </a:r>
            <a:endParaRPr lang="en-US" sz="1400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algn="l">
              <a:lnSpc>
                <a:spcPct val="100000"/>
              </a:lnSpc>
              <a:buSzTx/>
              <a:buNone/>
              <a:defRPr/>
            </a:pPr>
            <a:r>
              <a:rPr lang="en-US" sz="1400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级联删除校验：实现了删除学院、专业、课程、学年时的下游引用校验</a:t>
            </a:r>
            <a:endParaRPr lang="en-US" sz="1400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algn="l">
              <a:lnSpc>
                <a:spcPct val="100000"/>
              </a:lnSpc>
              <a:buSzTx/>
              <a:buNone/>
              <a:defRPr/>
            </a:pPr>
            <a:r>
              <a:rPr lang="en-US" sz="1400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数据一致性：完善了删除操作的业务逻辑，防止数据孤岛</a:t>
            </a:r>
            <a:endParaRPr lang="en-US" sz="1400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algn="l">
              <a:lnSpc>
                <a:spcPct val="100000"/>
              </a:lnSpc>
              <a:buSzTx/>
              <a:buNone/>
              <a:defRPr/>
            </a:pPr>
            <a:r>
              <a:rPr lang="en-US" sz="1400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功能优化：支持教学班学生解绑后的重新绑定功能</a:t>
            </a:r>
            <a:endParaRPr lang="en-US" sz="1400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16"/>
            </p:custDataLst>
          </p:nvPr>
        </p:nvSpPr>
        <p:spPr>
          <a:xfrm>
            <a:off x="6172200" y="2032000"/>
            <a:ext cx="2540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>
            <p:custDataLst>
              <p:tags r:id="rId17"/>
            </p:custDataLst>
          </p:nvPr>
        </p:nvSpPr>
        <p:spPr>
          <a:xfrm>
            <a:off x="6172200" y="2032000"/>
            <a:ext cx="25400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362700" y="22860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>
            <p:custDataLst>
              <p:tags r:id="rId21"/>
            </p:custDataLst>
          </p:nvPr>
        </p:nvSpPr>
        <p:spPr>
          <a:xfrm>
            <a:off x="6807200" y="2260600"/>
            <a:ext cx="177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应博翔</a:t>
            </a:r>
            <a:endParaRPr lang="zh-CN" altLang="en-US" sz="1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>
            <p:custDataLst>
              <p:tags r:id="rId22"/>
            </p:custDataLst>
          </p:nvPr>
        </p:nvSpPr>
        <p:spPr>
          <a:xfrm>
            <a:off x="6362700" y="34417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CI/CD建设与自动化流程，上周末完成基础配置部署。</a:t>
            </a:r>
            <a:endParaRPr lang="en-US" sz="14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endParaRPr lang="en-US" sz="1100"/>
          </a:p>
          <a:p>
            <a:pPr marL="0" indent="0" algn="l">
              <a:lnSpc>
                <a:spcPct val="100000"/>
              </a:lnSpc>
              <a:defRPr/>
            </a:pPr>
            <a:r>
              <a:rPr lang="en-US" sz="1400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负责后端部署</a:t>
            </a:r>
            <a:endParaRPr lang="en-US" sz="1400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AutoShape 26"/>
          <p:cNvSpPr/>
          <p:nvPr>
            <p:custDataLst>
              <p:tags r:id="rId23"/>
            </p:custDataLst>
          </p:nvPr>
        </p:nvSpPr>
        <p:spPr>
          <a:xfrm>
            <a:off x="8877300" y="2032000"/>
            <a:ext cx="2540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>
            <p:custDataLst>
              <p:tags r:id="rId24"/>
            </p:custDataLst>
          </p:nvPr>
        </p:nvSpPr>
        <p:spPr>
          <a:xfrm>
            <a:off x="8877300" y="2032000"/>
            <a:ext cx="25400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067800" y="2286000"/>
            <a:ext cx="355600" cy="355600"/>
          </a:xfrm>
          <a:prstGeom prst="rect">
            <a:avLst/>
          </a:prstGeom>
        </p:spPr>
      </p:pic>
      <p:sp>
        <p:nvSpPr>
          <p:cNvPr id="29" name="AutoShape 29"/>
          <p:cNvSpPr/>
          <p:nvPr>
            <p:custDataLst>
              <p:tags r:id="rId28"/>
            </p:custDataLst>
          </p:nvPr>
        </p:nvSpPr>
        <p:spPr>
          <a:xfrm>
            <a:off x="9512300" y="2260600"/>
            <a:ext cx="177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400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张龙、张凯鹤、冯嘉豪</a:t>
            </a:r>
            <a:endParaRPr lang="zh-CN" altLang="en-US" sz="1100"/>
          </a:p>
        </p:txBody>
      </p:sp>
      <p:sp>
        <p:nvSpPr>
          <p:cNvPr id="30" name="AutoShape 30"/>
          <p:cNvSpPr/>
          <p:nvPr>
            <p:custDataLst>
              <p:tags r:id="rId29"/>
            </p:custDataLst>
          </p:nvPr>
        </p:nvSpPr>
        <p:spPr>
          <a:xfrm>
            <a:off x="9067800" y="35052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页面开发: 完成核心页面（如达成度监控看板、数据管理页）的开发。</a:t>
            </a:r>
            <a:endParaRPr lang="zh-CN" altLang="en-US" sz="14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r>
              <a:rPr lang="zh-CN" alt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接口联调: 与后端接口进行联调测试，确保数据正常交互。</a:t>
            </a:r>
            <a:endParaRPr lang="zh-CN" altLang="en-US" sz="14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r>
              <a:rPr lang="zh-CN" alt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组件库建设: 开发可复用的 </a:t>
            </a:r>
            <a:r>
              <a:rPr lang="en-US" altLang="zh-CN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UI </a:t>
            </a:r>
            <a:r>
              <a:rPr lang="zh-CN" alt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组件，提升开发效率。</a:t>
            </a:r>
            <a:endParaRPr lang="zh-CN" altLang="en-US" sz="14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762000" y="5969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4FD1C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952500" y="6070600"/>
            <a:ext cx="1028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本周小组高效协同，核心功能、数据安全、工程基建与项目统筹四大维度均按计划完成关键里程碑，为下一阶段开发奠定坚实基础。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功能演示：三级达成度计算体系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构建从“学生个体课程表现”到“专业整体毕业要求”的全链路评估闭环，通过分层级、多维度的量化计算，实现培养质量的精准监控与科学评价。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4FD1C5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62000" y="3175000"/>
            <a:ext cx="33782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429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1587500" y="34036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一级：学生课程目标</a:t>
            </a:r>
            <a:endParaRPr lang="en-US" sz="1100"/>
          </a:p>
        </p:txBody>
      </p:sp>
      <p:cxnSp>
        <p:nvCxnSpPr>
          <p:cNvPr id="9" name="Connector 9"/>
          <p:cNvCxnSpPr/>
          <p:nvPr>
            <p:custDataLst>
              <p:tags r:id="rId7"/>
            </p:custDataLst>
          </p:nvPr>
        </p:nvCxnSpPr>
        <p:spPr>
          <a:xfrm rot="-15211">
            <a:off x="1016014" y="412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1016000" y="431800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基于学生考核点实际得分与对应支撑权重，精准计算每位学生在具体课程目标上的达成情况，形成微观层面的个体能力画像。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4406900" y="3175000"/>
            <a:ext cx="33782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60900" y="3429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5232400" y="34036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二级：课程指标达成</a:t>
            </a:r>
            <a:endParaRPr lang="en-US" sz="1100"/>
          </a:p>
        </p:txBody>
      </p:sp>
      <p:cxnSp>
        <p:nvCxnSpPr>
          <p:cNvPr id="14" name="Connector 14"/>
          <p:cNvCxnSpPr/>
          <p:nvPr>
            <p:custDataLst>
              <p:tags r:id="rId14"/>
            </p:custDataLst>
          </p:nvPr>
        </p:nvCxnSpPr>
        <p:spPr>
          <a:xfrm rot="-15211">
            <a:off x="4660914" y="412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>
            <p:custDataLst>
              <p:tags r:id="rId15"/>
            </p:custDataLst>
          </p:nvPr>
        </p:nvSpPr>
        <p:spPr>
          <a:xfrm>
            <a:off x="4660900" y="431800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聚合单门课程下所有学生的目标达成度，结合课程内部各考核点的贡献权重，计算课程对毕业要求指标点的整体支撑达成情况。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6"/>
            </p:custDataLst>
          </p:nvPr>
        </p:nvSpPr>
        <p:spPr>
          <a:xfrm>
            <a:off x="8051800" y="3175000"/>
            <a:ext cx="33782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305800" y="3429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20"/>
            </p:custDataLst>
          </p:nvPr>
        </p:nvSpPr>
        <p:spPr>
          <a:xfrm>
            <a:off x="8877300" y="34036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三级：专业指标达成</a:t>
            </a:r>
            <a:endParaRPr lang="en-US" sz="1100"/>
          </a:p>
        </p:txBody>
      </p:sp>
      <p:cxnSp>
        <p:nvCxnSpPr>
          <p:cNvPr id="19" name="Connector 19"/>
          <p:cNvCxnSpPr/>
          <p:nvPr>
            <p:custDataLst>
              <p:tags r:id="rId21"/>
            </p:custDataLst>
          </p:nvPr>
        </p:nvCxnSpPr>
        <p:spPr>
          <a:xfrm rot="-15211">
            <a:off x="8305814" y="412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>
            <p:custDataLst>
              <p:tags r:id="rId22"/>
            </p:custDataLst>
          </p:nvPr>
        </p:nvSpPr>
        <p:spPr>
          <a:xfrm>
            <a:off x="8305800" y="431800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整合所有支撑课程的二级达成度结果，依据课程群的宏观总支撑权重，最终输出专业层面毕业要求指标点的整体达成评价。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4FD1C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52500" y="5943600"/>
            <a:ext cx="1028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体系价值：以“数据驱动”为核心，建立从微观个体到宏观专业的完整质量评估闭环，为教学改进提供科学依据。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功能演示：一级达成度 - 学生课程目标达成度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42570" y="1498600"/>
            <a:ext cx="3948430" cy="43434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342900" y="15367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核心计算逻辑</a:t>
            </a:r>
            <a:endParaRPr lang="en-US" sz="20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57835" y="2416175"/>
            <a:ext cx="3453765" cy="31464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* 计算公式：学生课程目标达成度 = </a:t>
            </a:r>
            <a:r>
              <a:rPr lang="en-US" altLang="zh-CN" sz="16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Σ(</a:t>
            </a:r>
            <a:r>
              <a:rPr lang="zh-CN" altLang="en-US" sz="16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考核点得分/考核点满分 × 支撑权重) / </a:t>
            </a:r>
            <a:r>
              <a:rPr lang="en-US" altLang="zh-CN" sz="16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Σ(</a:t>
            </a:r>
            <a:r>
              <a:rPr lang="zh-CN" altLang="en-US" sz="16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支撑权重)</a:t>
            </a:r>
            <a:endParaRPr lang="zh-CN" altLang="en-US" sz="16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altLang="zh-CN" sz="16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* </a:t>
            </a:r>
            <a:endParaRPr lang="en-US" altLang="zh-CN" sz="16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* 计算步骤：</a:t>
            </a:r>
            <a:endParaRPr lang="zh-CN" altLang="en-US" sz="16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* 1. 获取教学班级的所有学生</a:t>
            </a:r>
            <a:endParaRPr lang="zh-CN" altLang="en-US" sz="16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* 2. 获取课程的所有课程目标  </a:t>
            </a:r>
            <a:endParaRPr lang="zh-CN" altLang="en-US" sz="16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* 3. 获取考核点-课程目标关联关系及支撑权重</a:t>
            </a:r>
            <a:endParaRPr lang="zh-CN" altLang="en-US" sz="16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* 4. 对每个学生和每个课程目标计算达成度</a:t>
            </a:r>
            <a:endParaRPr lang="zh-CN" altLang="en-US" sz="16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* 5. 保存一级达成度数据</a:t>
            </a:r>
            <a:endParaRPr lang="zh-CN" altLang="en-US" sz="16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altLang="zh-CN" sz="16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endParaRPr lang="en-US" altLang="zh-CN" sz="16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191000" y="1498600"/>
            <a:ext cx="3936365" cy="43434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298950" y="1589405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CO1 支撑案例</a:t>
            </a:r>
            <a:endParaRPr lang="en-US" sz="20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451350" y="2416175"/>
            <a:ext cx="3288665" cy="27908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20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考核点 A01：满分100，得分85，支撑权重 0.6</a:t>
            </a:r>
            <a:endParaRPr lang="en-US" sz="2000" b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algn="l">
              <a:lnSpc>
                <a:spcPct val="125000"/>
              </a:lnSpc>
              <a:buSzTx/>
              <a:defRPr/>
            </a:pPr>
            <a:r>
              <a:rPr lang="en-US" sz="20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考核点 A02：满分20，得分18，支撑权重 0.4</a:t>
            </a:r>
            <a:endParaRPr lang="en-US" sz="20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algn="l">
              <a:lnSpc>
                <a:spcPct val="125000"/>
              </a:lnSpc>
              <a:buSzTx/>
              <a:defRPr/>
            </a:pPr>
            <a:r>
              <a:rPr lang="en-US" sz="20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注：两个考核点共同支撑课程目标CO1，权重之和为1.0，符合归一化要求。</a:t>
            </a:r>
            <a:endParaRPr lang="en-US" sz="20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204200" y="1498600"/>
            <a:ext cx="3768725" cy="4445000"/>
          </a:xfrm>
          <a:prstGeom prst="roundRect">
            <a:avLst>
              <a:gd name="adj" fmla="val 31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255000" y="15367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推演与最终结果</a:t>
            </a:r>
            <a:endParaRPr lang="en-US" sz="20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406765" y="3048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buNone/>
              <a:defRPr/>
            </a:pPr>
            <a:r>
              <a:rPr lang="en-US" sz="20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代入数据逐步计算：</a:t>
            </a:r>
            <a:br>
              <a:rPr lang="en-US" sz="20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0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(0.85×0.6 + 0.9×0.4) ÷ 1.0</a:t>
            </a:r>
            <a:br>
              <a:rPr lang="en-US" sz="20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0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= (0.51 + 0.36) ÷ 1.0</a:t>
            </a:r>
            <a:br>
              <a:rPr lang="en-US" sz="20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0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= 0.87</a:t>
            </a:r>
            <a:endParaRPr lang="en-US" sz="20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255000" y="5080000"/>
            <a:ext cx="2921000" cy="571500"/>
          </a:xfrm>
          <a:prstGeom prst="roundRect">
            <a:avLst>
              <a:gd name="adj" fmla="val 0"/>
            </a:avLst>
          </a:prstGeom>
          <a:solidFill>
            <a:srgbClr val="4FD1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255000" y="51435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CO1 达成度最终结果：</a:t>
            </a:r>
            <a:r>
              <a:rPr lang="en-US" sz="22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0.87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000000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功能演示：二级达成度 - 课程级指标点达成度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42570" y="1498600"/>
            <a:ext cx="3948430" cy="43434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342900" y="15367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核心计算逻辑</a:t>
            </a:r>
            <a:endParaRPr lang="en-US" sz="20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57835" y="2416175"/>
            <a:ext cx="3453765" cy="31464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课程指标点达成度，是将课程目标的平均一级达成度，按其对指标点的内部贡献权重进行加权平均计算得出。公式表达为：</a:t>
            </a:r>
            <a:endParaRPr lang="en-US" sz="20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algn="l">
              <a:lnSpc>
                <a:spcPct val="125000"/>
              </a:lnSpc>
              <a:buSzTx/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Σ(平均一级达成度 × 内部权重) / Σ(内部权重)</a:t>
            </a:r>
            <a:endParaRPr lang="en-US" sz="20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altLang="zh-CN" sz="16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endParaRPr lang="en-US" altLang="zh-CN" sz="1600" b="1" i="0" u="none" strike="noStrike">
              <a:solidFill>
                <a:srgbClr val="4FD1C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191000" y="1498600"/>
            <a:ext cx="3936365" cy="43434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451350" y="15367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实际案例参数</a:t>
            </a:r>
            <a:endParaRPr lang="en-US" sz="2000" b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375150" y="2416175"/>
            <a:ext cx="3288665" cy="27908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课程目标 CO1：</a:t>
            </a:r>
            <a:br>
              <a:rPr lang="en-US" sz="200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000">
                <a:solidFill>
                  <a:schemeClr val="bg1">
                    <a:alpha val="7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平均达成度 0.87，内部贡献权重 0.7，是指标点1.1的主要支撑目标。</a:t>
            </a:r>
            <a:endParaRPr lang="en-US" sz="2000">
              <a:solidFill>
                <a:schemeClr val="bg1"/>
              </a:solidFill>
            </a:endParaRPr>
          </a:p>
          <a:p>
            <a:pPr marL="0" indent="0" algn="l">
              <a:lnSpc>
                <a:spcPct val="125000"/>
              </a:lnSpc>
            </a:pPr>
            <a:r>
              <a:rPr lang="en-US" sz="20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课程目标 CO2：</a:t>
            </a:r>
            <a:br>
              <a:rPr lang="en-US" sz="200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000">
                <a:solidFill>
                  <a:schemeClr val="bg1">
                    <a:alpha val="7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平均达成度 0.82，内部贡献权重 0.3，作为辅助支撑目标参与计算。</a:t>
            </a:r>
            <a:endParaRPr lang="en-US" sz="2000" b="0" i="0" u="none" strike="noStrike">
              <a:solidFill>
                <a:schemeClr val="bg1">
                  <a:alpha val="7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204200" y="1498600"/>
            <a:ext cx="3768725" cy="4445000"/>
          </a:xfrm>
          <a:prstGeom prst="roundRect">
            <a:avLst>
              <a:gd name="adj" fmla="val 31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255000" y="15367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推演与最终结果</a:t>
            </a:r>
            <a:endParaRPr lang="en-US" sz="2000" b="1" i="0" u="none" strike="noStrike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406765" y="2540000"/>
            <a:ext cx="3175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加权求和：(0.87×0.7)+(0.82×0.3) = 0.609 + 0.246 = 0.855</a:t>
            </a:r>
            <a:br>
              <a:rPr lang="en-US" sz="2000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000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权重总和：0.7 + 0.3 = 1.0</a:t>
            </a:r>
            <a:br>
              <a:rPr lang="en-US" sz="2000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000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最终达成度：0.855 ÷ 1.0</a:t>
            </a:r>
            <a:endParaRPr lang="en-US" sz="2000" b="1">
              <a:solidFill>
                <a:srgbClr val="4FD1C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255000" y="5067300"/>
            <a:ext cx="3467100" cy="584200"/>
          </a:xfrm>
          <a:prstGeom prst="roundRect">
            <a:avLst>
              <a:gd name="adj" fmla="val 0"/>
            </a:avLst>
          </a:prstGeom>
          <a:solidFill>
            <a:srgbClr val="4FD1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546465" y="4927600"/>
            <a:ext cx="3175635" cy="723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指标点</a:t>
            </a:r>
            <a:r>
              <a:rPr lang="en-US" altLang="zh-CN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1.1</a:t>
            </a:r>
            <a:r>
              <a:rPr lang="zh-CN" alt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达成度</a:t>
            </a: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最终结果：</a:t>
            </a:r>
            <a:r>
              <a:rPr lang="en-US" sz="22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0.855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000000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功能演示：三级达成度 - 专业级指标点达成度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4FD1C5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95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057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核心计算逻辑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7051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专业级指标点达成度 = Σ(课程级达成度 × 宏观总支撑权重Wc) / Σ(宏观总支撑权重Wc)，即通过加权平均的方式，综合所有支撑课程的贡献度。</a:t>
            </a:r>
            <a:endParaRPr lang="en-US" sz="1600"/>
          </a:p>
        </p:txBody>
      </p:sp>
      <p:sp>
        <p:nvSpPr>
          <p:cNvPr id="10" name="AutoShape 10"/>
          <p:cNvSpPr/>
          <p:nvPr/>
        </p:nvSpPr>
        <p:spPr>
          <a:xfrm>
            <a:off x="762000" y="4318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508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4470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案例参数设定 (指标点1.1)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291">
            <a:off x="1016009" y="5010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1016000" y="5143500"/>
            <a:ext cx="2222500" cy="1079500"/>
          </a:xfrm>
          <a:prstGeom prst="roundRect">
            <a:avLst>
              <a:gd name="adj" fmla="val 0"/>
            </a:avLst>
          </a:prstGeom>
          <a:solidFill>
            <a:srgbClr val="4FD1C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79500" y="5207000"/>
            <a:ext cx="2095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 A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达成度：0.855 | 权重：0.6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3492500" y="5143500"/>
            <a:ext cx="2222500" cy="1079500"/>
          </a:xfrm>
          <a:prstGeom prst="roundRect">
            <a:avLst>
              <a:gd name="adj" fmla="val 0"/>
            </a:avLst>
          </a:prstGeom>
          <a:solidFill>
            <a:srgbClr val="4FD1C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3556000" y="5207000"/>
            <a:ext cx="2095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 B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达成度：0.820 | 权重：0.4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223000" y="1905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095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21500" y="2057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分步推演计算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9291">
            <a:off x="64770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477000" y="2730500"/>
            <a:ext cx="469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计算式：(0.855×0.6 + 0.820×0.4) ÷ (0.6+0.4)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第一步：0.513 + 0.328 = 0.841 | 第二步：0.841 ÷ 1.0 =</a:t>
            </a:r>
            <a:r>
              <a:rPr lang="en-US" sz="16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0.841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23000" y="4318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508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921500" y="4470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达成度判定结论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291">
            <a:off x="6477009" y="5010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477000" y="5143500"/>
            <a:ext cx="469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毕业要求阈值设定为</a:t>
            </a:r>
            <a:r>
              <a:rPr lang="en-US" sz="14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≥ 0.7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。当前计算结果0.841高于阈值，说明该专业指标点1.1的达成情况符合要求，达到了毕业标准。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难点攻克：BigDecimal精度控制问题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4290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032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0066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问题核心：浮点数精度丢失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323">
            <a:off x="952513" y="259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2794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达成度计算涉及多层级加权，使用 double/float 类型会因二进制浮点表示缺陷导致误差逐级放大，最终结果偏离预期。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4191000"/>
            <a:ext cx="3048000" cy="762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16000" y="42545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错误示例：85.0/100*0.6 + 18/20*0.4 计算结果可能为 0.8699999999999999，而非精确的 0.87。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7018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128000" y="1701800"/>
            <a:ext cx="3429000" cy="50800"/>
          </a:xfrm>
          <a:prstGeom prst="roundRect">
            <a:avLst>
              <a:gd name="adj" fmla="val 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67700" y="18796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699500" y="20066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核心方案：高精度计算体系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55000" y="2794000"/>
            <a:ext cx="304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全面使用 BigDecimal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统一设置4位小数精度，采用 HALF_UP 舍入模式，规避浮点运算陷阱。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255000" y="40005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端到端精度一致性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计算逻辑、中间变量及数据库字段统一使用 DECIMAL(10,4) 类型，确保全流程无精度损失。</a:t>
            </a:r>
            <a:endParaRPr lang="en-US" sz="110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5334000"/>
            <a:ext cx="5629275" cy="135064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715" y="5191125"/>
            <a:ext cx="5836285" cy="16668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难点攻克：级联删除校验的完整性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13589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1270000" y="15875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</a:t>
            </a:r>
            <a:r>
              <a:rPr lang="zh-CN" altLang="en-US" sz="18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描述</a:t>
            </a:r>
            <a:endParaRPr lang="zh-CN" altLang="en-US" sz="1800" b="1" i="0" u="none" strike="noStrike">
              <a:solidFill>
                <a:srgbClr val="4FD1C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4"/>
            </p:custDataLst>
          </p:nvPr>
        </p:nvSpPr>
        <p:spPr>
          <a:xfrm>
            <a:off x="1016000" y="25019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基础数据（学院、专业等）的删除操作，涉及复杂的上下游关联表引用。</a:t>
            </a:r>
            <a:endParaRPr lang="en-US" sz="14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引用关系复杂，涉及多张表</a:t>
            </a:r>
            <a:endParaRPr lang="zh-CN" altLang="en-US" sz="14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需要同时考虑直接引用和间接引用</a:t>
            </a:r>
            <a:endParaRPr lang="zh-CN" altLang="en-US" sz="14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删除操作需要保证原子性</a:t>
            </a:r>
            <a:endParaRPr lang="zh-CN" altLang="en-US" sz="14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5"/>
            </p:custDataLst>
          </p:nvPr>
        </p:nvSpPr>
        <p:spPr>
          <a:xfrm>
            <a:off x="8763000" y="13589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8763000" y="1498600"/>
            <a:ext cx="309753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方案：</a:t>
            </a:r>
            <a:r>
              <a:rPr lang="zh-CN" altLang="en-US" sz="18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设计完整的</a:t>
            </a:r>
            <a:r>
              <a:rPr lang="zh-CN" altLang="en-US" sz="18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校验框架</a:t>
            </a:r>
            <a:endParaRPr lang="zh-CN" altLang="en-US" sz="1800" b="1" i="0" u="none" strike="noStrike">
              <a:solidFill>
                <a:srgbClr val="4FD1C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7"/>
            </p:custDataLst>
          </p:nvPr>
        </p:nvSpPr>
        <p:spPr>
          <a:xfrm>
            <a:off x="9017000" y="20828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框架设计：</a:t>
            </a: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模块化处理直接、间接及业务数据引用，统一校验入口。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逻辑落地：</a:t>
            </a: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为各实体编写专属校验逻辑，遍历所有下游关联表。</a:t>
            </a:r>
            <a:endParaRPr lang="en-US" sz="13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底层支撑：</a:t>
            </a: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优化Mapper层查询方法，高效精准判断引用关系存在性。</a:t>
            </a:r>
            <a:endParaRPr lang="en-US" sz="13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200" y="4406900"/>
            <a:ext cx="4570095" cy="230378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50790" y="3136900"/>
            <a:ext cx="3712210" cy="3721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难点攻克：学生绑定/解绑的恢复机制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55600" y="1778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117600" y="2057400"/>
            <a:ext cx="2413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</a:t>
            </a:r>
            <a:r>
              <a:rPr lang="zh-CN" alt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描述</a:t>
            </a:r>
            <a:endParaRPr lang="zh-CN" altLang="en-US" sz="20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21335" y="2718435"/>
            <a:ext cx="3009265" cy="23615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教学班学生解绑后重新绑定时，若直接插入新记录，会导致数据冗余且割裂历史关联。业务要求必须优先恢复软删除的旧数据，而非简单创建新条目</a:t>
            </a:r>
            <a:endParaRPr lang="en-US" sz="1600"/>
          </a:p>
        </p:txBody>
      </p:sp>
      <p:sp>
        <p:nvSpPr>
          <p:cNvPr id="10" name="AutoShape 10"/>
          <p:cNvSpPr/>
          <p:nvPr/>
        </p:nvSpPr>
        <p:spPr>
          <a:xfrm>
            <a:off x="3975100" y="1778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737100" y="2057400"/>
            <a:ext cx="2413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智能恢复解决方案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229100" y="2921000"/>
            <a:ext cx="2921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智能绑定逻辑：</a:t>
            </a: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核心方法`bindOrRestoreStudent`优先查询软删除记录，存在则恢复，不存在则新建。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底层支持与并发：</a:t>
            </a: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扩展Mapper层查询与恢复接口，并引入数据库事务机制，确保绑定操作的原子性，防止并发冲突。</a:t>
            </a:r>
            <a:endParaRPr lang="en-US" sz="13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7100" y="1448435"/>
            <a:ext cx="5043805" cy="42144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总结分享：开发经验总结（一）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762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BigDecimal 使用规范与精度控制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167">
            <a:off x="1016008" y="2470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016000" y="26670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涉及金额、成绩等高精度计算场景，严禁直接使用 double 类型，必须统一精度（Scale）与舍入模式（RoundingMode），避免浮点运算误差累积。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810000"/>
            <a:ext cx="4762500" cy="1905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286500" y="1651000"/>
            <a:ext cx="5270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540500" y="1905000"/>
            <a:ext cx="4762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核心数据完整性校验框架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167">
            <a:off x="6540508" y="2470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540500" y="26670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删除操作前必须进行下游引用校验，将校验逻辑模块化、可复用化，确保错误提示清晰具体，提升用户排查问题的效率。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540500" y="3810000"/>
            <a:ext cx="4762500" cy="1905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945255"/>
            <a:ext cx="5269865" cy="164338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720" y="3733800"/>
            <a:ext cx="4653280" cy="20770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总结分享：开发经验总结（二）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复杂计算的设计原则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046">
            <a:off x="952508" y="2406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FD1C5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952500" y="2667000"/>
            <a:ext cx="4889500" cy="30092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坚持分层设计理念，确保每层职责单一，降低系统耦合度；采用批量操作大幅减少数据库交互频次，提升性能；严格利用事务管理机制，保障核心数据在复杂计算流程中的一致性与完整性。</a:t>
            </a:r>
            <a:endParaRPr lang="en-US" sz="240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2825" y="2400300"/>
            <a:ext cx="6099175" cy="35236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    </a:t>
            </a:r>
            <a:r>
              <a:rPr lang="en-US" sz="3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小组开源协作详细过程分享</a:t>
            </a:r>
            <a:endParaRPr lang="en-US" sz="3200"/>
          </a:p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8" name="AutoShape 4"/>
          <p:cNvSpPr/>
          <p:nvPr/>
        </p:nvSpPr>
        <p:spPr>
          <a:xfrm>
            <a:off x="635000" y="1524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>
                <a:solidFill>
                  <a:schemeClr val="bg1"/>
                </a:solidFill>
              </a:rPr>
              <a:t>在</a:t>
            </a:r>
            <a:r>
              <a:rPr lang="en-US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毕业成果管理系统的开发过程中，我们发现一个重要问题：删除学院、专业、课程或学年数据时，系统没有校验下游数据是否正在使用这些数据，可能导致数据一致性问题</a:t>
            </a:r>
            <a:endParaRPr lang="en-US" altLang="en-US">
              <a:solidFill>
                <a:schemeClr val="bg1">
                  <a:alpha val="9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2413000"/>
            <a:ext cx="4589145" cy="42545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3565" y="2896235"/>
            <a:ext cx="5823585" cy="31426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   </a:t>
            </a:r>
            <a:r>
              <a:rPr lang="en-US" sz="3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开发与提交 (Branch &amp; PR)</a:t>
            </a:r>
            <a:endParaRPr lang="en-US" sz="3200"/>
          </a:p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8" name="AutoShape 4"/>
          <p:cNvSpPr/>
          <p:nvPr/>
        </p:nvSpPr>
        <p:spPr>
          <a:xfrm>
            <a:off x="635000" y="137795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altLang="en-US">
              <a:solidFill>
                <a:schemeClr val="bg1">
                  <a:alpha val="9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475" y="1080135"/>
            <a:ext cx="4438650" cy="21488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4150" y="1080135"/>
            <a:ext cx="4171950" cy="21780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475" y="3376295"/>
            <a:ext cx="6075680" cy="14605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475" y="4984115"/>
            <a:ext cx="6212205" cy="16770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   </a:t>
            </a:r>
            <a:r>
              <a:rPr lang="en-US" sz="3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开发与提交 (Branch &amp; PR)</a:t>
            </a:r>
            <a:endParaRPr lang="en-US" sz="3200"/>
          </a:p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8" name="AutoShape 4"/>
          <p:cNvSpPr/>
          <p:nvPr/>
        </p:nvSpPr>
        <p:spPr>
          <a:xfrm>
            <a:off x="635000" y="137795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altLang="en-US">
              <a:solidFill>
                <a:schemeClr val="bg1">
                  <a:alpha val="9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133475"/>
            <a:ext cx="4884420" cy="447103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480" y="1079500"/>
            <a:ext cx="4986020" cy="45250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   </a:t>
            </a:r>
            <a:r>
              <a:rPr lang="en-US" sz="3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审查并合并 (Code Review)</a:t>
            </a:r>
            <a:endParaRPr lang="en-US" sz="3200"/>
          </a:p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8" name="AutoShape 4"/>
          <p:cNvSpPr/>
          <p:nvPr/>
        </p:nvSpPr>
        <p:spPr>
          <a:xfrm>
            <a:off x="635000" y="137795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altLang="en-US">
              <a:solidFill>
                <a:schemeClr val="bg1">
                  <a:alpha val="9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50" y="1377950"/>
            <a:ext cx="3430270" cy="37604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245" y="1317625"/>
            <a:ext cx="3743960" cy="382079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6280" y="1221740"/>
            <a:ext cx="3543300" cy="413321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    ai</a:t>
            </a:r>
            <a:r>
              <a:rPr lang="zh-CN" alt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</a:t>
            </a:r>
            <a:r>
              <a:rPr lang="zh-CN" altLang="en-US" sz="3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分享</a:t>
            </a:r>
            <a:r>
              <a:rPr lang="en-US" altLang="zh-CN" sz="3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-MCP</a:t>
            </a:r>
            <a:r>
              <a:rPr lang="zh-CN" altLang="en-US" sz="3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服务类</a:t>
            </a:r>
            <a:endParaRPr lang="en-US" sz="3200"/>
          </a:p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8" name="AutoShape 4"/>
          <p:cNvSpPr/>
          <p:nvPr/>
        </p:nvSpPr>
        <p:spPr>
          <a:xfrm>
            <a:off x="590550" y="1079500"/>
            <a:ext cx="1066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altLang="zh-CN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</a:t>
            </a:r>
            <a:r>
              <a:rPr lang="zh-CN" altLang="en-US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的全称是 </a:t>
            </a:r>
            <a:r>
              <a:rPr lang="en-US" altLang="zh-CN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Model Context Protocol </a:t>
            </a:r>
            <a:r>
              <a:rPr lang="zh-CN" altLang="en-US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模型上下⽂协议。简单来说，就是让 </a:t>
            </a:r>
            <a:r>
              <a:rPr lang="en-US" altLang="zh-CN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AI ⼤</a:t>
            </a:r>
            <a:r>
              <a:rPr lang="zh-CN" altLang="en-US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模型能够连接外部⼯具</a:t>
            </a:r>
            <a:endParaRPr lang="zh-CN" altLang="en-US">
              <a:solidFill>
                <a:schemeClr val="bg1">
                  <a:alpha val="9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和数据源的⼀个开放标准。</a:t>
            </a:r>
            <a:endParaRPr lang="zh-CN" altLang="en-US">
              <a:solidFill>
                <a:schemeClr val="bg1">
                  <a:alpha val="9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打个⽐⽅，</a:t>
            </a:r>
            <a:r>
              <a:rPr lang="en-US" altLang="zh-CN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</a:t>
            </a:r>
            <a:r>
              <a:rPr lang="zh-CN" altLang="en-US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就像是 </a:t>
            </a:r>
            <a:r>
              <a:rPr lang="en-US" altLang="zh-CN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AI </a:t>
            </a:r>
            <a:r>
              <a:rPr lang="zh-CN" altLang="en-US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的 </a:t>
            </a:r>
            <a:r>
              <a:rPr lang="en-US" altLang="zh-CN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USB-C </a:t>
            </a:r>
            <a:r>
              <a:rPr lang="zh-CN" altLang="en-US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接⼝，原本 </a:t>
            </a:r>
            <a:r>
              <a:rPr lang="en-US" altLang="zh-CN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AI </a:t>
            </a:r>
            <a:r>
              <a:rPr lang="zh-CN" altLang="en-US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只能根据训练数据来回答问题、⽣成代码，但有了这</a:t>
            </a:r>
            <a:endParaRPr lang="zh-CN" altLang="en-US">
              <a:solidFill>
                <a:schemeClr val="bg1">
                  <a:alpha val="9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个统⼀接⼝，它就能连接各种外部⼯具，⽐如打开浏览器看⽹站、搜索并抓取⽹⻚内容、部署项⽬到云端、</a:t>
            </a:r>
            <a:endParaRPr lang="zh-CN" altLang="en-US">
              <a:solidFill>
                <a:schemeClr val="bg1">
                  <a:alpha val="9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访问数据库等等，能⼒⼀下⼦就丰富起来了。</a:t>
            </a:r>
            <a:endParaRPr lang="zh-CN" altLang="en-US">
              <a:solidFill>
                <a:schemeClr val="bg1">
                  <a:alpha val="9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022600"/>
            <a:ext cx="3449320" cy="36195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310" y="3037840"/>
            <a:ext cx="5401945" cy="36042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/>
              <a:t> </a:t>
            </a:r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    ai</a:t>
            </a:r>
            <a:r>
              <a:rPr lang="zh-CN" alt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</a:t>
            </a:r>
            <a:r>
              <a:rPr lang="zh-CN" altLang="en-US" sz="3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分享</a:t>
            </a:r>
            <a:r>
              <a:rPr lang="en-US" altLang="zh-CN" sz="3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-MCP</a:t>
            </a:r>
            <a:r>
              <a:rPr lang="zh-CN" altLang="en-US" sz="3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服务类</a:t>
            </a:r>
            <a:endParaRPr lang="en-US" sz="3200"/>
          </a:p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8" name="AutoShape 4"/>
          <p:cNvSpPr/>
          <p:nvPr/>
        </p:nvSpPr>
        <p:spPr>
          <a:xfrm>
            <a:off x="590550" y="1079500"/>
            <a:ext cx="1066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altLang="zh-CN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</a:t>
            </a:r>
            <a:r>
              <a:rPr lang="zh-CN" altLang="en-US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的全称是 </a:t>
            </a:r>
            <a:r>
              <a:rPr lang="en-US" altLang="zh-CN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Model Context Protocol </a:t>
            </a:r>
            <a:r>
              <a:rPr lang="zh-CN" altLang="en-US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模型上下⽂协议。简单来说，就是让 </a:t>
            </a:r>
            <a:r>
              <a:rPr lang="en-US" altLang="zh-CN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AI ⼤</a:t>
            </a:r>
            <a:r>
              <a:rPr lang="zh-CN" altLang="en-US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模型能够连接外部⼯具</a:t>
            </a:r>
            <a:endParaRPr lang="zh-CN" altLang="en-US">
              <a:solidFill>
                <a:schemeClr val="bg1">
                  <a:alpha val="9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和数据源的⼀个开放标准。</a:t>
            </a:r>
            <a:endParaRPr lang="zh-CN" altLang="en-US">
              <a:solidFill>
                <a:schemeClr val="bg1">
                  <a:alpha val="9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打个⽐⽅，</a:t>
            </a:r>
            <a:r>
              <a:rPr lang="en-US" altLang="zh-CN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</a:t>
            </a:r>
            <a:r>
              <a:rPr lang="zh-CN" altLang="en-US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就像是 </a:t>
            </a:r>
            <a:r>
              <a:rPr lang="en-US" altLang="zh-CN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AI </a:t>
            </a:r>
            <a:r>
              <a:rPr lang="zh-CN" altLang="en-US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的 </a:t>
            </a:r>
            <a:r>
              <a:rPr lang="en-US" altLang="zh-CN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USB-C </a:t>
            </a:r>
            <a:r>
              <a:rPr lang="zh-CN" altLang="en-US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接⼝，原本 </a:t>
            </a:r>
            <a:r>
              <a:rPr lang="en-US" altLang="zh-CN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AI </a:t>
            </a:r>
            <a:r>
              <a:rPr lang="zh-CN" altLang="en-US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只能根据训练数据来回答问题、⽣成代码，但有了这</a:t>
            </a:r>
            <a:endParaRPr lang="zh-CN" altLang="en-US">
              <a:solidFill>
                <a:schemeClr val="bg1">
                  <a:alpha val="9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个统⼀接⼝，它就能连接各种外部⼯具，⽐如打开浏览器看⽹站、搜索并抓取⽹⻚内容、部署项⽬到云端、</a:t>
            </a:r>
            <a:endParaRPr lang="zh-CN" altLang="en-US">
              <a:solidFill>
                <a:schemeClr val="bg1">
                  <a:alpha val="9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访问数据库等等，能⼒⼀下⼦就丰富起来了。</a:t>
            </a:r>
            <a:endParaRPr lang="zh-CN" altLang="en-US">
              <a:solidFill>
                <a:schemeClr val="bg1">
                  <a:alpha val="9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90" y="3004820"/>
            <a:ext cx="3423920" cy="35928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3004820"/>
            <a:ext cx="4719955" cy="358267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    ai</a:t>
            </a:r>
            <a:r>
              <a:rPr lang="zh-CN" alt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</a:t>
            </a:r>
            <a:r>
              <a:rPr lang="zh-CN" altLang="en-US" sz="3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分享</a:t>
            </a:r>
            <a:r>
              <a:rPr lang="en-US" altLang="zh-CN" sz="3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-MCP</a:t>
            </a:r>
            <a:r>
              <a:rPr lang="zh-CN" altLang="en-US" sz="3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服务类</a:t>
            </a:r>
            <a:endParaRPr lang="en-US" sz="3200"/>
          </a:p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079500"/>
            <a:ext cx="3423920" cy="35928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945" y="2559050"/>
            <a:ext cx="4770755" cy="241998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0945" y="158750"/>
            <a:ext cx="4592955" cy="228790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275" y="5091430"/>
            <a:ext cx="4392930" cy="170053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    ai</a:t>
            </a:r>
            <a:r>
              <a:rPr lang="zh-CN" alt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</a:t>
            </a:r>
            <a:r>
              <a:rPr lang="zh-CN" altLang="en-US" sz="3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分享</a:t>
            </a:r>
            <a:r>
              <a:rPr lang="en-US" altLang="zh-CN" sz="3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-MCP</a:t>
            </a:r>
            <a:r>
              <a:rPr lang="zh-CN" altLang="en-US" sz="3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服务类和</a:t>
            </a:r>
            <a:r>
              <a:rPr lang="en-US" altLang="zh-CN" sz="3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skills</a:t>
            </a:r>
            <a:endParaRPr lang="en-US" sz="3200"/>
          </a:p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8" name="AutoShape 4"/>
          <p:cNvSpPr/>
          <p:nvPr/>
        </p:nvSpPr>
        <p:spPr>
          <a:xfrm>
            <a:off x="590550" y="1079500"/>
            <a:ext cx="1066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zh-CN" altLang="en-US">
              <a:solidFill>
                <a:schemeClr val="bg1">
                  <a:alpha val="9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950" y="1699260"/>
            <a:ext cx="6578600" cy="439102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    ai</a:t>
            </a:r>
            <a:r>
              <a:rPr lang="zh-CN" alt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</a:t>
            </a:r>
            <a:r>
              <a:rPr lang="zh-CN" altLang="en-US" sz="3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分享</a:t>
            </a:r>
            <a:r>
              <a:rPr lang="en-US" altLang="zh-CN" sz="3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-A</a:t>
            </a:r>
            <a:r>
              <a:rPr lang="en-US" altLang="zh-CN" sz="3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gent skills</a:t>
            </a:r>
            <a:endParaRPr lang="en-US" sz="3200"/>
          </a:p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8" name="AutoShape 4"/>
          <p:cNvSpPr/>
          <p:nvPr/>
        </p:nvSpPr>
        <p:spPr>
          <a:xfrm>
            <a:off x="590550" y="1079500"/>
            <a:ext cx="1066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zh-CN" altLang="en-US">
              <a:solidFill>
                <a:schemeClr val="bg1">
                  <a:alpha val="9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250315"/>
            <a:ext cx="9900285" cy="15373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altLang="zh-CN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Agent Skills </a:t>
            </a:r>
            <a:r>
              <a:rPr lang="zh-CN" altLang="en-US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是给 </a:t>
            </a:r>
            <a:r>
              <a:rPr lang="en-US" altLang="zh-CN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AI </a:t>
            </a:r>
            <a:r>
              <a:rPr lang="zh-CN" altLang="en-US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装备的技能包，让 </a:t>
            </a:r>
            <a:r>
              <a:rPr lang="en-US" altLang="zh-CN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AI </a:t>
            </a:r>
            <a:r>
              <a:rPr lang="zh-CN" altLang="en-US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在特定任务上表现得更专业。和 </a:t>
            </a:r>
            <a:r>
              <a:rPr lang="en-US" altLang="zh-CN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⼀</a:t>
            </a:r>
            <a:r>
              <a:rPr lang="zh-CN" altLang="en-US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样，</a:t>
            </a:r>
            <a:r>
              <a:rPr lang="en-US" altLang="zh-CN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Agent Skills </a:t>
            </a:r>
            <a:r>
              <a:rPr lang="zh-CN" altLang="en-US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现在</a:t>
            </a:r>
            <a:endParaRPr lang="zh-CN" altLang="en-US">
              <a:solidFill>
                <a:schemeClr val="bg1">
                  <a:alpha val="9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也是 </a:t>
            </a:r>
            <a:r>
              <a:rPr lang="en-US" altLang="zh-CN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AI </a:t>
            </a:r>
            <a:r>
              <a:rPr lang="zh-CN" altLang="en-US">
                <a:solidFill>
                  <a:schemeClr val="bg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编程⽣态中不可或缺的⼀部分，⽽且它是跨⼯具通⽤的开放标准，不绑定特定的编辑器。</a:t>
            </a:r>
            <a:endParaRPr lang="zh-CN" altLang="en-US">
              <a:solidFill>
                <a:schemeClr val="bg1">
                  <a:alpha val="9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50" y="2642235"/>
            <a:ext cx="5880100" cy="38093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465" y="2626360"/>
            <a:ext cx="5561965" cy="37617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080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    ai</a:t>
            </a:r>
            <a:r>
              <a:rPr lang="zh-CN" alt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</a:t>
            </a:r>
            <a:r>
              <a:rPr lang="zh-CN" altLang="en-US" sz="3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分享</a:t>
            </a:r>
            <a:r>
              <a:rPr lang="en-US" altLang="zh-CN" sz="3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-A</a:t>
            </a:r>
            <a:r>
              <a:rPr lang="en-US" altLang="zh-CN" sz="32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gent skills</a:t>
            </a:r>
            <a:endParaRPr lang="en-US" sz="3200"/>
          </a:p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8" name="AutoShape 4"/>
          <p:cNvSpPr/>
          <p:nvPr/>
        </p:nvSpPr>
        <p:spPr>
          <a:xfrm>
            <a:off x="590550" y="1079500"/>
            <a:ext cx="1066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zh-CN" altLang="en-US">
              <a:solidFill>
                <a:schemeClr val="bg1">
                  <a:alpha val="9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0230" y="2108835"/>
            <a:ext cx="4874260" cy="33959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" y="2108835"/>
            <a:ext cx="6094730" cy="334391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5,&quot;left&quot;:60,&quot;top&quot;:160,&quot;width&quot;:860}"/>
</p:tagLst>
</file>

<file path=ppt/tags/tag2.xml><?xml version="1.0" encoding="utf-8"?>
<p:tagLst xmlns:p="http://schemas.openxmlformats.org/presentationml/2006/main">
  <p:tag name="KSO_WM_DIAGRAM_VIRTUALLY_FRAME" val="{&quot;height&quot;:315,&quot;left&quot;:60,&quot;top&quot;:160,&quot;width&quot;:860}"/>
</p:tagLst>
</file>

<file path=ppt/tags/tag3.xml><?xml version="1.0" encoding="utf-8"?>
<p:tagLst xmlns:p="http://schemas.openxmlformats.org/presentationml/2006/main">
  <p:tag name="KSO_WM_DIAGRAM_VIRTUALLY_FRAME" val="{&quot;height&quot;:315,&quot;left&quot;:60,&quot;top&quot;:160,&quot;width&quot;:860}"/>
</p:tagLst>
</file>

<file path=ppt/tags/tag4.xml><?xml version="1.0" encoding="utf-8"?>
<p:tagLst xmlns:p="http://schemas.openxmlformats.org/presentationml/2006/main">
  <p:tag name="KSO_WM_DIAGRAM_VIRTUALLY_FRAME" val="{&quot;height&quot;:315,&quot;left&quot;:60,&quot;top&quot;:160,&quot;width&quot;:860}"/>
</p:tagLst>
</file>

<file path=ppt/tags/tag5.xml><?xml version="1.0" encoding="utf-8"?>
<p:tagLst xmlns:p="http://schemas.openxmlformats.org/presentationml/2006/main">
  <p:tag name="KSO_WM_DIAGRAM_VIRTUALLY_FRAME" val="{&quot;height&quot;:315,&quot;left&quot;:60,&quot;top&quot;:160,&quot;width&quot;:860}"/>
</p:tagLst>
</file>

<file path=ppt/tags/tag6.xml><?xml version="1.0" encoding="utf-8"?>
<p:tagLst xmlns:p="http://schemas.openxmlformats.org/presentationml/2006/main">
  <p:tag name="KSO_WM_DIAGRAM_VIRTUALLY_FRAME" val="{&quot;height&quot;:315,&quot;left&quot;:60,&quot;top&quot;:160,&quot;width&quot;:860}"/>
</p:tagLst>
</file>

<file path=ppt/tags/tag7.xml><?xml version="1.0" encoding="utf-8"?>
<p:tagLst xmlns:p="http://schemas.openxmlformats.org/presentationml/2006/main">
  <p:tag name="KSO_WM_DIAGRAM_VIRTUALLY_FRAME" val="{&quot;height&quot;:315,&quot;left&quot;:60,&quot;top&quot;:160,&quot;width&quot;:860}"/>
</p:tagLst>
</file>

<file path=ppt/tags/tag8.xml><?xml version="1.0" encoding="utf-8"?>
<p:tagLst xmlns:p="http://schemas.openxmlformats.org/presentationml/2006/main">
  <p:tag name="KSO_WM_DIAGRAM_VIRTUALLY_FRAME" val="{&quot;height&quot;:315,&quot;left&quot;:60,&quot;top&quot;:160,&quot;width&quot;:860}"/>
</p:tagLst>
</file>

<file path=ppt/tags/tag9.xml><?xml version="1.0" encoding="utf-8"?>
<p:tagLst xmlns:p="http://schemas.openxmlformats.org/presentationml/2006/main">
  <p:tag name="KSO_WM_DIAGRAM_VIRTUALLY_FRAME" val="{&quot;height&quot;:315,&quot;left&quot;:60,&quot;top&quot;:160,&quot;width&quot;:860}"/>
</p:tagLst>
</file>

<file path=ppt/tags/tag10.xml><?xml version="1.0" encoding="utf-8"?>
<p:tagLst xmlns:p="http://schemas.openxmlformats.org/presentationml/2006/main">
  <p:tag name="KSO_WM_DIAGRAM_VIRTUALLY_FRAME" val="{&quot;height&quot;:315,&quot;left&quot;:60,&quot;top&quot;:160,&quot;width&quot;:860}"/>
</p:tagLst>
</file>

<file path=ppt/tags/tag11.xml><?xml version="1.0" encoding="utf-8"?>
<p:tagLst xmlns:p="http://schemas.openxmlformats.org/presentationml/2006/main">
  <p:tag name="KSO_WM_DIAGRAM_VIRTUALLY_FRAME" val="{&quot;height&quot;:315,&quot;left&quot;:60,&quot;top&quot;:160,&quot;width&quot;:860}"/>
</p:tagLst>
</file>

<file path=ppt/tags/tag12.xml><?xml version="1.0" encoding="utf-8"?>
<p:tagLst xmlns:p="http://schemas.openxmlformats.org/presentationml/2006/main">
  <p:tag name="KSO_WM_DIAGRAM_VIRTUALLY_FRAME" val="{&quot;height&quot;:315,&quot;left&quot;:60,&quot;top&quot;:160,&quot;width&quot;:860}"/>
</p:tagLst>
</file>

<file path=ppt/tags/tag13.xml><?xml version="1.0" encoding="utf-8"?>
<p:tagLst xmlns:p="http://schemas.openxmlformats.org/presentationml/2006/main">
  <p:tag name="KSO_WM_DIAGRAM_VIRTUALLY_FRAME" val="{&quot;height&quot;:315,&quot;left&quot;:60,&quot;top&quot;:160,&quot;width&quot;:860}"/>
</p:tagLst>
</file>

<file path=ppt/tags/tag14.xml><?xml version="1.0" encoding="utf-8"?>
<p:tagLst xmlns:p="http://schemas.openxmlformats.org/presentationml/2006/main">
  <p:tag name="KSO_WM_DIAGRAM_VIRTUALLY_FRAME" val="{&quot;height&quot;:315,&quot;left&quot;:60,&quot;top&quot;:160,&quot;width&quot;:860}"/>
</p:tagLst>
</file>

<file path=ppt/tags/tag15.xml><?xml version="1.0" encoding="utf-8"?>
<p:tagLst xmlns:p="http://schemas.openxmlformats.org/presentationml/2006/main">
  <p:tag name="KSO_WM_DIAGRAM_VIRTUALLY_FRAME" val="{&quot;height&quot;:315,&quot;left&quot;:60,&quot;top&quot;:160,&quot;width&quot;:860}"/>
</p:tagLst>
</file>

<file path=ppt/tags/tag16.xml><?xml version="1.0" encoding="utf-8"?>
<p:tagLst xmlns:p="http://schemas.openxmlformats.org/presentationml/2006/main">
  <p:tag name="KSO_WM_DIAGRAM_VIRTUALLY_FRAME" val="{&quot;height&quot;:315,&quot;left&quot;:60,&quot;top&quot;:160,&quot;width&quot;:860}"/>
</p:tagLst>
</file>

<file path=ppt/tags/tag17.xml><?xml version="1.0" encoding="utf-8"?>
<p:tagLst xmlns:p="http://schemas.openxmlformats.org/presentationml/2006/main">
  <p:tag name="KSO_WM_DIAGRAM_VIRTUALLY_FRAME" val="{&quot;height&quot;:315,&quot;left&quot;:60,&quot;top&quot;:160,&quot;width&quot;:860}"/>
</p:tagLst>
</file>

<file path=ppt/tags/tag18.xml><?xml version="1.0" encoding="utf-8"?>
<p:tagLst xmlns:p="http://schemas.openxmlformats.org/presentationml/2006/main">
  <p:tag name="KSO_WM_DIAGRAM_VIRTUALLY_FRAME" val="{&quot;height&quot;:315,&quot;left&quot;:60,&quot;top&quot;:160,&quot;width&quot;:860}"/>
</p:tagLst>
</file>

<file path=ppt/tags/tag19.xml><?xml version="1.0" encoding="utf-8"?>
<p:tagLst xmlns:p="http://schemas.openxmlformats.org/presentationml/2006/main">
  <p:tag name="KSO_WM_DIAGRAM_VIRTUALLY_FRAME" val="{&quot;height&quot;:315,&quot;left&quot;:60,&quot;top&quot;:160,&quot;width&quot;:860}"/>
</p:tagLst>
</file>

<file path=ppt/tags/tag20.xml><?xml version="1.0" encoding="utf-8"?>
<p:tagLst xmlns:p="http://schemas.openxmlformats.org/presentationml/2006/main">
  <p:tag name="KSO_WM_DIAGRAM_VIRTUALLY_FRAME" val="{&quot;height&quot;:315,&quot;left&quot;:60,&quot;top&quot;:160,&quot;width&quot;:860}"/>
</p:tagLst>
</file>

<file path=ppt/tags/tag21.xml><?xml version="1.0" encoding="utf-8"?>
<p:tagLst xmlns:p="http://schemas.openxmlformats.org/presentationml/2006/main">
  <p:tag name="KSO_WM_DIAGRAM_VIRTUALLY_FRAME" val="{&quot;height&quot;:290,&quot;left&quot;:60,&quot;top&quot;:160,&quot;width&quot;:839}"/>
</p:tagLst>
</file>

<file path=ppt/tags/tag22.xml><?xml version="1.0" encoding="utf-8"?>
<p:tagLst xmlns:p="http://schemas.openxmlformats.org/presentationml/2006/main">
  <p:tag name="KSO_WM_DIAGRAM_VIRTUALLY_FRAME" val="{&quot;height&quot;:290,&quot;left&quot;:60,&quot;top&quot;:160,&quot;width&quot;:839}"/>
</p:tagLst>
</file>

<file path=ppt/tags/tag23.xml><?xml version="1.0" encoding="utf-8"?>
<p:tagLst xmlns:p="http://schemas.openxmlformats.org/presentationml/2006/main">
  <p:tag name="KSO_WM_DIAGRAM_VIRTUALLY_FRAME" val="{&quot;height&quot;:290,&quot;left&quot;:60,&quot;top&quot;:160,&quot;width&quot;:839}"/>
</p:tagLst>
</file>

<file path=ppt/tags/tag24.xml><?xml version="1.0" encoding="utf-8"?>
<p:tagLst xmlns:p="http://schemas.openxmlformats.org/presentationml/2006/main">
  <p:tag name="KSO_WM_DIAGRAM_VIRTUALLY_FRAME" val="{&quot;height&quot;:290,&quot;left&quot;:60,&quot;top&quot;:160,&quot;width&quot;:839}"/>
</p:tagLst>
</file>

<file path=ppt/tags/tag25.xml><?xml version="1.0" encoding="utf-8"?>
<p:tagLst xmlns:p="http://schemas.openxmlformats.org/presentationml/2006/main">
  <p:tag name="KSO_WM_DIAGRAM_VIRTUALLY_FRAME" val="{&quot;height&quot;:290,&quot;left&quot;:60,&quot;top&quot;:160,&quot;width&quot;:839}"/>
</p:tagLst>
</file>

<file path=ppt/tags/tag26.xml><?xml version="1.0" encoding="utf-8"?>
<p:tagLst xmlns:p="http://schemas.openxmlformats.org/presentationml/2006/main">
  <p:tag name="KSO_WM_DIAGRAM_VIRTUALLY_FRAME" val="{&quot;height&quot;:290,&quot;left&quot;:60,&quot;top&quot;:160,&quot;width&quot;:839}"/>
</p:tagLst>
</file>

<file path=ppt/tags/tag27.xml><?xml version="1.0" encoding="utf-8"?>
<p:tagLst xmlns:p="http://schemas.openxmlformats.org/presentationml/2006/main">
  <p:tag name="KSO_WM_DIAGRAM_VIRTUALLY_FRAME" val="{&quot;height&quot;:290,&quot;left&quot;:60,&quot;top&quot;:160,&quot;width&quot;:839}"/>
</p:tagLst>
</file>

<file path=ppt/tags/tag28.xml><?xml version="1.0" encoding="utf-8"?>
<p:tagLst xmlns:p="http://schemas.openxmlformats.org/presentationml/2006/main">
  <p:tag name="KSO_WM_DIAGRAM_VIRTUALLY_FRAME" val="{&quot;height&quot;:290,&quot;left&quot;:60,&quot;top&quot;:160,&quot;width&quot;:839}"/>
</p:tagLst>
</file>

<file path=ppt/tags/tag29.xml><?xml version="1.0" encoding="utf-8"?>
<p:tagLst xmlns:p="http://schemas.openxmlformats.org/presentationml/2006/main">
  <p:tag name="KSO_WM_DIAGRAM_VIRTUALLY_FRAME" val="{&quot;height&quot;:290,&quot;left&quot;:60,&quot;top&quot;:160,&quot;width&quot;:839}"/>
</p:tagLst>
</file>

<file path=ppt/tags/tag30.xml><?xml version="1.0" encoding="utf-8"?>
<p:tagLst xmlns:p="http://schemas.openxmlformats.org/presentationml/2006/main">
  <p:tag name="KSO_WM_DIAGRAM_VIRTUALLY_FRAME" val="{&quot;height&quot;:290,&quot;left&quot;:60,&quot;top&quot;:160,&quot;width&quot;:839}"/>
</p:tagLst>
</file>

<file path=ppt/tags/tag31.xml><?xml version="1.0" encoding="utf-8"?>
<p:tagLst xmlns:p="http://schemas.openxmlformats.org/presentationml/2006/main">
  <p:tag name="KSO_WM_DIAGRAM_VIRTUALLY_FRAME" val="{&quot;height&quot;:290,&quot;left&quot;:60,&quot;top&quot;:160,&quot;width&quot;:839}"/>
</p:tagLst>
</file>

<file path=ppt/tags/tag32.xml><?xml version="1.0" encoding="utf-8"?>
<p:tagLst xmlns:p="http://schemas.openxmlformats.org/presentationml/2006/main">
  <p:tag name="KSO_WM_DIAGRAM_VIRTUALLY_FRAME" val="{&quot;height&quot;:290,&quot;left&quot;:60,&quot;top&quot;:160,&quot;width&quot;:839}"/>
</p:tagLst>
</file>

<file path=ppt/tags/tag33.xml><?xml version="1.0" encoding="utf-8"?>
<p:tagLst xmlns:p="http://schemas.openxmlformats.org/presentationml/2006/main">
  <p:tag name="KSO_WM_DIAGRAM_VIRTUALLY_FRAME" val="{&quot;height&quot;:290,&quot;left&quot;:60,&quot;top&quot;:160,&quot;width&quot;:839}"/>
</p:tagLst>
</file>

<file path=ppt/tags/tag34.xml><?xml version="1.0" encoding="utf-8"?>
<p:tagLst xmlns:p="http://schemas.openxmlformats.org/presentationml/2006/main">
  <p:tag name="KSO_WM_DIAGRAM_VIRTUALLY_FRAME" val="{&quot;height&quot;:290,&quot;left&quot;:60,&quot;top&quot;:160,&quot;width&quot;:839}"/>
</p:tagLst>
</file>

<file path=ppt/tags/tag35.xml><?xml version="1.0" encoding="utf-8"?>
<p:tagLst xmlns:p="http://schemas.openxmlformats.org/presentationml/2006/main">
  <p:tag name="KSO_WM_DIAGRAM_VIRTUALLY_FRAME" val="{&quot;height&quot;:290,&quot;left&quot;:60,&quot;top&quot;:160,&quot;width&quot;:839}"/>
</p:tagLst>
</file>

<file path=ppt/tags/tag36.xml><?xml version="1.0" encoding="utf-8"?>
<p:tagLst xmlns:p="http://schemas.openxmlformats.org/presentationml/2006/main">
  <p:tag name="KSO_WM_DIAGRAM_VIRTUALLY_FRAME" val="{&quot;height&quot;:290,&quot;left&quot;:60,&quot;top&quot;:160,&quot;width&quot;:839}"/>
</p:tagLst>
</file>

<file path=ppt/tags/tag37.xml><?xml version="1.0" encoding="utf-8"?>
<p:tagLst xmlns:p="http://schemas.openxmlformats.org/presentationml/2006/main">
  <p:tag name="KSO_WM_DIAGRAM_VIRTUALLY_FRAME" val="{&quot;height&quot;:290,&quot;left&quot;:60,&quot;top&quot;:160,&quot;width&quot;:839}"/>
</p:tagLst>
</file>

<file path=ppt/tags/tag38.xml><?xml version="1.0" encoding="utf-8"?>
<p:tagLst xmlns:p="http://schemas.openxmlformats.org/presentationml/2006/main">
  <p:tag name="KSO_WM_DIAGRAM_VIRTUALLY_FRAME" val="{&quot;height&quot;:290,&quot;left&quot;:60,&quot;top&quot;:160,&quot;width&quot;:839}"/>
</p:tagLst>
</file>

<file path=ppt/tags/tag39.xml><?xml version="1.0" encoding="utf-8"?>
<p:tagLst xmlns:p="http://schemas.openxmlformats.org/presentationml/2006/main">
  <p:tag name="KSO_WM_DIAGRAM_VIRTUALLY_FRAME" val="{&quot;height&quot;:290,&quot;left&quot;:60,&quot;top&quot;:160,&quot;width&quot;:839}"/>
</p:tagLst>
</file>

<file path=ppt/tags/tag40.xml><?xml version="1.0" encoding="utf-8"?>
<p:tagLst xmlns:p="http://schemas.openxmlformats.org/presentationml/2006/main">
  <p:tag name="KSO_WM_DIAGRAM_VIRTUALLY_FRAME" val="{&quot;height&quot;:290,&quot;left&quot;:60,&quot;top&quot;:160,&quot;width&quot;:839}"/>
</p:tagLst>
</file>

<file path=ppt/tags/tag41.xml><?xml version="1.0" encoding="utf-8"?>
<p:tagLst xmlns:p="http://schemas.openxmlformats.org/presentationml/2006/main">
  <p:tag name="KSO_WM_DIAGRAM_VIRTUALLY_FRAME" val="{&quot;height&quot;:180,&quot;left&quot;:60,&quot;top&quot;:250,&quot;width&quot;:840}"/>
</p:tagLst>
</file>

<file path=ppt/tags/tag42.xml><?xml version="1.0" encoding="utf-8"?>
<p:tagLst xmlns:p="http://schemas.openxmlformats.org/presentationml/2006/main">
  <p:tag name="KSO_WM_DIAGRAM_VIRTUALLY_FRAME" val="{&quot;height&quot;:180,&quot;left&quot;:60,&quot;top&quot;:250,&quot;width&quot;:840}"/>
</p:tagLst>
</file>

<file path=ppt/tags/tag43.xml><?xml version="1.0" encoding="utf-8"?>
<p:tagLst xmlns:p="http://schemas.openxmlformats.org/presentationml/2006/main">
  <p:tag name="KSO_WM_DIAGRAM_VIRTUALLY_FRAME" val="{&quot;height&quot;:180,&quot;left&quot;:60,&quot;top&quot;:250,&quot;width&quot;:840}"/>
</p:tagLst>
</file>

<file path=ppt/tags/tag44.xml><?xml version="1.0" encoding="utf-8"?>
<p:tagLst xmlns:p="http://schemas.openxmlformats.org/presentationml/2006/main">
  <p:tag name="KSO_WM_DIAGRAM_VIRTUALLY_FRAME" val="{&quot;height&quot;:180,&quot;left&quot;:60,&quot;top&quot;:250,&quot;width&quot;:840}"/>
</p:tagLst>
</file>

<file path=ppt/tags/tag45.xml><?xml version="1.0" encoding="utf-8"?>
<p:tagLst xmlns:p="http://schemas.openxmlformats.org/presentationml/2006/main">
  <p:tag name="KSO_WM_DIAGRAM_VIRTUALLY_FRAME" val="{&quot;height&quot;:180,&quot;left&quot;:60,&quot;top&quot;:250,&quot;width&quot;:840}"/>
</p:tagLst>
</file>

<file path=ppt/tags/tag46.xml><?xml version="1.0" encoding="utf-8"?>
<p:tagLst xmlns:p="http://schemas.openxmlformats.org/presentationml/2006/main">
  <p:tag name="KSO_WM_DIAGRAM_VIRTUALLY_FRAME" val="{&quot;height&quot;:180,&quot;left&quot;:60,&quot;top&quot;:250,&quot;width&quot;:840}"/>
</p:tagLst>
</file>

<file path=ppt/tags/tag47.xml><?xml version="1.0" encoding="utf-8"?>
<p:tagLst xmlns:p="http://schemas.openxmlformats.org/presentationml/2006/main">
  <p:tag name="KSO_WM_DIAGRAM_VIRTUALLY_FRAME" val="{&quot;height&quot;:180,&quot;left&quot;:60,&quot;top&quot;:250,&quot;width&quot;:840}"/>
</p:tagLst>
</file>

<file path=ppt/tags/tag48.xml><?xml version="1.0" encoding="utf-8"?>
<p:tagLst xmlns:p="http://schemas.openxmlformats.org/presentationml/2006/main">
  <p:tag name="KSO_WM_DIAGRAM_VIRTUALLY_FRAME" val="{&quot;height&quot;:180,&quot;left&quot;:60,&quot;top&quot;:250,&quot;width&quot;:840}"/>
</p:tagLst>
</file>

<file path=ppt/tags/tag49.xml><?xml version="1.0" encoding="utf-8"?>
<p:tagLst xmlns:p="http://schemas.openxmlformats.org/presentationml/2006/main">
  <p:tag name="KSO_WM_DIAGRAM_VIRTUALLY_FRAME" val="{&quot;height&quot;:180,&quot;left&quot;:60,&quot;top&quot;:250,&quot;width&quot;:840}"/>
</p:tagLst>
</file>

<file path=ppt/tags/tag50.xml><?xml version="1.0" encoding="utf-8"?>
<p:tagLst xmlns:p="http://schemas.openxmlformats.org/presentationml/2006/main">
  <p:tag name="KSO_WM_DIAGRAM_VIRTUALLY_FRAME" val="{&quot;height&quot;:180,&quot;left&quot;:60,&quot;top&quot;:250,&quot;width&quot;:840}"/>
</p:tagLst>
</file>

<file path=ppt/tags/tag51.xml><?xml version="1.0" encoding="utf-8"?>
<p:tagLst xmlns:p="http://schemas.openxmlformats.org/presentationml/2006/main">
  <p:tag name="KSO_WM_DIAGRAM_VIRTUALLY_FRAME" val="{&quot;height&quot;:180,&quot;left&quot;:60,&quot;top&quot;:250,&quot;width&quot;:840}"/>
</p:tagLst>
</file>

<file path=ppt/tags/tag52.xml><?xml version="1.0" encoding="utf-8"?>
<p:tagLst xmlns:p="http://schemas.openxmlformats.org/presentationml/2006/main">
  <p:tag name="KSO_WM_DIAGRAM_VIRTUALLY_FRAME" val="{&quot;height&quot;:180,&quot;left&quot;:60,&quot;top&quot;:250,&quot;width&quot;:840}"/>
</p:tagLst>
</file>

<file path=ppt/tags/tag53.xml><?xml version="1.0" encoding="utf-8"?>
<p:tagLst xmlns:p="http://schemas.openxmlformats.org/presentationml/2006/main">
  <p:tag name="KSO_WM_DIAGRAM_VIRTUALLY_FRAME" val="{&quot;height&quot;:180,&quot;left&quot;:60,&quot;top&quot;:250,&quot;width&quot;:840}"/>
</p:tagLst>
</file>

<file path=ppt/tags/tag54.xml><?xml version="1.0" encoding="utf-8"?>
<p:tagLst xmlns:p="http://schemas.openxmlformats.org/presentationml/2006/main">
  <p:tag name="KSO_WM_DIAGRAM_VIRTUALLY_FRAME" val="{&quot;height&quot;:180,&quot;left&quot;:60,&quot;top&quot;:250,&quot;width&quot;:840}"/>
</p:tagLst>
</file>

<file path=ppt/tags/tag55.xml><?xml version="1.0" encoding="utf-8"?>
<p:tagLst xmlns:p="http://schemas.openxmlformats.org/presentationml/2006/main">
  <p:tag name="KSO_WM_DIAGRAM_VIRTUALLY_FRAME" val="{&quot;height&quot;:180,&quot;left&quot;:60,&quot;top&quot;:250,&quot;width&quot;:840}"/>
</p:tagLst>
</file>

<file path=ppt/tags/tag56.xml><?xml version="1.0" encoding="utf-8"?>
<p:tagLst xmlns:p="http://schemas.openxmlformats.org/presentationml/2006/main">
  <p:tag name="KSO_WM_DIAGRAM_VIRTUALLY_FRAME" val="{&quot;height&quot;:260,&quot;left&quot;:60,&quot;top&quot;:160,&quot;width&quot;:840}"/>
</p:tagLst>
</file>

<file path=ppt/tags/tag57.xml><?xml version="1.0" encoding="utf-8"?>
<p:tagLst xmlns:p="http://schemas.openxmlformats.org/presentationml/2006/main">
  <p:tag name="KSO_WM_DIAGRAM_VIRTUALLY_FRAME" val="{&quot;height&quot;:260,&quot;left&quot;:60,&quot;top&quot;:160,&quot;width&quot;:840}"/>
</p:tagLst>
</file>

<file path=ppt/tags/tag58.xml><?xml version="1.0" encoding="utf-8"?>
<p:tagLst xmlns:p="http://schemas.openxmlformats.org/presentationml/2006/main">
  <p:tag name="KSO_WM_DIAGRAM_VIRTUALLY_FRAME" val="{&quot;height&quot;:260,&quot;left&quot;:60,&quot;top&quot;:160,&quot;width&quot;:840}"/>
</p:tagLst>
</file>

<file path=ppt/tags/tag59.xml><?xml version="1.0" encoding="utf-8"?>
<p:tagLst xmlns:p="http://schemas.openxmlformats.org/presentationml/2006/main">
  <p:tag name="KSO_WM_DIAGRAM_VIRTUALLY_FRAME" val="{&quot;height&quot;:260,&quot;left&quot;:60,&quot;top&quot;:160,&quot;width&quot;:840}"/>
</p:tagLst>
</file>

<file path=ppt/tags/tag60.xml><?xml version="1.0" encoding="utf-8"?>
<p:tagLst xmlns:p="http://schemas.openxmlformats.org/presentationml/2006/main">
  <p:tag name="KSO_WM_DIAGRAM_VIRTUALLY_FRAME" val="{&quot;height&quot;:260,&quot;left&quot;:60,&quot;top&quot;:160,&quot;width&quot;:840}"/>
</p:tagLst>
</file>

<file path=ppt/tags/tag61.xml><?xml version="1.0" encoding="utf-8"?>
<p:tagLst xmlns:p="http://schemas.openxmlformats.org/presentationml/2006/main">
  <p:tag name="KSO_WM_DIAGRAM_VIRTUALLY_FRAME" val="{&quot;height&quot;:260,&quot;left&quot;:60,&quot;top&quot;:16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9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0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3862</Words>
  <Application>WPS 演示</Application>
  <PresentationFormat/>
  <Paragraphs>244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13</vt:i4>
      </vt:variant>
      <vt:variant>
        <vt:lpstr>幻灯片标题</vt:lpstr>
      </vt:variant>
      <vt:variant>
        <vt:i4>22</vt:i4>
      </vt:variant>
    </vt:vector>
  </HeadingPairs>
  <TitlesOfParts>
    <vt:vector size="45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Consolas</vt:lpstr>
      <vt:lpstr>Roboto Mono</vt:lpstr>
      <vt:lpstr>Segoe Print</vt:lpstr>
      <vt:lpstr>Office 主题​​</vt:lpstr>
      <vt:lpstr>默认主题</vt:lpstr>
      <vt:lpstr>1_默认主题</vt:lpstr>
      <vt:lpstr>2_默认主题</vt:lpstr>
      <vt:lpstr>3_默认主题</vt:lpstr>
      <vt:lpstr>4_默认主题</vt:lpstr>
      <vt:lpstr>5_默认主题</vt:lpstr>
      <vt:lpstr>6_默认主题</vt:lpstr>
      <vt:lpstr>7_默认主题</vt:lpstr>
      <vt:lpstr>8_默认主题</vt:lpstr>
      <vt:lpstr>9_默认主题</vt:lpstr>
      <vt:lpstr>10_默认主题</vt:lpstr>
      <vt:lpstr>11_默认主题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像风像云像你.</cp:lastModifiedBy>
  <cp:revision>5</cp:revision>
  <dcterms:created xsi:type="dcterms:W3CDTF">2026-06-09T03:30:52Z</dcterms:created>
  <dcterms:modified xsi:type="dcterms:W3CDTF">2026-06-09T05:04:42Z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{"Label":"1","ContentProducer":"001191110102MACQD9K64010000","ProduceID":"7649200082940906713","ReservedCode1":"","ContentPropagator":"","PropagateID":"","ReservedCode2":""}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1746BD0FCDB34C04AECAAEE0B6941E18_13</vt:lpwstr>
  </property>
</Properties>
</file>