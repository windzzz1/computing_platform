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4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8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92.svg" ContentType="image/svg+xml"/>
  <Override PartName="/ppt/media/image94.svg" ContentType="image/svg+xml"/>
  <Override PartName="/ppt/media/image9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</p:sldMasterIdLst>
  <p:notesMasterIdLst>
    <p:notesMasterId r:id="rId9"/>
  </p:notesMasterIdLst>
  <p:sldIdLst>
    <p:sldId id="256" r:id="rId8"/>
    <p:sldId id="257" r:id="rId10"/>
    <p:sldId id="258" r:id="rId11"/>
    <p:sldId id="259" r:id="rId12"/>
    <p:sldId id="260" r:id="rId13"/>
    <p:sldId id="261" r:id="rId14"/>
    <p:sldId id="262" r:id="rId15"/>
    <p:sldId id="277" r:id="rId16"/>
    <p:sldId id="278" r:id="rId17"/>
    <p:sldId id="263" r:id="rId18"/>
    <p:sldId id="279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80" r:id="rId29"/>
    <p:sldId id="281" r:id="rId30"/>
    <p:sldId id="273" r:id="rId31"/>
    <p:sldId id="274" r:id="rId32"/>
    <p:sldId id="275" r:id="rId3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2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2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今天的分享。我们正处在一个由人工智能驱动的深刻技术变革时代，软件开发领域正经历一场从“手工作坊”到“智能工厂”的演进。今天，我将和大家一起探讨“智码未来”——AI如何重塑软件开发的新范式，以及我们作为开发者应该如何拥抱这一变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五个部分。首先，我们将探讨AI开发的时代背景和核心驱动力。接着，我们会深入了解AI如何重塑软件开发的全流程。然后，我将为大家介绍当前主流的AI开发工具。之后，我们会通过一个实战案例来具体感受AI的威力。最后，我们将一同展望AI开发的未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让我们首先进入第一部分，探讨为什么我们现在必须关注AI开发，以及它背后的时代浪潮是什么。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我们看到，AI不再是遥远的未来概念，而是当下开发者的必备工具。从Gartner的数据可以看出，无论是全球的市场规模还是企业端的采用率，都呈现出爆发式的增长态势。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微软CEO萨提亚·纳德拉的这句话精准地概括了当前的趋势：问题已经不再是用不用AI，而是如何用好AI。对于在座的各位开发者而言，这意味着角色的根本性重塑——AI正在把我们从重复的“代码编写”中解放出来，去做真正有价值的创造，去解决更复杂的商业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AI究竟能为我们带来什么？总结起来就是三个词：效率、质量和创新。AI能显著提升我们的编码速度，同时通过自动化测试和审查，保障代码质量。更重要的是，它降低了创新的门槛，让我们能更快地验证想法。麦肯锡的数据也证明了这一点，高达340%的ROI说明AI是真正能创造价值的引擎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接下来，我们将进入第二部分，详细了解AI是如何渗透到软件开发的每一个环节，重塑整个开发流程的。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开发流程的第一步是需求分析。过去，我们常常被模糊不清的需求困扰。现在，AI可以成为我们的业务分析师。我们可以把一个模糊的想法告诉AI，它能帮我们梳理成规范的需求文档。甚至，像Figma这样的工具，能根据我们的描述直接生成UI原型，让我们在项目早期就能看到产品的样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开发流程的第一步是需求分析。过去，我们常常被模糊不清的需求困扰。现在，AI可以成为我们的业务分析师。我们可以把一个模糊的想法告诉AI，它能帮我们梳理成规范的需求文档。甚至，像Figma这样的工具，能根据我们的描述直接生成UI原型，让我们在项目早期就能看到产品的样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开发流程的第一步是需求分析。过去，我们常常被模糊不清的需求困扰。现在，AI可以成为我们的业务分析师。我们可以把一个模糊的想法告诉AI，它能帮我们梳理成规范的需求文档。甚至，像Figma这样的工具，能根据我们的描述直接生成UI原型，让我们在项目早期就能看到产品的样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编码环节是AI应用最成熟的领域。我们正在从手动敲码转向对话式编程。像GitHub Copilot这样的工具，能极大地提升我们的编码效率。我们可以用自然语言告诉AI我们想要什么功能，它就能生成代码。遇到不熟悉的语言或复杂的代码，也可以让AI来解释或翻译。代码重构也变得轻而易举。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编码环节是AI应用最成熟的领域。我们正在从手动敲码转向对话式编程。像GitHub Copilot这样的工具，能极大地提升我们的编码效率。我们可以用自然语言告诉AI我们想要什么功能，它就能生成代码。遇到不熟悉的语言或复杂的代码，也可以让AI来解释或翻译。代码重构也变得轻而易举。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测试环节，AI正在推动“测试左移”，让质量保障更早地介入开发流程。AI可以自动生成测试用例，大大节省了我们编写测试的时间。更厉害的是，它还能在测试失败后自动分析问题并尝试修复，形成一个自动化的反馈闭环。在代码审查时，AI也能成为我们的第一道防线，检查常见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在部署和运维阶段，AI也在赋能DevOps。它可以帮我们自动生成CI/CD配置文件，让部署流程更简单。在运维方面，AI能够智能监控系统，提前发现潜在问题并进行根因分析。同时，它还能根据负载情况动态调整资源，实现降本增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了解了AI在开发流程中的应用，我们再来看看实现这些功能的具体工具有哪些。第三部分，我们将介绍当前主流的AI开发工具矩阵。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目前的AI开发工具市场百花齐放。我们可以将它们大致分为几类：集成在传统IDE中的助手，如GitHub Copilot和Amazon CodeWhisperer；AI原生的IDE，如Cursor和字节跳动的Trae；开源的模型，如CodeLlama；以及针对特定场景的企业级方案和云端平台。选择合适的工具组合是提升效率的关键。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这里我们重点介绍三款工具。GitHub Copilot X是生态标杆，与GitHub深度集成，功能全面且稳定。Cursor是AI原生编辑器，在项目级理解和代码重构方面有独特优势，体验非常流畅。而字节跳动的Trae则是一款全流程自动化的IDE，特别针对中文语境做了深度优化，非常适合国内开发者和希望AI能深度参与甚至自主交付项目的团队。这三款工具各有侧重，可以根据团队的技术栈、开发习惯和具体需求来灵活选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理论说了很多，接下来让我们进入第四部分，通过一个具体的实战案例，来看看AI是如何帮助我们完成一个微服务开发的。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案例是开发一个用户反馈微服务。从需求澄清开始，我们就可以借助AI。AI帮我们规划项目结构，然后我们一步步让它生成数据库模型、API代码，甚至是测试用例。代码写完后，AI还能帮我们审查代码。最后，生成部署配置文件，一键上线。整个过程下来，效率提升非常明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看完了现在，我们再来看看未来。AI编程的进化远未停止，我们正在从“AI辅助”迈向“AI自主”的时代。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未来的趋势是AI Agent，也就是我们所说的“数字员工”。它们不再是被动的工具，而是能主动执行复杂任务的智能体。我们可以想象一个由AI Agent组成的虚拟研发团队，每个Agent各司其职，而我们人类则成为这个团队的管理者。这将是软件开发模式的又一次颠覆。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未来的趋势是AI Agent，也就是我们所说的“数字员工”。它们不再是被动的工具，而是能主动执行复杂任务的智能体。我们可以想象一个由AI Agent组成的虚拟研发团队，每个Agent各司其职，而我们人类则成为这个团队的管理者。这将是软件开发模式的又一次颠覆。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Devin的出现让我们看到了自主AI开发者的潜力。它能够自主完成从编码到部署的全流程。虽然目前还不能完全替代人类，但它预示着未来的开发模式将更加自动化。面对这样的未来，我们开发者需要转变角色，成为更好的提问者、架构师和验证者，并保持持续学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汇总了本次分享中提到的一些核心数据。这些数据来自Gartner、McKinsey、Sonar等权威机构，清晰地展示了AI在软件开发领域的巨大影响力和商业价值。无论是市场规模、企业采用率还是投资回报率，都证明了AI开发是不可逆转的趋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我的分享到此结束，感谢大家的聆听。现在是问答环节，欢迎大家提问交流。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.jpe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5.svg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tags" Target="../tags/tag3.xml"/><Relationship Id="rId7" Type="http://schemas.openxmlformats.org/officeDocument/2006/relationships/image" Target="../media/image19.svg"/><Relationship Id="rId6" Type="http://schemas.openxmlformats.org/officeDocument/2006/relationships/image" Target="../media/image18.png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17.svg"/><Relationship Id="rId22" Type="http://schemas.openxmlformats.org/officeDocument/2006/relationships/notesSlide" Target="../notesSlides/notesSlide7.xml"/><Relationship Id="rId21" Type="http://schemas.openxmlformats.org/officeDocument/2006/relationships/slideLayout" Target="../slideLayouts/slideLayout12.xml"/><Relationship Id="rId20" Type="http://schemas.openxmlformats.org/officeDocument/2006/relationships/tags" Target="../tags/tag12.xml"/><Relationship Id="rId2" Type="http://schemas.openxmlformats.org/officeDocument/2006/relationships/image" Target="../media/image16.png"/><Relationship Id="rId19" Type="http://schemas.openxmlformats.org/officeDocument/2006/relationships/tags" Target="../tags/tag11.xml"/><Relationship Id="rId18" Type="http://schemas.openxmlformats.org/officeDocument/2006/relationships/image" Target="../media/image22.jpeg"/><Relationship Id="rId17" Type="http://schemas.openxmlformats.org/officeDocument/2006/relationships/tags" Target="../tags/tag10.xml"/><Relationship Id="rId16" Type="http://schemas.openxmlformats.org/officeDocument/2006/relationships/tags" Target="../tags/tag9.xml"/><Relationship Id="rId15" Type="http://schemas.openxmlformats.org/officeDocument/2006/relationships/tags" Target="../tags/tag8.xml"/><Relationship Id="rId14" Type="http://schemas.openxmlformats.org/officeDocument/2006/relationships/tags" Target="../tags/tag7.xml"/><Relationship Id="rId13" Type="http://schemas.openxmlformats.org/officeDocument/2006/relationships/image" Target="../media/image21.svg"/><Relationship Id="rId12" Type="http://schemas.openxmlformats.org/officeDocument/2006/relationships/image" Target="../media/image20.png"/><Relationship Id="rId11" Type="http://schemas.openxmlformats.org/officeDocument/2006/relationships/tags" Target="../tags/tag6.xml"/><Relationship Id="rId10" Type="http://schemas.openxmlformats.org/officeDocument/2006/relationships/tags" Target="../tags/tag5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2" Type="http://schemas.openxmlformats.org/officeDocument/2006/relationships/notesSlide" Target="../notesSlides/notesSlide8.xml"/><Relationship Id="rId21" Type="http://schemas.openxmlformats.org/officeDocument/2006/relationships/slideLayout" Target="../slideLayouts/slideLayout13.xml"/><Relationship Id="rId20" Type="http://schemas.openxmlformats.org/officeDocument/2006/relationships/image" Target="../media/image29.png"/><Relationship Id="rId2" Type="http://schemas.openxmlformats.org/officeDocument/2006/relationships/tags" Target="../tags/tag13.xml"/><Relationship Id="rId19" Type="http://schemas.openxmlformats.org/officeDocument/2006/relationships/tags" Target="../tags/tag24.xml"/><Relationship Id="rId18" Type="http://schemas.openxmlformats.org/officeDocument/2006/relationships/tags" Target="../tags/tag23.xml"/><Relationship Id="rId17" Type="http://schemas.openxmlformats.org/officeDocument/2006/relationships/tags" Target="../tags/tag22.xml"/><Relationship Id="rId16" Type="http://schemas.openxmlformats.org/officeDocument/2006/relationships/image" Target="../media/image28.svg"/><Relationship Id="rId15" Type="http://schemas.openxmlformats.org/officeDocument/2006/relationships/image" Target="../media/image27.png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image" Target="../media/image26.sv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image" Target="../media/image30.svg"/><Relationship Id="rId3" Type="http://schemas.openxmlformats.org/officeDocument/2006/relationships/image" Target="../media/image23.png"/><Relationship Id="rId25" Type="http://schemas.openxmlformats.org/officeDocument/2006/relationships/notesSlide" Target="../notesSlides/notesSlide9.xml"/><Relationship Id="rId24" Type="http://schemas.openxmlformats.org/officeDocument/2006/relationships/slideLayout" Target="../slideLayouts/slideLayout14.xml"/><Relationship Id="rId23" Type="http://schemas.openxmlformats.org/officeDocument/2006/relationships/tags" Target="../tags/tag40.xml"/><Relationship Id="rId22" Type="http://schemas.openxmlformats.org/officeDocument/2006/relationships/tags" Target="../tags/tag39.xml"/><Relationship Id="rId21" Type="http://schemas.openxmlformats.org/officeDocument/2006/relationships/tags" Target="../tags/tag38.xml"/><Relationship Id="rId20" Type="http://schemas.openxmlformats.org/officeDocument/2006/relationships/tags" Target="../tags/tag37.xml"/><Relationship Id="rId2" Type="http://schemas.openxmlformats.org/officeDocument/2006/relationships/tags" Target="../tags/tag25.xml"/><Relationship Id="rId19" Type="http://schemas.openxmlformats.org/officeDocument/2006/relationships/tags" Target="../tags/tag36.xml"/><Relationship Id="rId18" Type="http://schemas.openxmlformats.org/officeDocument/2006/relationships/tags" Target="../tags/tag35.xml"/><Relationship Id="rId17" Type="http://schemas.openxmlformats.org/officeDocument/2006/relationships/tags" Target="../tags/tag34.xml"/><Relationship Id="rId16" Type="http://schemas.openxmlformats.org/officeDocument/2006/relationships/image" Target="../media/image32.svg"/><Relationship Id="rId15" Type="http://schemas.openxmlformats.org/officeDocument/2006/relationships/image" Target="../media/image27.png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image" Target="../media/image31.sv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image" Target="../media/image37.svg"/><Relationship Id="rId7" Type="http://schemas.openxmlformats.org/officeDocument/2006/relationships/image" Target="../media/image36.png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image" Target="../media/image35.jpeg"/><Relationship Id="rId30" Type="http://schemas.openxmlformats.org/officeDocument/2006/relationships/notesSlide" Target="../notesSlides/notesSlide10.xml"/><Relationship Id="rId3" Type="http://schemas.openxmlformats.org/officeDocument/2006/relationships/image" Target="../media/image34.svg"/><Relationship Id="rId29" Type="http://schemas.openxmlformats.org/officeDocument/2006/relationships/slideLayout" Target="../slideLayouts/slideLayout12.xml"/><Relationship Id="rId28" Type="http://schemas.openxmlformats.org/officeDocument/2006/relationships/tags" Target="../tags/tag56.xml"/><Relationship Id="rId27" Type="http://schemas.openxmlformats.org/officeDocument/2006/relationships/tags" Target="../tags/tag55.xml"/><Relationship Id="rId26" Type="http://schemas.openxmlformats.org/officeDocument/2006/relationships/image" Target="../media/image43.svg"/><Relationship Id="rId25" Type="http://schemas.openxmlformats.org/officeDocument/2006/relationships/image" Target="../media/image42.png"/><Relationship Id="rId24" Type="http://schemas.openxmlformats.org/officeDocument/2006/relationships/tags" Target="../tags/tag54.xml"/><Relationship Id="rId23" Type="http://schemas.openxmlformats.org/officeDocument/2006/relationships/tags" Target="../tags/tag53.xml"/><Relationship Id="rId22" Type="http://schemas.openxmlformats.org/officeDocument/2006/relationships/tags" Target="../tags/tag52.xml"/><Relationship Id="rId21" Type="http://schemas.openxmlformats.org/officeDocument/2006/relationships/tags" Target="../tags/tag51.xml"/><Relationship Id="rId20" Type="http://schemas.openxmlformats.org/officeDocument/2006/relationships/image" Target="../media/image41.svg"/><Relationship Id="rId2" Type="http://schemas.openxmlformats.org/officeDocument/2006/relationships/image" Target="../media/image33.png"/><Relationship Id="rId19" Type="http://schemas.openxmlformats.org/officeDocument/2006/relationships/image" Target="../media/image40.png"/><Relationship Id="rId18" Type="http://schemas.openxmlformats.org/officeDocument/2006/relationships/tags" Target="../tags/tag50.xml"/><Relationship Id="rId17" Type="http://schemas.openxmlformats.org/officeDocument/2006/relationships/tags" Target="../tags/tag49.xml"/><Relationship Id="rId16" Type="http://schemas.openxmlformats.org/officeDocument/2006/relationships/tags" Target="../tags/tag48.xml"/><Relationship Id="rId15" Type="http://schemas.openxmlformats.org/officeDocument/2006/relationships/tags" Target="../tags/tag47.xml"/><Relationship Id="rId14" Type="http://schemas.openxmlformats.org/officeDocument/2006/relationships/image" Target="../media/image39.svg"/><Relationship Id="rId13" Type="http://schemas.openxmlformats.org/officeDocument/2006/relationships/image" Target="../media/image38.png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image" Target="../media/image47.svg"/><Relationship Id="rId6" Type="http://schemas.openxmlformats.org/officeDocument/2006/relationships/image" Target="../media/image46.png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image" Target="../media/image45.svg"/><Relationship Id="rId23" Type="http://schemas.openxmlformats.org/officeDocument/2006/relationships/notesSlide" Target="../notesSlides/notesSlide11.xml"/><Relationship Id="rId22" Type="http://schemas.openxmlformats.org/officeDocument/2006/relationships/slideLayout" Target="../slideLayouts/slideLayout15.xml"/><Relationship Id="rId21" Type="http://schemas.openxmlformats.org/officeDocument/2006/relationships/tags" Target="../tags/tag68.xml"/><Relationship Id="rId20" Type="http://schemas.openxmlformats.org/officeDocument/2006/relationships/tags" Target="../tags/tag67.xml"/><Relationship Id="rId2" Type="http://schemas.openxmlformats.org/officeDocument/2006/relationships/image" Target="../media/image44.png"/><Relationship Id="rId19" Type="http://schemas.openxmlformats.org/officeDocument/2006/relationships/tags" Target="../tags/tag66.xml"/><Relationship Id="rId18" Type="http://schemas.openxmlformats.org/officeDocument/2006/relationships/tags" Target="../tags/tag65.xml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image" Target="../media/image51.svg"/><Relationship Id="rId14" Type="http://schemas.openxmlformats.org/officeDocument/2006/relationships/image" Target="../media/image50.png"/><Relationship Id="rId13" Type="http://schemas.openxmlformats.org/officeDocument/2006/relationships/tags" Target="../tags/tag62.xml"/><Relationship Id="rId12" Type="http://schemas.openxmlformats.org/officeDocument/2006/relationships/tags" Target="../tags/tag61.xml"/><Relationship Id="rId11" Type="http://schemas.openxmlformats.org/officeDocument/2006/relationships/image" Target="../media/image49.svg"/><Relationship Id="rId10" Type="http://schemas.openxmlformats.org/officeDocument/2006/relationships/image" Target="../media/image48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image" Target="../media/image37.svg"/><Relationship Id="rId6" Type="http://schemas.openxmlformats.org/officeDocument/2006/relationships/image" Target="../media/image54.png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image" Target="../media/image53.svg"/><Relationship Id="rId21" Type="http://schemas.openxmlformats.org/officeDocument/2006/relationships/notesSlide" Target="../notesSlides/notesSlide12.xml"/><Relationship Id="rId20" Type="http://schemas.openxmlformats.org/officeDocument/2006/relationships/slideLayout" Target="../slideLayouts/slideLayout12.xml"/><Relationship Id="rId2" Type="http://schemas.openxmlformats.org/officeDocument/2006/relationships/image" Target="../media/image52.png"/><Relationship Id="rId19" Type="http://schemas.openxmlformats.org/officeDocument/2006/relationships/image" Target="../media/image59.jpeg"/><Relationship Id="rId18" Type="http://schemas.openxmlformats.org/officeDocument/2006/relationships/tags" Target="../tags/tag77.xml"/><Relationship Id="rId17" Type="http://schemas.openxmlformats.org/officeDocument/2006/relationships/image" Target="../media/image58.svg"/><Relationship Id="rId16" Type="http://schemas.openxmlformats.org/officeDocument/2006/relationships/image" Target="../media/image57.png"/><Relationship Id="rId15" Type="http://schemas.openxmlformats.org/officeDocument/2006/relationships/tags" Target="../tags/tag76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image" Target="../media/image56.svg"/><Relationship Id="rId11" Type="http://schemas.openxmlformats.org/officeDocument/2006/relationships/image" Target="../media/image55.png"/><Relationship Id="rId10" Type="http://schemas.openxmlformats.org/officeDocument/2006/relationships/tags" Target="../tags/tag73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7.png"/><Relationship Id="rId8" Type="http://schemas.openxmlformats.org/officeDocument/2006/relationships/image" Target="../media/image66.svg"/><Relationship Id="rId7" Type="http://schemas.openxmlformats.org/officeDocument/2006/relationships/image" Target="../media/image65.png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Relationship Id="rId3" Type="http://schemas.openxmlformats.org/officeDocument/2006/relationships/image" Target="../media/image61.png"/><Relationship Id="rId2" Type="http://schemas.openxmlformats.org/officeDocument/2006/relationships/image" Target="../media/image60.jpeg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68.sv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4.svg"/><Relationship Id="rId8" Type="http://schemas.openxmlformats.org/officeDocument/2006/relationships/image" Target="../media/image73.png"/><Relationship Id="rId7" Type="http://schemas.openxmlformats.org/officeDocument/2006/relationships/image" Target="../media/image72.svg"/><Relationship Id="rId6" Type="http://schemas.openxmlformats.org/officeDocument/2006/relationships/image" Target="../media/image71.png"/><Relationship Id="rId5" Type="http://schemas.openxmlformats.org/officeDocument/2006/relationships/image" Target="../media/image70.svg"/><Relationship Id="rId4" Type="http://schemas.openxmlformats.org/officeDocument/2006/relationships/image" Target="../media/image69.png"/><Relationship Id="rId3" Type="http://schemas.openxmlformats.org/officeDocument/2006/relationships/image" Target="../media/image37.svg"/><Relationship Id="rId2" Type="http://schemas.openxmlformats.org/officeDocument/2006/relationships/image" Target="../media/image54.png"/><Relationship Id="rId15" Type="http://schemas.openxmlformats.org/officeDocument/2006/relationships/notesSlide" Target="../notesSlides/notesSlide15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58.svg"/><Relationship Id="rId12" Type="http://schemas.openxmlformats.org/officeDocument/2006/relationships/image" Target="../media/image77.png"/><Relationship Id="rId11" Type="http://schemas.openxmlformats.org/officeDocument/2006/relationships/image" Target="../media/image76.svg"/><Relationship Id="rId10" Type="http://schemas.openxmlformats.org/officeDocument/2006/relationships/image" Target="../media/image75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64.svg"/><Relationship Id="rId4" Type="http://schemas.openxmlformats.org/officeDocument/2006/relationships/image" Target="../media/image80.png"/><Relationship Id="rId3" Type="http://schemas.openxmlformats.org/officeDocument/2006/relationships/image" Target="../media/image79.jpeg"/><Relationship Id="rId2" Type="http://schemas.openxmlformats.org/officeDocument/2006/relationships/image" Target="../media/image78.jpe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86.svg"/><Relationship Id="rId8" Type="http://schemas.openxmlformats.org/officeDocument/2006/relationships/image" Target="../media/image85.png"/><Relationship Id="rId7" Type="http://schemas.openxmlformats.org/officeDocument/2006/relationships/image" Target="../media/image84.svg"/><Relationship Id="rId6" Type="http://schemas.openxmlformats.org/officeDocument/2006/relationships/image" Target="../media/image83.png"/><Relationship Id="rId5" Type="http://schemas.openxmlformats.org/officeDocument/2006/relationships/image" Target="../media/image37.svg"/><Relationship Id="rId4" Type="http://schemas.openxmlformats.org/officeDocument/2006/relationships/image" Target="../media/image54.png"/><Relationship Id="rId3" Type="http://schemas.openxmlformats.org/officeDocument/2006/relationships/image" Target="../media/image82.svg"/><Relationship Id="rId2" Type="http://schemas.openxmlformats.org/officeDocument/2006/relationships/image" Target="../media/image81.png"/><Relationship Id="rId14" Type="http://schemas.openxmlformats.org/officeDocument/2006/relationships/notesSlide" Target="../notesSlides/notesSlide18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89.jpeg"/><Relationship Id="rId11" Type="http://schemas.openxmlformats.org/officeDocument/2006/relationships/image" Target="../media/image88.jpeg"/><Relationship Id="rId10" Type="http://schemas.openxmlformats.org/officeDocument/2006/relationships/image" Target="../media/image87.jpeg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6.png"/><Relationship Id="rId8" Type="http://schemas.openxmlformats.org/officeDocument/2006/relationships/image" Target="../media/image13.svg"/><Relationship Id="rId7" Type="http://schemas.openxmlformats.org/officeDocument/2006/relationships/image" Target="../media/image95.png"/><Relationship Id="rId6" Type="http://schemas.openxmlformats.org/officeDocument/2006/relationships/image" Target="../media/image94.svg"/><Relationship Id="rId5" Type="http://schemas.openxmlformats.org/officeDocument/2006/relationships/image" Target="../media/image93.png"/><Relationship Id="rId4" Type="http://schemas.openxmlformats.org/officeDocument/2006/relationships/image" Target="../media/image92.svg"/><Relationship Id="rId3" Type="http://schemas.openxmlformats.org/officeDocument/2006/relationships/image" Target="../media/image91.png"/><Relationship Id="rId2" Type="http://schemas.openxmlformats.org/officeDocument/2006/relationships/image" Target="../media/image90.jpeg"/><Relationship Id="rId12" Type="http://schemas.openxmlformats.org/officeDocument/2006/relationships/notesSlide" Target="../notesSlides/notesSlide22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97.svg"/><Relationship Id="rId1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智码未来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3302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3810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驱动的软件开发新范式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334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分享人：</a:t>
            </a:r>
            <a:r>
              <a:rPr lang="zh-CN" altLang="en-US" sz="20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应博翔，于佳杰</a:t>
            </a:r>
            <a:r>
              <a:rPr lang="en-US" sz="20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| 2026年5月13</a:t>
            </a:r>
            <a:r>
              <a:rPr lang="zh-CN" altLang="en-US" sz="20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</a:t>
            </a:r>
            <a:endParaRPr lang="zh-CN" altLang="en-US" sz="20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r>
              <a:rPr lang="en-US" sz="2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2032000" cy="4064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2032000" cy="762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2286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3302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引言：AI开发的</a:t>
            </a:r>
            <a:b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时代浪潮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45720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从“代码编写”到“价值创造”的范式转移</a:t>
            </a:r>
            <a:br>
              <a:rPr lang="en-US" sz="12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效率、质量与创新的三重奏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984500" y="1905000"/>
            <a:ext cx="2032000" cy="4064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2984500" y="1905000"/>
            <a:ext cx="2032000" cy="762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111500" y="2286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111500" y="3302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AI重塑</a:t>
            </a:r>
            <a:b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开发全流程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111500" y="45720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需求分析 · 编码实现</a:t>
            </a:r>
            <a:br>
              <a:rPr lang="en-US" sz="12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测试保障 · 部署运维</a:t>
            </a:r>
            <a:br>
              <a:rPr lang="en-US" sz="12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全方位的流程革新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207000" y="1905000"/>
            <a:ext cx="2032000" cy="4064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207000" y="1905000"/>
            <a:ext cx="2032000" cy="762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334000" y="2286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334000" y="3302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主流AI开发</a:t>
            </a:r>
            <a:b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工具矩阵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334000" y="45720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AI工具分类全景</a:t>
            </a:r>
            <a:br>
              <a:rPr lang="en-US" sz="12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企业级选型指南</a:t>
            </a:r>
            <a:br>
              <a:rPr lang="en-US" sz="12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核心工具深度解析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429500" y="1905000"/>
            <a:ext cx="2032000" cy="4064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429500" y="1905000"/>
            <a:ext cx="2032000" cy="762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556500" y="2286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556500" y="3302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实战案例：AI驱动</a:t>
            </a:r>
            <a:b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微服务开发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556500" y="45720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从需求文档到代码</a:t>
            </a:r>
            <a:br>
              <a:rPr lang="en-US" sz="12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再到部署上线</a:t>
            </a:r>
            <a:br>
              <a:rPr lang="en-US" sz="12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全链路实操演示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652000" y="1905000"/>
            <a:ext cx="2032000" cy="4064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652000" y="1905000"/>
            <a:ext cx="2032000" cy="762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779000" y="2286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779000" y="3302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未来展望：从辅助</a:t>
            </a:r>
            <a:b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到自主伙伴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779000" y="45720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Agent 协作系统</a:t>
            </a:r>
            <a:br>
              <a:rPr lang="en-US" sz="12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自主AI开发者崛起</a:t>
            </a:r>
            <a:br>
              <a:rPr lang="en-US" sz="12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人机协同的终极形态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3429000"/>
            <a:ext cx="1016000" cy="762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393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引言：AI开发的时代浪潮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207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200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INTRODUCTION: THE TIDE OF AI DEVELOPMENT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从“代码编写”到“价值创造”的范式转移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我们正处在一个由人工智能驱动的深刻技术变革时代。软件开发领域正经历一场从“手工作坊”到“智能工厂”的演进，技术的价值创造逻辑正在发生根本性的重构。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3302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794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768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市场规模爆发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429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Gartner预测，2026年全球AI相关支出将达</a:t>
            </a:r>
            <a:r>
              <a:rPr lang="en-US" sz="13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2.52万亿美元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，实现高达</a:t>
            </a:r>
            <a:r>
              <a:rPr lang="en-US" sz="13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44%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的同比增长。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2540000"/>
            <a:ext cx="3302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794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07000" y="2768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企业全面拥抱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3429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2026年预计</a:t>
            </a:r>
            <a:r>
              <a:rPr lang="en-US" sz="13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89%的财富500强企业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已使用生成式AI，在竞争激烈的科技行业，这一比例更是高达</a:t>
            </a:r>
            <a:r>
              <a:rPr lang="en-US" sz="13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94%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2540000"/>
            <a:ext cx="3302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794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90000" y="2768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开发者角色重塑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3429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AI将开发者从繁琐的重复编码中解放，转向更具价值的</a:t>
            </a:r>
            <a:r>
              <a:rPr lang="en-US" sz="13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业务理解、架构设计、创新思考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sz="13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用户体验优化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826000"/>
            <a:ext cx="10668000" cy="1651000"/>
          </a:xfrm>
          <a:prstGeom prst="roundRect">
            <a:avLst>
              <a:gd name="adj" fmla="val 9230"/>
            </a:avLst>
          </a:prstGeom>
          <a:solidFill>
            <a:srgbClr val="00A99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5080000"/>
            <a:ext cx="711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1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“对话已经从‘我们应该采用AI吗？’转变为‘我们如何有效地扩展AI，以重塑每一个业务流程和每一个行业？’”</a:t>
            </a:r>
            <a:endParaRPr lang="en-US" sz="1100"/>
          </a:p>
          <a:p>
            <a:pPr indent="0" algn="r">
              <a:lnSpc>
                <a:spcPct val="125000"/>
              </a:lnSpc>
              <a:spcBef>
                <a:spcPts val="1000"/>
              </a:spcBef>
            </a:pPr>
            <a:r>
              <a:rPr lang="en-US" sz="1400" b="1" i="0" u="none" strike="noStrike">
                <a:solidFill>
                  <a:srgbClr val="006E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 萨提亚·纳德拉 (Satya Nadella) ，微软 CEO</a:t>
            </a:r>
            <a:endParaRPr lang="en-US" sz="1400" b="1" i="0" u="none" strike="noStrike">
              <a:solidFill>
                <a:srgbClr val="006E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/>
          <a:srcRect t="617" b="617"/>
          <a:stretch>
            <a:fillRect/>
          </a:stretch>
        </p:blipFill>
        <p:spPr>
          <a:xfrm>
            <a:off x="8382000" y="5016500"/>
            <a:ext cx="2286000" cy="1270000"/>
          </a:xfrm>
          <a:prstGeom prst="roundRect">
            <a:avLst>
              <a:gd name="adj" fmla="val 10000"/>
            </a:avLst>
          </a:prstGeom>
          <a:noFill/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核心驱动力：效率、质量与创新的三重奏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057400"/>
            <a:ext cx="215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极致的效率提升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AI编码助手可将开发者的编码速度提升</a:t>
            </a:r>
            <a:r>
              <a:rPr lang="en-US" sz="14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55%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内容创作时间减少</a:t>
            </a:r>
            <a:r>
              <a:rPr lang="en-US" sz="14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65%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，显著缩短产品上市周期，抢占市场先机。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032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334000" y="2057400"/>
            <a:ext cx="215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卓越的质量保障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794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AI自动生成单元测试与智能代码审查，将错误率降低</a:t>
            </a:r>
            <a:r>
              <a:rPr lang="en-US" sz="14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30%以上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将缺陷发现从生产环境大幅提前至开发阶段，规避后期高昂修复成本。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1778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032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017000" y="2057400"/>
            <a:ext cx="215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无限的创新可能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2794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快速原型验证与探索性编程，极大降低技术与业务的创新门槛。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释放开发者的精力去尝试更多可能性，从而催生全新的应用场景和商业模式。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4953000"/>
            <a:ext cx="10668000" cy="1397000"/>
          </a:xfrm>
          <a:prstGeom prst="roundRect">
            <a:avLst>
              <a:gd name="adj" fmla="val 10909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143000" y="5270500"/>
            <a:ext cx="571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 McKinsey 全球调查显示：</a:t>
            </a:r>
            <a:b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企业在部署生成式 AI 后 18 个月内，平均可获得高达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858000" y="5207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340%</a:t>
            </a: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投资回报率 (ROI)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3683000"/>
            <a:ext cx="1016000" cy="762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445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AI重塑开发全流程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需求分析与设计：让AI成为你的业务分析师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889000"/>
          </a:xfrm>
          <a:prstGeom prst="roundRect">
            <a:avLst>
              <a:gd name="adj" fmla="val 11428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841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778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核心挑战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683000" y="1778000"/>
            <a:ext cx="749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需求描述模糊、信息不完整且变更频繁，导致传统人工分析耗时费力且对齐成本高昂。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762000" y="2921000"/>
            <a:ext cx="3302000" cy="330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175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1651000" y="31496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需求提炼与结构化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1016000" y="3937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将“做个好看的登录页”这类模糊自然语言，转化为规范的用户故事、验收标准，甚至直接生成结构化的功能需求文档（PRD），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也可以使用项目</a:t>
            </a:r>
            <a:r>
              <a:rPr lang="en-US" altLang="zh-CN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ui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设计的</a:t>
            </a:r>
            <a:r>
              <a:rPr lang="en-US" altLang="zh-CN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ui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图，投喂</a:t>
            </a:r>
            <a:r>
              <a:rPr lang="en-US" altLang="zh-CN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</a:t>
            </a:r>
            <a:r>
              <a:rPr lang="en-US" altLang="zh-CN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学习并且初步实现，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快速对齐各方预期。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也可以让</a:t>
            </a:r>
            <a:r>
              <a:rPr lang="en-US" altLang="zh-CN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给出多个竞品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</a:t>
            </a:r>
            <a:endParaRPr lang="zh-CN" alt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4445000" y="2921000"/>
            <a:ext cx="3302000" cy="330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99000" y="3175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5334000" y="31496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架构与技术选型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4699000" y="3937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输入项目规模、并发预估与团队技术栈偏好，AI能快速提供架构设计建议，分析不同技术选型（如微服务vs单体）的优缺点，辅助技术决策。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8128000" y="2921000"/>
            <a:ext cx="3302000" cy="330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rcRect t="7446" b="7446"/>
          <a:stretch>
            <a:fillRect/>
          </a:stretch>
        </p:blipFill>
        <p:spPr>
          <a:xfrm>
            <a:off x="8255000" y="3111500"/>
            <a:ext cx="3048000" cy="1524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>
            <p:custDataLst>
              <p:tags r:id="rId19"/>
            </p:custDataLst>
          </p:nvPr>
        </p:nvSpPr>
        <p:spPr>
          <a:xfrm>
            <a:off x="8255000" y="4826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可视化原型生成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20"/>
            </p:custDataLst>
          </p:nvPr>
        </p:nvSpPr>
        <p:spPr>
          <a:xfrm>
            <a:off x="8255000" y="5334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利用Figma等工具AI插件，基于文本描述直接生成可交互UI原型，所见即所得。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32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校园二手交易小程序</a:t>
            </a:r>
            <a:endParaRPr lang="en-US" sz="32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841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1778000" y="1778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核心挑战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3683000" y="1778000"/>
            <a:ext cx="749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需求描述模糊、信息不完整且变更频繁，导致传统人工分析耗时费力且对齐成本高昂。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762000" y="1384935"/>
            <a:ext cx="3410585" cy="4838065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156337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1"/>
            </p:custDataLst>
          </p:nvPr>
        </p:nvSpPr>
        <p:spPr>
          <a:xfrm>
            <a:off x="1651000" y="156337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需求提炼与结构化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1016000" y="3937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endParaRPr lang="zh-CN" alt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4445000" y="1384935"/>
            <a:ext cx="3335020" cy="4838065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66945" y="156337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7"/>
            </p:custDataLst>
          </p:nvPr>
        </p:nvSpPr>
        <p:spPr>
          <a:xfrm>
            <a:off x="5334000" y="151257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架构与技术选型</a:t>
            </a:r>
            <a:endParaRPr lang="en-US" sz="1100"/>
          </a:p>
        </p:txBody>
      </p:sp>
      <p:sp>
        <p:nvSpPr>
          <p:cNvPr id="20" name="文本框 19"/>
          <p:cNvSpPr txBox="1"/>
          <p:nvPr>
            <p:custDataLst>
              <p:tags r:id="rId18"/>
            </p:custDataLst>
          </p:nvPr>
        </p:nvSpPr>
        <p:spPr>
          <a:xfrm>
            <a:off x="1076325" y="2127250"/>
            <a:ext cx="273367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ai提示词</a:t>
            </a:r>
            <a:endParaRPr lang="en-US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你现在是资深产品经理，基于下面模糊需求，做完整需求分析：</a:t>
            </a:r>
            <a:endParaRPr lang="zh-CN" altLang="en-US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项目：校园二手交易小程序</a:t>
            </a:r>
            <a:endParaRPr lang="zh-CN" altLang="en-US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需求描述：做一个校园二手交易小程序，学生可以发布闲置、搜商品、私聊卖家、下单交易、发布求购，管理员可以审核商品、管理违规内容。</a:t>
            </a:r>
            <a:endParaRPr lang="zh-CN" altLang="en-US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请输出：</a:t>
            </a:r>
            <a:endParaRPr lang="zh-CN" altLang="en-US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1. 用户角色划分</a:t>
            </a:r>
            <a:endParaRPr lang="zh-CN" altLang="en-US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2. 每个角色完整功能清单（分</a:t>
            </a:r>
            <a:r>
              <a:rPr lang="en-US" altLang="zh-CN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P0</a:t>
            </a:r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必做、</a:t>
            </a:r>
            <a:r>
              <a:rPr lang="en-US" altLang="zh-CN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P1</a:t>
            </a:r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可选）</a:t>
            </a:r>
            <a:endParaRPr lang="zh-CN" altLang="en-US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3. 核心业务场景梳理</a:t>
            </a:r>
            <a:endParaRPr lang="zh-CN" altLang="en-US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4. 非功能需求（性能、安全、兼容性、合规）</a:t>
            </a:r>
            <a:endParaRPr lang="en-US" altLang="zh-CN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9"/>
            </p:custDataLst>
          </p:nvPr>
        </p:nvSpPr>
        <p:spPr>
          <a:xfrm>
            <a:off x="4664075" y="2153285"/>
            <a:ext cx="2917190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ai提示词</a:t>
            </a:r>
            <a:endParaRPr lang="zh-CN" altLang="en-US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zh-CN" altLang="en-US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用Mermaid语法，画出校园二手小程序【用户发布闲置商品】完整业务流程图，包含：登录→发布商品→提交审核→管理员审核→上架/驳回→重新编辑</a:t>
            </a:r>
            <a:endParaRPr lang="zh-CN" altLang="en-US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zh-CN" altLang="en-US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79155" y="1633855"/>
            <a:ext cx="3097530" cy="45040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32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校园二手交易小程序</a:t>
            </a:r>
            <a:endParaRPr lang="en-US" sz="32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841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1778000" y="1778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核心挑战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3683000" y="1778000"/>
            <a:ext cx="749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需求描述模糊、信息不完整且变更频繁，导致传统人工分析耗时费力且对齐成本高昂。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762000" y="1384935"/>
            <a:ext cx="3410585" cy="4838065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156337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1"/>
            </p:custDataLst>
          </p:nvPr>
        </p:nvSpPr>
        <p:spPr>
          <a:xfrm>
            <a:off x="1651000" y="156337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AI系统架构设计</a:t>
            </a:r>
            <a:endParaRPr lang="en-US" sz="19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1016000" y="3937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endParaRPr lang="zh-CN" alt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4445000" y="1384935"/>
            <a:ext cx="3335020" cy="4838065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66945" y="156337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7"/>
            </p:custDataLst>
          </p:nvPr>
        </p:nvSpPr>
        <p:spPr>
          <a:xfrm>
            <a:off x="5334000" y="151257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9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AI数据库设计</a:t>
            </a:r>
            <a:endParaRPr lang="en-US" sz="19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8"/>
            </p:custDataLst>
          </p:nvPr>
        </p:nvSpPr>
        <p:spPr>
          <a:xfrm>
            <a:off x="1076325" y="2127250"/>
            <a:ext cx="2733675" cy="2291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给ai提示词</a:t>
            </a:r>
            <a:endParaRPr lang="en-US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项目：校园二手交易小程序</a:t>
            </a:r>
            <a:endParaRPr lang="zh-CN" altLang="en-US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技术栈：</a:t>
            </a:r>
            <a:r>
              <a:rPr lang="en-US" altLang="zh-CN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Java SpringBoot + MySQL + Redis + </a:t>
            </a:r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微信小程序端 + 后端管理后台</a:t>
            </a:r>
            <a:endParaRPr lang="zh-CN" altLang="en-US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用户规模：全校2万学生，日常并发不高</a:t>
            </a:r>
            <a:endParaRPr lang="zh-CN" altLang="en-US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请设计：分层系统架构、模块拆分、技术作用说明，用文字+层级结构说明</a:t>
            </a:r>
            <a:endParaRPr lang="zh-CN" altLang="en-US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9"/>
            </p:custDataLst>
          </p:nvPr>
        </p:nvSpPr>
        <p:spPr>
          <a:xfrm>
            <a:off x="4664075" y="2153285"/>
            <a:ext cx="2917190" cy="38925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给ai提示词</a:t>
            </a:r>
            <a:endParaRPr lang="zh-CN" altLang="en-US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zh-CN" altLang="en-US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校园二手交易小程序，根据角色和功能，设计核心数据库表：用户表、商品表、求购表、聊天记录表、管理员表。</a:t>
            </a:r>
            <a:endParaRPr lang="zh-CN" altLang="en-US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要求：给出每个表字段、主键、常用索引，输出可直接执行的</a:t>
            </a:r>
            <a:r>
              <a:rPr lang="en-US" altLang="zh-CN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MySQL</a:t>
            </a:r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建表语句。</a:t>
            </a:r>
            <a:endParaRPr lang="zh-CN" altLang="en-US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zh-CN" altLang="en-US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例如：</a:t>
            </a:r>
            <a:r>
              <a:rPr lang="en-US" altLang="zh-CN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CREATE TABLE `user` (</a:t>
            </a:r>
            <a:endParaRPr lang="en-US" altLang="zh-CN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 `id` bigint PRIMARY KEY AUTO_INCREMENT,</a:t>
            </a:r>
            <a:endParaRPr lang="en-US" altLang="zh-CN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 `openid` varchar(50) NOT NULL COMMENT '</a:t>
            </a:r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微信</a:t>
            </a:r>
            <a:r>
              <a:rPr lang="en-US" altLang="zh-CN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openid',</a:t>
            </a:r>
            <a:endParaRPr lang="en-US" altLang="zh-CN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 `nickname` varchar(30) DEFAULT '',</a:t>
            </a:r>
            <a:endParaRPr lang="en-US" altLang="zh-CN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CURRENT_TIMESTAMP,</a:t>
            </a:r>
            <a:endParaRPr lang="en-US" altLang="zh-CN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 INDEX idx_openid(openid)</a:t>
            </a:r>
            <a:endParaRPr lang="en-US" altLang="zh-CN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) COMMENT '</a:t>
            </a:r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用户表';</a:t>
            </a:r>
            <a:endParaRPr lang="zh-CN" altLang="en-US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AutoShape 12"/>
          <p:cNvSpPr/>
          <p:nvPr>
            <p:custDataLst>
              <p:tags r:id="rId20"/>
            </p:custDataLst>
          </p:nvPr>
        </p:nvSpPr>
        <p:spPr>
          <a:xfrm>
            <a:off x="8162290" y="1437005"/>
            <a:ext cx="3335020" cy="4838065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3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84235" y="1615440"/>
            <a:ext cx="457200" cy="457200"/>
          </a:xfrm>
          <a:prstGeom prst="rect">
            <a:avLst/>
          </a:prstGeom>
        </p:spPr>
      </p:pic>
      <p:sp>
        <p:nvSpPr>
          <p:cNvPr id="17" name="AutoShape 14"/>
          <p:cNvSpPr/>
          <p:nvPr>
            <p:custDataLst>
              <p:tags r:id="rId22"/>
            </p:custDataLst>
          </p:nvPr>
        </p:nvSpPr>
        <p:spPr>
          <a:xfrm>
            <a:off x="9058275" y="156464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9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AI</a:t>
            </a:r>
            <a:r>
              <a:rPr lang="zh-CN" altLang="en-US" sz="19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接口</a:t>
            </a:r>
            <a:r>
              <a:rPr lang="zh-CN" altLang="en-US" sz="19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设计</a:t>
            </a:r>
            <a:endParaRPr lang="zh-CN" altLang="en-US" sz="19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3"/>
            </p:custDataLst>
          </p:nvPr>
        </p:nvSpPr>
        <p:spPr>
          <a:xfrm>
            <a:off x="8354060" y="2219325"/>
            <a:ext cx="2917190" cy="28917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给ai提示词</a:t>
            </a:r>
            <a:endParaRPr lang="zh-CN" altLang="en-US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zh-CN" altLang="en-US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给校园二手小程序设计3个核心接口：用户登录、发布商品、商品列表分页查询。</a:t>
            </a:r>
            <a:endParaRPr lang="zh-CN" altLang="en-US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输出：接口地址、请求方式、请求参数、返回参数说明。</a:t>
            </a:r>
            <a:endParaRPr lang="zh-CN" altLang="en-US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例如：发布商品接口</a:t>
            </a:r>
            <a:endParaRPr lang="zh-CN" altLang="en-US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请求地址：/</a:t>
            </a:r>
            <a:r>
              <a:rPr lang="en-US" altLang="zh-CN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api/goods/publish</a:t>
            </a:r>
            <a:endParaRPr lang="en-US" altLang="zh-CN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请求方式：</a:t>
            </a:r>
            <a:r>
              <a:rPr lang="en-US" altLang="zh-CN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POST</a:t>
            </a:r>
            <a:endParaRPr lang="en-US" altLang="zh-CN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请求参数：</a:t>
            </a:r>
            <a:r>
              <a:rPr lang="en-US" altLang="zh-CN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title、price、categoryId、content、imgUrls</a:t>
            </a:r>
            <a:endParaRPr lang="en-US" altLang="zh-CN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返回：</a:t>
            </a:r>
            <a:r>
              <a:rPr lang="en-US" altLang="zh-CN" sz="1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success、msg、goodsId</a:t>
            </a:r>
            <a:endParaRPr lang="en-US" altLang="zh-CN" sz="130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编码与实现：从“手动敲码”到“对话式编程”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4826000" cy="1397000"/>
          </a:xfrm>
          <a:prstGeom prst="roundRect">
            <a:avLst>
              <a:gd name="adj" fmla="val 7272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96850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当前痛点与挑战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F0FD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重复枯燥的 CRUD 操作、繁琐的 API 接口调用、记忆复杂的语法规则与框架细节，消耗大量精力。</a:t>
            </a:r>
            <a:endParaRPr lang="en-US" sz="1300" b="0" i="0" u="none" strike="noStrike">
              <a:solidFill>
                <a:srgbClr val="F0FDF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t="3216" b="3216"/>
          <a:stretch>
            <a:fillRect/>
          </a:stretch>
        </p:blipFill>
        <p:spPr>
          <a:xfrm>
            <a:off x="762000" y="3556000"/>
            <a:ext cx="4826000" cy="2540000"/>
          </a:xfrm>
          <a:prstGeom prst="roundRect">
            <a:avLst>
              <a:gd name="adj" fmla="val 400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5969000" y="1778000"/>
            <a:ext cx="27305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23000" y="2032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6858000" y="2032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智能代码补全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6223000" y="2794000"/>
            <a:ext cx="222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 GitHub Copilot 为代表，能根据上下文实时提供整行、整块甚至整个函数的代码建议，大幅减少敲码时间。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8890000" y="1778000"/>
            <a:ext cx="27305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144000" y="2032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9779000" y="2032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自然语言生成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9144000" y="2794000"/>
            <a:ext cx="222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直接用人类的自然语言描述功能需求，AI 即可将其转化为高质量、可执行的代码，实现“所想即所得”。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7"/>
            </p:custDataLst>
          </p:nvPr>
        </p:nvSpPr>
        <p:spPr>
          <a:xfrm>
            <a:off x="5969000" y="4191000"/>
            <a:ext cx="27305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223000" y="44450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1"/>
            </p:custDataLst>
          </p:nvPr>
        </p:nvSpPr>
        <p:spPr>
          <a:xfrm>
            <a:off x="6858000" y="4445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跨语言翻译与解释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22"/>
            </p:custDataLst>
          </p:nvPr>
        </p:nvSpPr>
        <p:spPr>
          <a:xfrm>
            <a:off x="6223000" y="5207000"/>
            <a:ext cx="222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轻松将代码在不同语言间互译，或让 AI 解释一段复杂晦涩的正则表达式、算法逻辑，降低技术门槛。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23"/>
            </p:custDataLst>
          </p:nvPr>
        </p:nvSpPr>
        <p:spPr>
          <a:xfrm>
            <a:off x="8890000" y="4191000"/>
            <a:ext cx="27305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144000" y="4445000"/>
            <a:ext cx="457200" cy="457200"/>
          </a:xfrm>
          <a:prstGeom prst="rect">
            <a:avLst/>
          </a:prstGeom>
        </p:spPr>
      </p:pic>
      <p:sp>
        <p:nvSpPr>
          <p:cNvPr id="22" name="AutoShape 22"/>
          <p:cNvSpPr/>
          <p:nvPr>
            <p:custDataLst>
              <p:tags r:id="rId27"/>
            </p:custDataLst>
          </p:nvPr>
        </p:nvSpPr>
        <p:spPr>
          <a:xfrm>
            <a:off x="9779000" y="4445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代码重构与优化</a:t>
            </a:r>
            <a:endParaRPr lang="en-US" sz="1100"/>
          </a:p>
        </p:txBody>
      </p:sp>
      <p:sp>
        <p:nvSpPr>
          <p:cNvPr id="23" name="AutoShape 23"/>
          <p:cNvSpPr/>
          <p:nvPr>
            <p:custDataLst>
              <p:tags r:id="rId28"/>
            </p:custDataLst>
          </p:nvPr>
        </p:nvSpPr>
        <p:spPr>
          <a:xfrm>
            <a:off x="9144000" y="5207000"/>
            <a:ext cx="222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选中一段“坏味道”代码，AI 能快速进行结构重构，提升代码的可读性、规范性，并给出性能优化建议。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编码与实现：从“手动敲码”到“对话式编程”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848995" y="1832610"/>
            <a:ext cx="4613275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2995" y="208661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5648960" y="1832610"/>
            <a:ext cx="4686935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67400" y="203581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848995" y="4245610"/>
            <a:ext cx="4613275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2995" y="4499610"/>
            <a:ext cx="457200" cy="457200"/>
          </a:xfrm>
          <a:prstGeom prst="rect">
            <a:avLst/>
          </a:prstGeom>
        </p:spPr>
      </p:pic>
      <p:sp>
        <p:nvSpPr>
          <p:cNvPr id="24" name="AutoShape 10"/>
          <p:cNvSpPr/>
          <p:nvPr>
            <p:custDataLst>
              <p:tags r:id="rId16"/>
            </p:custDataLst>
          </p:nvPr>
        </p:nvSpPr>
        <p:spPr>
          <a:xfrm>
            <a:off x="1873885" y="203581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项目+技术栈</a:t>
            </a:r>
            <a:endParaRPr lang="en-US" sz="16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AutoShape 11"/>
          <p:cNvSpPr/>
          <p:nvPr>
            <p:custDataLst>
              <p:tags r:id="rId17"/>
            </p:custDataLst>
          </p:nvPr>
        </p:nvSpPr>
        <p:spPr>
          <a:xfrm>
            <a:off x="1560195" y="2437765"/>
            <a:ext cx="3460115" cy="15284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我现在用【技术栈：Java SpringBoot3 / Vue3 / Python / UniApp】</a:t>
            </a:r>
            <a:endParaRPr lang="en-US" sz="1200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defRPr/>
            </a:pPr>
            <a:r>
              <a:rPr lang="en-US" sz="120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做一个【项目名称】，现在需要实现【具体功能】</a:t>
            </a:r>
            <a:endParaRPr lang="en-US" sz="1200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defRPr/>
            </a:pPr>
            <a:r>
              <a:rPr lang="en-US" sz="120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要求：给我完整可运行代码、加详细注释、简易结构、不要过度封装。</a:t>
            </a:r>
            <a:endParaRPr lang="en-US" sz="1200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7" name="AutoShape 10"/>
          <p:cNvSpPr/>
          <p:nvPr>
            <p:custDataLst>
              <p:tags r:id="rId18"/>
            </p:custDataLst>
          </p:nvPr>
        </p:nvSpPr>
        <p:spPr>
          <a:xfrm>
            <a:off x="6658610" y="2035810"/>
            <a:ext cx="238506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设计思路</a:t>
            </a:r>
            <a:r>
              <a:rPr lang="en-US" altLang="zh-CN" sz="16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+</a:t>
            </a:r>
            <a:r>
              <a:rPr lang="zh-CN" altLang="en-US" sz="16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逻辑流程</a:t>
            </a:r>
            <a:endParaRPr lang="zh-CN" altLang="en-US" sz="16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8" name="AutoShape 11"/>
          <p:cNvSpPr/>
          <p:nvPr>
            <p:custDataLst>
              <p:tags r:id="rId19"/>
            </p:custDataLst>
          </p:nvPr>
        </p:nvSpPr>
        <p:spPr>
          <a:xfrm>
            <a:off x="6372225" y="2437765"/>
            <a:ext cx="3460115" cy="1412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20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先帮我梳理这个功能的实现思路、业务流程、需要哪些实体类 / 接口，不用写代码。</a:t>
            </a:r>
            <a:endParaRPr lang="zh-CN" altLang="en-US" sz="1200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defRPr/>
            </a:pPr>
            <a:r>
              <a:rPr lang="zh-CN" altLang="en-US" sz="120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帮我生成这个功能的实体类，字段齐全、加注释、符合驼峰命名。接着写 </a:t>
            </a:r>
            <a:r>
              <a:rPr lang="en-US" altLang="zh-CN" sz="120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Mapper </a:t>
            </a:r>
            <a:r>
              <a:rPr lang="zh-CN" altLang="en-US" sz="120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接口和 </a:t>
            </a:r>
            <a:r>
              <a:rPr lang="en-US" altLang="zh-CN" sz="120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XML。</a:t>
            </a:r>
            <a:r>
              <a:rPr lang="zh-CN" altLang="en-US" sz="120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再写 </a:t>
            </a:r>
            <a:r>
              <a:rPr lang="en-US" altLang="zh-CN" sz="120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Service </a:t>
            </a:r>
            <a:r>
              <a:rPr lang="zh-CN" altLang="en-US" sz="120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层业务逻辑，加参数校验。最后写 </a:t>
            </a:r>
            <a:r>
              <a:rPr lang="en-US" altLang="zh-CN" sz="120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Controller </a:t>
            </a:r>
            <a:r>
              <a:rPr lang="zh-CN" altLang="en-US" sz="120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接口，统一返回结果格式。</a:t>
            </a:r>
            <a:endParaRPr lang="zh-CN" altLang="en-US" sz="1200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AutoShape 10"/>
          <p:cNvSpPr/>
          <p:nvPr>
            <p:custDataLst>
              <p:tags r:id="rId20"/>
            </p:custDataLst>
          </p:nvPr>
        </p:nvSpPr>
        <p:spPr>
          <a:xfrm>
            <a:off x="1873885" y="4499610"/>
            <a:ext cx="238506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运行报错</a:t>
            </a:r>
            <a:r>
              <a:rPr lang="en-US" altLang="zh-CN" sz="16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+</a:t>
            </a:r>
            <a:r>
              <a:rPr lang="zh-CN" altLang="en-US" sz="16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对话式排</a:t>
            </a:r>
            <a:r>
              <a:rPr lang="zh-CN" altLang="en-US" sz="16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错</a:t>
            </a:r>
            <a:endParaRPr lang="zh-CN" altLang="en-US" sz="16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AutoShape 11"/>
          <p:cNvSpPr/>
          <p:nvPr>
            <p:custDataLst>
              <p:tags r:id="rId21"/>
            </p:custDataLst>
          </p:nvPr>
        </p:nvSpPr>
        <p:spPr>
          <a:xfrm>
            <a:off x="1422400" y="4817110"/>
            <a:ext cx="3460115" cy="15284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20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直接贴报错</a:t>
            </a:r>
            <a:r>
              <a:rPr lang="en-US" altLang="zh-CN" sz="120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+</a:t>
            </a:r>
            <a:r>
              <a:rPr lang="zh-CN" altLang="en-US" sz="120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代码</a:t>
            </a:r>
            <a:r>
              <a:rPr lang="en-US" sz="120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。</a:t>
            </a:r>
            <a:r>
              <a:rPr lang="zh-CN" altLang="en-US" sz="120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帮我加上参数校验、异常捕获</a:t>
            </a:r>
            <a:endParaRPr lang="zh-CN" altLang="en-US" sz="1200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defRPr/>
            </a:pPr>
            <a:r>
              <a:rPr lang="zh-CN" altLang="en-US" sz="120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帮我简化代码、去掉冗余，加上日志，打印适配分页、加排序，改成事务控制，写一份接口调用示例</a:t>
            </a:r>
            <a:endParaRPr lang="zh-CN" altLang="en-US" sz="1200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测试与质量保障：AI驱动的“测试左移”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87500"/>
            <a:ext cx="10668000" cy="952500"/>
          </a:xfrm>
          <a:prstGeom prst="roundRect">
            <a:avLst>
              <a:gd name="adj" fmla="val 10666"/>
            </a:avLst>
          </a:prstGeom>
          <a:solidFill>
            <a:srgbClr val="00A99D">
              <a:alpha val="8000"/>
            </a:srgbClr>
          </a:solidFill>
          <a:ln w="12700" cap="flat" cmpd="sng">
            <a:solidFill>
              <a:srgbClr val="00A99D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78000"/>
            <a:ext cx="558800" cy="558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714500"/>
            <a:ext cx="939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核心挑战：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测试用例编写耗时费力、业务场景覆盖率不足、版本迭代快导致回归测试执行缓慢，难以保障交付质量。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762000" y="2857500"/>
            <a:ext cx="5334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111500"/>
            <a:ext cx="711200" cy="7112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1968500" y="2984500"/>
            <a:ext cx="393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自动化测试用例生成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基于代码逻辑自动生成单元、集成及端到端测试，覆盖复杂的边界条件，显著提升测试覆盖度。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762000" y="4191000"/>
            <a:ext cx="5334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6000" y="4445000"/>
            <a:ext cx="711200" cy="7112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1968500" y="4318000"/>
            <a:ext cx="393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智能测试执行与修复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自动执行测试任务，失败时即时分析日志并定位根因，提供修复建议，甚至自动修改代码以完成自我修复。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762000" y="5397500"/>
            <a:ext cx="5334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6000" y="5651500"/>
            <a:ext cx="711200" cy="7112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8"/>
            </p:custDataLst>
          </p:nvPr>
        </p:nvSpPr>
        <p:spPr>
          <a:xfrm>
            <a:off x="1968500" y="5524500"/>
            <a:ext cx="393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代码审查 (Code Review)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作为代码审查的第一道防线，自动检查代码风格一致性、潜在逻辑Bug、安全漏洞及性能瓶颈。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9"/>
          <a:srcRect t="2500" b="2500"/>
          <a:stretch>
            <a:fillRect/>
          </a:stretch>
        </p:blipFill>
        <p:spPr>
          <a:xfrm>
            <a:off x="6350000" y="2984500"/>
            <a:ext cx="5080000" cy="3619500"/>
          </a:xfrm>
          <a:prstGeom prst="roundRect">
            <a:avLst>
              <a:gd name="adj" fmla="val 4210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部署与运维：AI赋能的DevOps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9443" r="19443"/>
          <a:stretch>
            <a:fillRect/>
          </a:stretch>
        </p:blipFill>
        <p:spPr>
          <a:xfrm>
            <a:off x="762000" y="2032000"/>
            <a:ext cx="4826000" cy="4064000"/>
          </a:xfrm>
          <a:prstGeom prst="roundRect">
            <a:avLst>
              <a:gd name="adj" fmla="val 375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6096000" y="2032000"/>
            <a:ext cx="5334000" cy="1397000"/>
          </a:xfrm>
          <a:prstGeom prst="roundRect">
            <a:avLst>
              <a:gd name="adj" fmla="val 10909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0" y="23495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112000" y="22225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当前痛点与挑战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部署流程繁琐复杂，配置文件维护成本高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系统故障排查依赖人工经验，耗时费力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服务器资源分配不合理，造成浪费或性能瓶颈</a:t>
            </a:r>
            <a:endParaRPr lang="en-US" sz="1300" b="0" i="0" u="none" strike="noStrike">
              <a:solidFill>
                <a:srgbClr val="F3F4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096000" y="3683000"/>
            <a:ext cx="1651000" cy="2540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65900" y="3937000"/>
            <a:ext cx="711200" cy="711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223000" y="4826000"/>
            <a:ext cx="139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自动化CI/CD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基于项目技术栈自动生成配置文件，大幅简化部署流程。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937500" y="3683000"/>
            <a:ext cx="1651000" cy="2540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07400" y="3937000"/>
            <a:ext cx="711200" cy="711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064500" y="4826000"/>
            <a:ext cx="139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智能监控告警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实时分析日志与指标，自动定位根因并在影响用户前预警。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9779000" y="3683000"/>
            <a:ext cx="1651000" cy="2540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48900" y="3937000"/>
            <a:ext cx="711200" cy="711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906000" y="4826000"/>
            <a:ext cx="139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动态资源优化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基于应用负载自动扩缩容，在保障性能的同时实现成本最优。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715000" y="3429000"/>
            <a:ext cx="762000" cy="762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064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主流AI开发工具矩阵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46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200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MAINSTREAM AI DEVELOPMENT TOOL MATRIX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工具分类与选型指南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841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8034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GitHub Copilot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IDE 集成助手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16000" y="2667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核心优势：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生态深度融合、代码补全精准，覆盖主流语言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📍 适用场景：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日常高频编码、多人协作开发项目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302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165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1841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80000" y="18034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Amazon CodeWhisperer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IDE 集成助手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699000" y="2667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核心优势：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深度绑定 AWS 生态、内置漏洞与安全扫描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📍 适用场景：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AWS 云原生应用开发、运维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1651000"/>
            <a:ext cx="3302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28000" y="165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1841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763000" y="18034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Cursor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原生 IDE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382000" y="2667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核心优势：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具备项目级代码理解能力、Plan Mode 智能规划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📍 适用场景：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大型项目重构、VS Code 重度用户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4191000"/>
            <a:ext cx="3302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419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381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397000" y="43434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Trae (字节跳动)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原生 IDE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1016000" y="5207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核心优势：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中文语境深度适配、研发全流程自动化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📍 适用场景：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国内开发者、复杂的中文业务逻辑实现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4445000" y="4191000"/>
            <a:ext cx="3302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4445000" y="419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99000" y="43815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5080000" y="43434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CodeLlama (Meta)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 / 私有化部署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4699000" y="5207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核心优势：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完全开源免费、支持本地化部署与二次微调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📍 适用场景：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技术团队自建AI服务、涉及数据敏感的项目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8128000" y="4191000"/>
            <a:ext cx="3302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128000" y="419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82000" y="43815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8763000" y="43434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Tabnine &amp; Replit AI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企业级安全 / 云端一体化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8382000" y="5207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🛡️ Tabnine：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企业级隐私保护，适用于金融/军工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🌐 Replit AI：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浏览器内零配置开发，适合快速原型与教学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核心工具深度解析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22665" r="22665"/>
          <a:stretch>
            <a:fillRect/>
          </a:stretch>
        </p:blipFill>
        <p:spPr>
          <a:xfrm>
            <a:off x="952500" y="2032000"/>
            <a:ext cx="2921000" cy="1143000"/>
          </a:xfrm>
          <a:prstGeom prst="roundRect">
            <a:avLst>
              <a:gd name="adj" fmla="val 888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952500" y="3429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GitHub Copilot X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4064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定位：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生态标杆型编码伴侣，与GitHub生态深度集成。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核心能力：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Inline Completion、Copilot Chat、Workspace/Agent Mode (2026新功能)。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适合人群：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重度使用GitHub生态、追求稳定和企业级支持的开发者。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l="785" r="785"/>
          <a:stretch>
            <a:fillRect/>
          </a:stretch>
        </p:blipFill>
        <p:spPr>
          <a:xfrm>
            <a:off x="4635500" y="2032000"/>
            <a:ext cx="2921000" cy="1143000"/>
          </a:xfrm>
          <a:prstGeom prst="roundRect">
            <a:avLst>
              <a:gd name="adj" fmla="val 888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4635500" y="3429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Cursor IDE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4064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定位：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专为AI时代打造的智能代码编辑器，AI原生设计。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核心能力：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项目级代码理解、Plan Mode规划、自定义规则与批量代码修改。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适合人群：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追求极致开发体验、需要处理大型项目重构的开发者。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1778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318500" y="2032000"/>
            <a:ext cx="2921000" cy="1143000"/>
          </a:xfrm>
          <a:prstGeom prst="roundRect">
            <a:avLst>
              <a:gd name="adj" fmla="val 8888"/>
            </a:avLst>
          </a:prstGeom>
          <a:solidFill>
            <a:srgbClr val="00A99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0" y="2222500"/>
            <a:ext cx="762000" cy="762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652000" y="22225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Trae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字节跳动出品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318500" y="3429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全流程自动化 IDE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18500" y="4064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定位：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面向国内市场的全流程自动化AI原生IDE。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核心能力：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SOLO智能体自主交付、多模态输入、超长上下文管理及中文语境深度适配。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适合人群：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国内开发者、期望AI深度参与并“自主交付”项目的团队。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3556000"/>
            <a:ext cx="1016000" cy="762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318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实战案例：AI驱动的微服务开发之旅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58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spc="400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AI-POWERED MICROSERVICES DEVELOPMENT JOURNEY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案例：开发“用户反馈微服务”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556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21590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968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项目需求定义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开发一个轻量级微服务，实现</a:t>
            </a:r>
            <a:r>
              <a:rPr lang="en-US" sz="13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用户提交反馈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3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管理员后台处理反馈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的闭环功能。技术选型指定为</a:t>
            </a:r>
            <a:r>
              <a:rPr lang="en-US" sz="13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 + FastAPI + SQLite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，要求代码结构清晰且可快速部署。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191000"/>
            <a:ext cx="3556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419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4381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🚀 效率与质量双升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953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原本需要</a:t>
            </a:r>
            <a:r>
              <a:rPr lang="en-US" sz="1300" b="1" i="0" u="none" strike="noStrike">
                <a:solidFill>
                  <a:srgbClr val="D930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3-5 天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的全流程开发，借助 AI 辅助缩短至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2-3 小时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内完成交付。同时，实现了代码结构规范化，并保持了极高的单元测试覆盖率。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826000" y="1778000"/>
            <a:ext cx="660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全链路开发流程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826000" y="2413000"/>
            <a:ext cx="1270000" cy="1778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7000" y="26035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889500" y="3302000"/>
            <a:ext cx="114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需求澄清与初始化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AI生成目录结构与技术选型建议</a:t>
            </a:r>
            <a:endParaRPr lang="en-US" sz="11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2413000"/>
            <a:ext cx="1270000" cy="1778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6035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286500" y="3302000"/>
            <a:ext cx="114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核心代码自动生成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一键生成模型定义与API接口逻辑</a:t>
            </a:r>
            <a:endParaRPr lang="en-US" sz="11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0" y="2413000"/>
            <a:ext cx="1270000" cy="1778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01000" y="26035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683500" y="3302000"/>
            <a:ext cx="114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自动生成测试用例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覆盖所有端点的单元测试代码</a:t>
            </a:r>
            <a:endParaRPr lang="en-US" sz="11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9017000" y="2413000"/>
            <a:ext cx="1270000" cy="1778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98000" y="2603500"/>
            <a:ext cx="508000" cy="508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080500" y="3302000"/>
            <a:ext cx="114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代码审查与优化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辅助代码规范检查与逻辑优化</a:t>
            </a:r>
            <a:endParaRPr lang="en-US" sz="11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4826000" y="4572000"/>
            <a:ext cx="6731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0"/>
          <a:srcRect l="12471" r="12471"/>
          <a:stretch>
            <a:fillRect/>
          </a:stretch>
        </p:blipFill>
        <p:spPr>
          <a:xfrm>
            <a:off x="5080000" y="4826000"/>
            <a:ext cx="889000" cy="889000"/>
          </a:xfrm>
          <a:prstGeom prst="roundRect">
            <a:avLst>
              <a:gd name="adj" fmla="val 1142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7" name="AutoShape 27"/>
          <p:cNvSpPr/>
          <p:nvPr/>
        </p:nvSpPr>
        <p:spPr>
          <a:xfrm>
            <a:off x="6096000" y="4953000"/>
            <a:ext cx="114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FastAPI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高性能 Web 框架</a:t>
            </a:r>
            <a:endParaRPr lang="en-US" sz="12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1"/>
          <a:srcRect l="27739" r="27739"/>
          <a:stretch>
            <a:fillRect/>
          </a:stretch>
        </p:blipFill>
        <p:spPr>
          <a:xfrm>
            <a:off x="7493000" y="4826000"/>
            <a:ext cx="889000" cy="889000"/>
          </a:xfrm>
          <a:prstGeom prst="roundRect">
            <a:avLst>
              <a:gd name="adj" fmla="val 1142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9" name="AutoShape 29"/>
          <p:cNvSpPr/>
          <p:nvPr/>
        </p:nvSpPr>
        <p:spPr>
          <a:xfrm>
            <a:off x="8509000" y="4953000"/>
            <a:ext cx="114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SQLite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轻量级数据库引擎</a:t>
            </a:r>
            <a:endParaRPr lang="en-US" sz="12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9779000" y="4826000"/>
            <a:ext cx="889000" cy="889000"/>
          </a:xfrm>
          <a:prstGeom prst="roundRect">
            <a:avLst>
              <a:gd name="adj" fmla="val 1142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1" name="AutoShape 31"/>
          <p:cNvSpPr/>
          <p:nvPr/>
        </p:nvSpPr>
        <p:spPr>
          <a:xfrm>
            <a:off x="9588500" y="58420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Zeabur 一键部署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05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3429000"/>
            <a:ext cx="1016000" cy="762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064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未来展望：从辅助工具到自主伙伴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334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FUTURE OUTLOOK: FROM AUXILIARY TO AUTONOMOUS PARTNER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Agent：软件开发的“数字员工”</a:t>
            </a:r>
            <a:endParaRPr lang="en-US" sz="1100"/>
          </a:p>
        </p:txBody>
      </p:sp>
      <p:graphicFrame>
        <p:nvGraphicFramePr>
          <p:cNvPr id="14" name="表格 13"/>
          <p:cNvGraphicFramePr/>
          <p:nvPr/>
        </p:nvGraphicFramePr>
        <p:xfrm>
          <a:off x="762000" y="1706880"/>
          <a:ext cx="10485120" cy="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  <a:gridCol w="2621280"/>
              </a:tblGrid>
              <a:tr h="0"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框架</a:t>
                      </a:r>
                      <a:endParaRPr lang="zh-CN" altLang="en-US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核心优势</a:t>
                      </a:r>
                      <a:endParaRPr lang="zh-CN" altLang="en-US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适用场景</a:t>
                      </a:r>
                      <a:endParaRPr lang="zh-CN" altLang="en-US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难度</a:t>
                      </a:r>
                      <a:endParaRPr lang="zh-CN" altLang="en-US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LangGraph</a:t>
                      </a:r>
                      <a:endParaRPr lang="en-US" altLang="zh-CN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状态管理、循环 </a:t>
                      </a:r>
                      <a:r>
                        <a:rPr lang="en-US" altLang="zh-CN" sz="1100"/>
                        <a:t>/ </a:t>
                      </a:r>
                      <a:r>
                        <a:rPr lang="zh-CN" altLang="en-US" sz="1100"/>
                        <a:t>分支流程、可视化</a:t>
                      </a:r>
                      <a:endParaRPr lang="zh-CN" altLang="en-US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复杂任务、客服、数据分析</a:t>
                      </a:r>
                      <a:endParaRPr lang="zh-CN" altLang="en-US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中</a:t>
                      </a:r>
                      <a:endParaRPr lang="zh-CN" altLang="en-US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CrewAI</a:t>
                      </a:r>
                      <a:endParaRPr lang="en-US" altLang="zh-CN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角色化分工、低代码、自动任务分配</a:t>
                      </a:r>
                      <a:endParaRPr lang="zh-CN" altLang="en-US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多 </a:t>
                      </a:r>
                      <a:r>
                        <a:rPr lang="en-US" altLang="zh-CN" sz="1100"/>
                        <a:t>Agent </a:t>
                      </a:r>
                      <a:r>
                        <a:rPr lang="zh-CN" altLang="en-US" sz="1100"/>
                        <a:t>协作、内容创作、市场调研</a:t>
                      </a:r>
                      <a:endParaRPr lang="zh-CN" altLang="en-US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低</a:t>
                      </a:r>
                      <a:endParaRPr lang="zh-CN" altLang="en-US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AutoGen</a:t>
                      </a:r>
                      <a:endParaRPr lang="en-US" altLang="zh-CN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多 </a:t>
                      </a:r>
                      <a:r>
                        <a:rPr lang="en-US" altLang="zh-CN" sz="1100"/>
                        <a:t>Agent </a:t>
                      </a:r>
                      <a:r>
                        <a:rPr lang="zh-CN" altLang="en-US" sz="1100"/>
                        <a:t>对话、协商、角色定制</a:t>
                      </a:r>
                      <a:endParaRPr lang="zh-CN" altLang="en-US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辩论、代码生成、群聊模拟</a:t>
                      </a:r>
                      <a:endParaRPr lang="zh-CN" altLang="en-US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中</a:t>
                      </a:r>
                      <a:endParaRPr lang="zh-CN" altLang="en-US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Spring AI</a:t>
                      </a:r>
                      <a:endParaRPr lang="en-US" altLang="zh-CN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Java </a:t>
                      </a:r>
                      <a:r>
                        <a:rPr lang="zh-CN" altLang="en-US" sz="1100"/>
                        <a:t>生态、企业级集成</a:t>
                      </a:r>
                      <a:endParaRPr lang="zh-CN" altLang="en-US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后端服务、微服务、合规场景</a:t>
                      </a:r>
                      <a:endParaRPr lang="zh-CN" altLang="en-US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中</a:t>
                      </a:r>
                      <a:endParaRPr lang="zh-CN" altLang="en-US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Dify/Coze</a:t>
                      </a:r>
                      <a:endParaRPr lang="en-US" altLang="zh-CN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低代码 </a:t>
                      </a:r>
                      <a:r>
                        <a:rPr lang="en-US" altLang="zh-CN" sz="1100"/>
                        <a:t>/ </a:t>
                      </a:r>
                      <a:r>
                        <a:rPr lang="zh-CN" altLang="en-US" sz="1100"/>
                        <a:t>无代码、可视化编排</a:t>
                      </a:r>
                      <a:endParaRPr lang="zh-CN" altLang="en-US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快速原型、业务人员开发</a:t>
                      </a:r>
                      <a:endParaRPr lang="zh-CN" altLang="en-US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极低</a:t>
                      </a:r>
                      <a:endParaRPr lang="zh-CN" altLang="en-US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762000" y="1270000"/>
            <a:ext cx="18154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1.选择主流框架</a:t>
            </a:r>
            <a:endParaRPr lang="en-US" sz="16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62000" y="3698875"/>
            <a:ext cx="18154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2.</a:t>
            </a:r>
            <a:r>
              <a:rPr lang="zh-CN" altLang="en-US" sz="16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制定</a:t>
            </a:r>
            <a:r>
              <a:rPr lang="zh-CN" altLang="en-US" sz="16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核心架构</a:t>
            </a:r>
            <a:endParaRPr lang="zh-CN" altLang="en-US" sz="16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29945" y="3992880"/>
            <a:ext cx="10417175" cy="2135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1.</a:t>
            </a:r>
            <a:r>
              <a:rPr lang="zh-CN" altLang="en-US" b="1"/>
              <a:t>基础架构</a:t>
            </a:r>
            <a:r>
              <a:rPr lang="en-US" altLang="zh-CN"/>
              <a:t> </a:t>
            </a:r>
            <a:endParaRPr lang="en-US" altLang="zh-CN"/>
          </a:p>
          <a:p>
            <a:r>
              <a:rPr lang="zh-CN" altLang="en-US"/>
              <a:t>用户输入 → 感知层 → 规划层（</a:t>
            </a:r>
            <a:r>
              <a:rPr lang="en-US" altLang="zh-CN"/>
              <a:t>LLM）→ </a:t>
            </a:r>
            <a:r>
              <a:rPr lang="zh-CN" altLang="en-US"/>
              <a:t>执行层（工具）→ 反思层 → 输出/循环</a:t>
            </a:r>
            <a:endParaRPr lang="zh-CN" altLang="en-US"/>
          </a:p>
          <a:p>
            <a:r>
              <a:rPr lang="en-US" altLang="zh-CN" b="1"/>
              <a:t>2. </a:t>
            </a:r>
            <a:r>
              <a:rPr lang="zh-CN" altLang="en-US" b="1"/>
              <a:t>关键组件</a:t>
            </a:r>
            <a:r>
              <a:rPr lang="en-US" altLang="zh-CN"/>
              <a:t> </a:t>
            </a:r>
            <a:endParaRPr lang="en-US" altLang="zh-CN"/>
          </a:p>
          <a:p>
            <a:r>
              <a:rPr lang="zh-CN" altLang="en-US"/>
              <a:t>记忆（</a:t>
            </a:r>
            <a:r>
              <a:rPr lang="en-US" altLang="zh-CN"/>
              <a:t>Memory）</a:t>
            </a:r>
            <a:endParaRPr lang="en-US" altLang="zh-CN"/>
          </a:p>
          <a:p>
            <a:r>
              <a:rPr lang="zh-CN" altLang="en-US"/>
              <a:t>短期：对话上下文（</a:t>
            </a:r>
            <a:r>
              <a:rPr lang="en-US" altLang="zh-CN"/>
              <a:t>LangChain ConversationBufferMemory）</a:t>
            </a:r>
            <a:endParaRPr lang="en-US" altLang="zh-CN"/>
          </a:p>
          <a:p>
            <a:r>
              <a:rPr lang="zh-CN" altLang="en-US"/>
              <a:t>长期：向量数据库（</a:t>
            </a:r>
            <a:r>
              <a:rPr lang="en-US" altLang="zh-CN"/>
              <a:t>Pinecone/Chroma）</a:t>
            </a:r>
            <a:r>
              <a:rPr lang="zh-CN" altLang="en-US"/>
              <a:t>存历史知识</a:t>
            </a:r>
            <a:endParaRPr lang="zh-CN" altLang="en-US"/>
          </a:p>
          <a:p>
            <a:r>
              <a:rPr lang="zh-CN" altLang="en-US"/>
              <a:t>情景：任务执行日志，用于复盘</a:t>
            </a:r>
            <a:endParaRPr lang="zh-CN" altLang="en-US"/>
          </a:p>
          <a:p>
            <a:r>
              <a:rPr lang="zh-CN" altLang="en-US"/>
              <a:t>工具（</a:t>
            </a:r>
            <a:r>
              <a:rPr lang="en-US" altLang="zh-CN"/>
              <a:t>Tools）</a:t>
            </a:r>
            <a:endParaRPr lang="en-US" altLang="zh-CN"/>
          </a:p>
          <a:p>
            <a:r>
              <a:rPr lang="zh-CN" altLang="en-US"/>
              <a:t>官方：搜索、代码解释器、文件操作、</a:t>
            </a:r>
            <a:r>
              <a:rPr lang="en-US" altLang="zh-CN"/>
              <a:t>API </a:t>
            </a:r>
            <a:r>
              <a:rPr lang="zh-CN" altLang="en-US"/>
              <a:t>调用</a:t>
            </a:r>
            <a:endParaRPr lang="zh-CN" altLang="en-US"/>
          </a:p>
          <a:p>
            <a:r>
              <a:rPr lang="zh-CN" altLang="en-US"/>
              <a:t>自定义：封装业务接口（如查订单、发短信）</a:t>
            </a:r>
            <a:endParaRPr lang="zh-CN" altLang="en-US"/>
          </a:p>
          <a:p>
            <a:r>
              <a:rPr lang="zh-CN" altLang="en-US"/>
              <a:t>规划（</a:t>
            </a:r>
            <a:r>
              <a:rPr lang="en-US" altLang="zh-CN"/>
              <a:t>Planning）</a:t>
            </a:r>
            <a:endParaRPr lang="en-US" altLang="zh-CN"/>
          </a:p>
          <a:p>
            <a:r>
              <a:rPr lang="zh-CN" altLang="en-US"/>
              <a:t>简单：</a:t>
            </a:r>
            <a:r>
              <a:rPr lang="en-US" altLang="zh-CN"/>
              <a:t>Prompt </a:t>
            </a:r>
            <a:r>
              <a:rPr lang="zh-CN" altLang="en-US"/>
              <a:t>指令（“分步思考”）</a:t>
            </a:r>
            <a:endParaRPr lang="zh-CN" altLang="en-US"/>
          </a:p>
          <a:p>
            <a:r>
              <a:rPr lang="zh-CN" altLang="en-US"/>
              <a:t>复杂：</a:t>
            </a:r>
            <a:r>
              <a:rPr lang="en-US" altLang="zh-CN"/>
              <a:t>LangGraph </a:t>
            </a:r>
            <a:r>
              <a:rPr lang="zh-CN" altLang="en-US"/>
              <a:t>图结构，定义节点（任务）和边（流转条件）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Agent：软件开发的“数字员工”</a:t>
            </a:r>
            <a:endParaRPr lang="en-US" sz="1100"/>
          </a:p>
        </p:txBody>
      </p:sp>
      <p:sp>
        <p:nvSpPr>
          <p:cNvPr id="15" name="文本框 14"/>
          <p:cNvSpPr txBox="1"/>
          <p:nvPr/>
        </p:nvSpPr>
        <p:spPr>
          <a:xfrm>
            <a:off x="762000" y="1270000"/>
            <a:ext cx="18154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1.</a:t>
            </a:r>
            <a:r>
              <a:rPr lang="zh-CN" altLang="en-US" sz="16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安装</a:t>
            </a:r>
            <a:r>
              <a:rPr lang="zh-CN" altLang="en-US" sz="16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依赖</a:t>
            </a:r>
            <a:endParaRPr lang="zh-CN" altLang="en-US" sz="16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29945" y="1732280"/>
            <a:ext cx="10417175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pip install langgraph langchain langchain-openai python-dotenv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829945" y="2138045"/>
            <a:ext cx="18154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2.</a:t>
            </a:r>
            <a:r>
              <a:rPr lang="zh-CN" altLang="en-US" sz="16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运行代码</a:t>
            </a:r>
            <a:endParaRPr lang="zh-CN" altLang="en-US" sz="16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9945" y="2656840"/>
            <a:ext cx="4732655" cy="3834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from dotenv import load_dotenv</a:t>
            </a:r>
            <a:endParaRPr lang="en-US" altLang="zh-CN"/>
          </a:p>
          <a:p>
            <a:r>
              <a:rPr lang="en-US" altLang="zh-CN"/>
              <a:t>import os</a:t>
            </a:r>
            <a:endParaRPr lang="en-US" altLang="zh-CN"/>
          </a:p>
          <a:p>
            <a:r>
              <a:rPr lang="en-US" altLang="zh-CN"/>
              <a:t>from langgraph.graph import StateGraph, START, END</a:t>
            </a:r>
            <a:endParaRPr lang="en-US" altLang="zh-CN"/>
          </a:p>
          <a:p>
            <a:r>
              <a:rPr lang="en-US" altLang="zh-CN"/>
              <a:t>from langchain_openai import ChatOpenAI</a:t>
            </a:r>
            <a:endParaRPr lang="en-US" altLang="zh-CN"/>
          </a:p>
          <a:p>
            <a:r>
              <a:rPr lang="en-US" altLang="zh-CN"/>
              <a:t>from langchain.tools import tool</a:t>
            </a:r>
            <a:endParaRPr lang="en-US" altLang="zh-CN"/>
          </a:p>
          <a:p>
            <a:r>
              <a:rPr lang="en-US" altLang="zh-CN"/>
              <a:t>from typing import TypedDict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# 1. 加载环境变量（</a:t>
            </a:r>
            <a:r>
              <a:rPr lang="en-US" altLang="zh-CN"/>
              <a:t>OPENAI_API_KEY）</a:t>
            </a:r>
            <a:endParaRPr lang="en-US" altLang="zh-CN"/>
          </a:p>
          <a:p>
            <a:r>
              <a:rPr lang="en-US" altLang="zh-CN"/>
              <a:t>load_dotenv()</a:t>
            </a:r>
            <a:endParaRPr lang="en-US" altLang="zh-CN"/>
          </a:p>
          <a:p>
            <a:r>
              <a:rPr lang="en-US" altLang="zh-CN"/>
              <a:t>llm = ChatOpenAI(model="gpt-3.5-turbo")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# 2. 定义状态（对话上下文）</a:t>
            </a:r>
            <a:endParaRPr lang="zh-CN" altLang="en-US"/>
          </a:p>
          <a:p>
            <a:r>
              <a:rPr lang="en-US" altLang="zh-CN"/>
              <a:t>class AgentState(TypedDict):</a:t>
            </a:r>
            <a:endParaRPr lang="en-US" altLang="zh-CN"/>
          </a:p>
          <a:p>
            <a:r>
              <a:rPr lang="en-US" altLang="zh-CN"/>
              <a:t>    messages: list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6178550" y="2656840"/>
            <a:ext cx="5487035" cy="2351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# 3. 定义工具：查天气</a:t>
            </a:r>
            <a:endParaRPr lang="zh-CN" altLang="en-US"/>
          </a:p>
          <a:p>
            <a:r>
              <a:rPr lang="en-US" altLang="zh-CN">
                <a:sym typeface="+mn-ea"/>
              </a:rPr>
              <a:t>@tool</a:t>
            </a:r>
            <a:endParaRPr lang="en-US" altLang="zh-CN"/>
          </a:p>
          <a:p>
            <a:r>
              <a:rPr lang="en-US" altLang="zh-CN">
                <a:sym typeface="+mn-ea"/>
              </a:rPr>
              <a:t>def get_weather(city: str) -&gt; str:</a:t>
            </a:r>
            <a:endParaRPr lang="en-US" altLang="zh-CN"/>
          </a:p>
          <a:p>
            <a:r>
              <a:rPr lang="zh-CN" altLang="en-US">
                <a:sym typeface="+mn-ea"/>
              </a:rPr>
              <a:t>    """查询指定城市的天气"""</a:t>
            </a:r>
            <a:endParaRPr lang="zh-CN" altLang="en-US"/>
          </a:p>
          <a:p>
            <a:r>
              <a:rPr lang="en-US" altLang="zh-CN">
                <a:sym typeface="+mn-ea"/>
              </a:rPr>
              <a:t>    return f"{city} </a:t>
            </a:r>
            <a:r>
              <a:rPr lang="zh-CN" altLang="en-US">
                <a:sym typeface="+mn-ea"/>
              </a:rPr>
              <a:t>今天晴天，25℃"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# 4. 绑定工具到 </a:t>
            </a:r>
            <a:r>
              <a:rPr lang="en-US" altLang="zh-CN">
                <a:sym typeface="+mn-ea"/>
              </a:rPr>
              <a:t>LLM</a:t>
            </a:r>
            <a:endParaRPr lang="en-US" altLang="zh-CN"/>
          </a:p>
          <a:p>
            <a:r>
              <a:rPr lang="en-US" altLang="zh-CN">
                <a:sym typeface="+mn-ea"/>
              </a:rPr>
              <a:t>llm_with_tools = llm.bind_tools([get_weather])</a:t>
            </a:r>
            <a:endParaRPr lang="en-US" altLang="zh-CN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# 5. 定义节点：对话处理</a:t>
            </a:r>
            <a:endParaRPr lang="zh-CN" altLang="en-US"/>
          </a:p>
          <a:p>
            <a:r>
              <a:rPr lang="en-US" altLang="zh-CN">
                <a:sym typeface="+mn-ea"/>
              </a:rPr>
              <a:t>def chat_node(state: AgentState) -&gt; AgentState:</a:t>
            </a:r>
            <a:endParaRPr lang="en-US" altLang="zh-CN"/>
          </a:p>
          <a:p>
            <a:r>
              <a:rPr lang="en-US" altLang="zh-CN">
                <a:sym typeface="+mn-ea"/>
              </a:rPr>
              <a:t>    response = llm_with_tools.invoke(state["messages"])</a:t>
            </a:r>
            <a:endParaRPr lang="en-US" altLang="zh-CN"/>
          </a:p>
          <a:p>
            <a:r>
              <a:rPr lang="en-US" altLang="zh-CN">
                <a:sym typeface="+mn-ea"/>
              </a:rPr>
              <a:t>    return {"messages": state["messages"] + [response]}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6390" y="337820"/>
            <a:ext cx="11199495" cy="6185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# 6. 定义节点：工具执行</a:t>
            </a:r>
            <a:endParaRPr lang="zh-CN" altLang="en-US"/>
          </a:p>
          <a:p>
            <a:r>
              <a:rPr lang="en-US" altLang="zh-CN"/>
              <a:t>def tool_node(state: AgentState) -&gt; AgentState:</a:t>
            </a:r>
            <a:endParaRPr lang="en-US" altLang="zh-CN"/>
          </a:p>
          <a:p>
            <a:r>
              <a:rPr lang="en-US" altLang="zh-CN"/>
              <a:t>    tool_call = state["messages"][-1].tool_calls[0]</a:t>
            </a:r>
            <a:endParaRPr lang="en-US" altLang="zh-CN"/>
          </a:p>
          <a:p>
            <a:r>
              <a:rPr lang="en-US" altLang="zh-CN"/>
              <a:t>    result = get_weather.invoke(tool_call["args"])</a:t>
            </a:r>
            <a:endParaRPr lang="en-US" altLang="zh-CN"/>
          </a:p>
          <a:p>
            <a:r>
              <a:rPr lang="en-US" altLang="zh-CN"/>
              <a:t>    return {"messages": state["messages"] + [{"role": "tool", "content": result}]}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# 7. 条件判断：是否需要调用工具</a:t>
            </a:r>
            <a:endParaRPr lang="zh-CN" altLang="en-US"/>
          </a:p>
          <a:p>
            <a:r>
              <a:rPr lang="en-US" altLang="zh-CN"/>
              <a:t>def should_use_tool(state: AgentState) -&gt; str:</a:t>
            </a:r>
            <a:endParaRPr lang="en-US" altLang="zh-CN"/>
          </a:p>
          <a:p>
            <a:r>
              <a:rPr lang="en-US" altLang="zh-CN"/>
              <a:t>    last_msg = state["messages"][-1]</a:t>
            </a:r>
            <a:endParaRPr lang="en-US" altLang="zh-CN"/>
          </a:p>
          <a:p>
            <a:r>
              <a:rPr lang="en-US" altLang="zh-CN"/>
              <a:t>    return "tool" if last_msg.tool_calls else END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# 8. 构建图（工作流）</a:t>
            </a:r>
            <a:endParaRPr lang="zh-CN" altLang="en-US"/>
          </a:p>
          <a:p>
            <a:r>
              <a:rPr lang="en-US" altLang="zh-CN"/>
              <a:t>workflow = StateGraph(AgentState)</a:t>
            </a:r>
            <a:endParaRPr lang="en-US" altLang="zh-CN"/>
          </a:p>
          <a:p>
            <a:r>
              <a:rPr lang="en-US" altLang="zh-CN"/>
              <a:t>workflow.add_node("chat", chat_node)</a:t>
            </a:r>
            <a:endParaRPr lang="en-US" altLang="zh-CN"/>
          </a:p>
          <a:p>
            <a:r>
              <a:rPr lang="en-US" altLang="zh-CN"/>
              <a:t>workflow.add_node("tool", tool_node)</a:t>
            </a:r>
            <a:endParaRPr lang="en-US" altLang="zh-CN"/>
          </a:p>
          <a:p>
            <a:r>
              <a:rPr lang="en-US" altLang="zh-CN"/>
              <a:t>workflow.add_edge(START, "chat")</a:t>
            </a:r>
            <a:endParaRPr lang="en-US" altLang="zh-CN"/>
          </a:p>
          <a:p>
            <a:r>
              <a:rPr lang="en-US" altLang="zh-CN"/>
              <a:t>workflow.add_conditional_edges("chat", should_use_tool, {"tool": "tool", END: END})</a:t>
            </a:r>
            <a:endParaRPr lang="en-US" altLang="zh-CN"/>
          </a:p>
          <a:p>
            <a:r>
              <a:rPr lang="en-US" altLang="zh-CN"/>
              <a:t>workflow.add_edge("tool", "chat")</a:t>
            </a:r>
            <a:endParaRPr lang="en-US" altLang="zh-CN"/>
          </a:p>
          <a:p>
            <a:r>
              <a:rPr lang="en-US" altLang="zh-CN"/>
              <a:t>app = workflow.compile()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# 9. 测试运行</a:t>
            </a:r>
            <a:endParaRPr lang="zh-CN" altLang="en-US"/>
          </a:p>
          <a:p>
            <a:r>
              <a:rPr lang="en-US" altLang="zh-CN"/>
              <a:t>if __name__ == "__main__":</a:t>
            </a:r>
            <a:endParaRPr lang="en-US" altLang="zh-CN"/>
          </a:p>
          <a:p>
            <a:r>
              <a:rPr lang="en-US" altLang="zh-CN"/>
              <a:t>    result = app.invoke({"messages": [{"role": "user", "content": "</a:t>
            </a:r>
            <a:r>
              <a:rPr lang="zh-CN" altLang="en-US"/>
              <a:t>北京天气？"}]})</a:t>
            </a:r>
            <a:endParaRPr lang="zh-CN" altLang="en-US"/>
          </a:p>
          <a:p>
            <a:r>
              <a:rPr lang="en-US" altLang="zh-CN"/>
              <a:t>    print(result["messages"][-1].content)</a:t>
            </a:r>
            <a:endParaRPr lang="en-US" altLang="zh-CN"/>
          </a:p>
          <a:p>
            <a:endParaRPr lang="en-US" altLang="zh-CN"/>
          </a:p>
          <a:p>
            <a:pPr algn="l">
              <a:buSzTx/>
            </a:pPr>
            <a:r>
              <a:rPr lang="en-US" sz="16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3.运行结果</a:t>
            </a:r>
            <a:endParaRPr lang="zh-CN" altLang="en-US" sz="16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SzTx/>
            </a:pPr>
            <a:endParaRPr lang="en-US" sz="16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/>
              <a:t>北京今天晴天，25℃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自主AI开发者：Devin的启示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8571" r="8571"/>
          <a:stretch>
            <a:fillRect/>
          </a:stretch>
        </p:blipFill>
        <p:spPr>
          <a:xfrm>
            <a:off x="762000" y="1778000"/>
            <a:ext cx="3683000" cy="4445000"/>
          </a:xfrm>
          <a:prstGeom prst="roundRect">
            <a:avLst>
              <a:gd name="adj" fmla="val 4137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4826000" y="1778000"/>
            <a:ext cx="6604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16500" y="1968500"/>
            <a:ext cx="622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Devin 的核心能力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16500" y="2540000"/>
            <a:ext cx="203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全流程自主执行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理解复杂任务，自主规划、编码、调试、测试与部署。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112000" y="2540000"/>
            <a:ext cx="203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学习与适应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快速掌握新技术框架，并能直接依据文档进行开发工作。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9144000" y="2540000"/>
            <a:ext cx="203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代码自我修复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遇到错误时，能像人类一样进行逻辑推理并自动调试修复。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826000" y="4191000"/>
            <a:ext cx="6604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016500" y="4381500"/>
            <a:ext cx="622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开发者的未来角色转型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0000" y="4953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588000" y="4953000"/>
            <a:ext cx="101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提问者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清晰、准确地向AI描述业务需求与逻辑。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4953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175500" y="4953000"/>
            <a:ext cx="101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架构师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聚焦于系统顶层设计与复杂架构规划。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55000" y="4953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763000" y="4953000"/>
            <a:ext cx="101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验证者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建立体系，把控AI生成代码的质量与安全。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06000" y="4953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0350500" y="4953000"/>
            <a:ext cx="107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持续学习者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紧跟AI发展，掌握人机协作的新模式。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核心数据汇总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1587500"/>
          </a:xfrm>
          <a:prstGeom prst="roundRect">
            <a:avLst>
              <a:gd name="adj" fmla="val 96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292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2.52万亿美元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全球AI市场支出</a:t>
            </a:r>
            <a:endParaRPr lang="en-US" sz="15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来源: Gartner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445000" y="1651000"/>
            <a:ext cx="3302000" cy="1587500"/>
          </a:xfrm>
          <a:prstGeom prst="roundRect">
            <a:avLst>
              <a:gd name="adj" fmla="val 96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4635500" y="1841500"/>
            <a:ext cx="292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89%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财富500强企业AI采用率</a:t>
            </a:r>
            <a:endParaRPr lang="en-US" sz="15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来源: McKinsey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128000" y="1651000"/>
            <a:ext cx="3302000" cy="1587500"/>
          </a:xfrm>
          <a:prstGeom prst="roundRect">
            <a:avLst>
              <a:gd name="adj" fmla="val 96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318500" y="1841500"/>
            <a:ext cx="292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94%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科技行业AI采用率</a:t>
            </a:r>
            <a:endParaRPr lang="en-US" sz="15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来源: Hashmeta AI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429000"/>
            <a:ext cx="3302000" cy="1587500"/>
          </a:xfrm>
          <a:prstGeom prst="roundRect">
            <a:avLst>
              <a:gd name="adj" fmla="val 96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52500" y="3619500"/>
            <a:ext cx="292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340%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(18个月内)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企业部署AI平均ROI</a:t>
            </a:r>
            <a:endParaRPr lang="en-US" sz="15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来源: McKinsey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445000" y="3429000"/>
            <a:ext cx="3302000" cy="1587500"/>
          </a:xfrm>
          <a:prstGeom prst="roundRect">
            <a:avLst>
              <a:gd name="adj" fmla="val 96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635500" y="3619500"/>
            <a:ext cx="292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55%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开发者编码速度提升</a:t>
            </a:r>
            <a:endParaRPr lang="en-US" sz="15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来源: GitHub Copilot影响研究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3429000"/>
            <a:ext cx="3302000" cy="1587500"/>
          </a:xfrm>
          <a:prstGeom prst="roundRect">
            <a:avLst>
              <a:gd name="adj" fmla="val 96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318500" y="3619500"/>
            <a:ext cx="292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42%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AI辅助代码占比</a:t>
            </a:r>
            <a:endParaRPr lang="en-US" sz="15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来源: Sonar开发者调查报告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5080000"/>
            <a:ext cx="3302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52500" y="52705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72%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开发者每日使用AI比例</a:t>
            </a:r>
            <a:endParaRPr lang="en-US" sz="15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来源: Sonar开发者调查报告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445000" y="5080000"/>
            <a:ext cx="3302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635500" y="52705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1.2万亿美元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全球智能体经济规模预测</a:t>
            </a:r>
            <a:endParaRPr lang="en-US" sz="15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来源: 高盛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128000" y="5080000"/>
            <a:ext cx="3302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318500" y="52705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480%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代码生成领域平均ROI</a:t>
            </a:r>
            <a:endParaRPr lang="en-US" sz="15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来源: Hashmeta AI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207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spc="400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 YOU FOR LISTENING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0,&quot;left&quot;:60,&quot;top&quot;:230,&quot;width&quot;:840}"/>
</p:tagLst>
</file>

<file path=ppt/tags/tag2.xml><?xml version="1.0" encoding="utf-8"?>
<p:tagLst xmlns:p="http://schemas.openxmlformats.org/presentationml/2006/main">
  <p:tag name="KSO_WM_DIAGRAM_VIRTUALLY_FRAME" val="{&quot;height&quot;:260,&quot;left&quot;:60,&quot;top&quot;:230,&quot;width&quot;:840}"/>
</p:tagLst>
</file>

<file path=ppt/tags/tag3.xml><?xml version="1.0" encoding="utf-8"?>
<p:tagLst xmlns:p="http://schemas.openxmlformats.org/presentationml/2006/main">
  <p:tag name="KSO_WM_DIAGRAM_VIRTUALLY_FRAME" val="{&quot;height&quot;:260,&quot;left&quot;:60,&quot;top&quot;:230,&quot;width&quot;:840}"/>
</p:tagLst>
</file>

<file path=ppt/tags/tag4.xml><?xml version="1.0" encoding="utf-8"?>
<p:tagLst xmlns:p="http://schemas.openxmlformats.org/presentationml/2006/main">
  <p:tag name="KSO_WM_DIAGRAM_VIRTUALLY_FRAME" val="{&quot;height&quot;:260,&quot;left&quot;:60,&quot;top&quot;:230,&quot;width&quot;:840}"/>
</p:tagLst>
</file>

<file path=ppt/tags/tag5.xml><?xml version="1.0" encoding="utf-8"?>
<p:tagLst xmlns:p="http://schemas.openxmlformats.org/presentationml/2006/main">
  <p:tag name="KSO_WM_DIAGRAM_VIRTUALLY_FRAME" val="{&quot;height&quot;:260,&quot;left&quot;:60,&quot;top&quot;:230,&quot;width&quot;:840}"/>
</p:tagLst>
</file>

<file path=ppt/tags/tag6.xml><?xml version="1.0" encoding="utf-8"?>
<p:tagLst xmlns:p="http://schemas.openxmlformats.org/presentationml/2006/main">
  <p:tag name="KSO_WM_DIAGRAM_VIRTUALLY_FRAME" val="{&quot;height&quot;:260,&quot;left&quot;:60,&quot;top&quot;:230,&quot;width&quot;:840}"/>
</p:tagLst>
</file>

<file path=ppt/tags/tag7.xml><?xml version="1.0" encoding="utf-8"?>
<p:tagLst xmlns:p="http://schemas.openxmlformats.org/presentationml/2006/main">
  <p:tag name="KSO_WM_DIAGRAM_VIRTUALLY_FRAME" val="{&quot;height&quot;:260,&quot;left&quot;:60,&quot;top&quot;:230,&quot;width&quot;:840}"/>
</p:tagLst>
</file>

<file path=ppt/tags/tag8.xml><?xml version="1.0" encoding="utf-8"?>
<p:tagLst xmlns:p="http://schemas.openxmlformats.org/presentationml/2006/main">
  <p:tag name="KSO_WM_DIAGRAM_VIRTUALLY_FRAME" val="{&quot;height&quot;:260,&quot;left&quot;:60,&quot;top&quot;:230,&quot;width&quot;:840}"/>
</p:tagLst>
</file>

<file path=ppt/tags/tag9.xml><?xml version="1.0" encoding="utf-8"?>
<p:tagLst xmlns:p="http://schemas.openxmlformats.org/presentationml/2006/main">
  <p:tag name="KSO_WM_DIAGRAM_VIRTUALLY_FRAME" val="{&quot;height&quot;:260,&quot;left&quot;:60,&quot;top&quot;:230,&quot;width&quot;:840}"/>
</p:tagLst>
</file>

<file path=ppt/tags/tag10.xml><?xml version="1.0" encoding="utf-8"?>
<p:tagLst xmlns:p="http://schemas.openxmlformats.org/presentationml/2006/main">
  <p:tag name="KSO_WM_DIAGRAM_VIRTUALLY_FRAME" val="{&quot;height&quot;:260,&quot;left&quot;:60,&quot;top&quot;:230,&quot;width&quot;:840}"/>
</p:tagLst>
</file>

<file path=ppt/tags/tag11.xml><?xml version="1.0" encoding="utf-8"?>
<p:tagLst xmlns:p="http://schemas.openxmlformats.org/presentationml/2006/main">
  <p:tag name="KSO_WM_DIAGRAM_VIRTUALLY_FRAME" val="{&quot;height&quot;:260,&quot;left&quot;:60,&quot;top&quot;:230,&quot;width&quot;:840}"/>
</p:tagLst>
</file>

<file path=ppt/tags/tag12.xml><?xml version="1.0" encoding="utf-8"?>
<p:tagLst xmlns:p="http://schemas.openxmlformats.org/presentationml/2006/main">
  <p:tag name="KSO_WM_DIAGRAM_VIRTUALLY_FRAME" val="{&quot;height&quot;:260,&quot;left&quot;:60,&quot;top&quot;:230,&quot;width&quot;:840}"/>
</p:tagLst>
</file>

<file path=ppt/tags/tag13.xml><?xml version="1.0" encoding="utf-8"?>
<p:tagLst xmlns:p="http://schemas.openxmlformats.org/presentationml/2006/main">
  <p:tag name="KSO_WM_DIAGRAM_VIRTUALLY_FRAME" val="{&quot;height&quot;:380.95,&quot;left&quot;:60,&quot;top&quot;:109.05,&quot;width&quot;:840}"/>
</p:tagLst>
</file>

<file path=ppt/tags/tag14.xml><?xml version="1.0" encoding="utf-8"?>
<p:tagLst xmlns:p="http://schemas.openxmlformats.org/presentationml/2006/main">
  <p:tag name="KSO_WM_DIAGRAM_VIRTUALLY_FRAME" val="{&quot;height&quot;:380.95,&quot;left&quot;:60,&quot;top&quot;:109.05,&quot;width&quot;:840}"/>
</p:tagLst>
</file>

<file path=ppt/tags/tag15.xml><?xml version="1.0" encoding="utf-8"?>
<p:tagLst xmlns:p="http://schemas.openxmlformats.org/presentationml/2006/main">
  <p:tag name="KSO_WM_DIAGRAM_VIRTUALLY_FRAME" val="{&quot;height&quot;:380.95,&quot;left&quot;:60,&quot;top&quot;:109.05,&quot;width&quot;:840}"/>
</p:tagLst>
</file>

<file path=ppt/tags/tag16.xml><?xml version="1.0" encoding="utf-8"?>
<p:tagLst xmlns:p="http://schemas.openxmlformats.org/presentationml/2006/main">
  <p:tag name="KSO_WM_DIAGRAM_VIRTUALLY_FRAME" val="{&quot;height&quot;:380.95,&quot;left&quot;:60,&quot;top&quot;:109.05,&quot;width&quot;:840}"/>
</p:tagLst>
</file>

<file path=ppt/tags/tag17.xml><?xml version="1.0" encoding="utf-8"?>
<p:tagLst xmlns:p="http://schemas.openxmlformats.org/presentationml/2006/main">
  <p:tag name="KSO_WM_DIAGRAM_VIRTUALLY_FRAME" val="{&quot;height&quot;:380.95,&quot;left&quot;:60,&quot;top&quot;:109.05,&quot;width&quot;:840}"/>
</p:tagLst>
</file>

<file path=ppt/tags/tag18.xml><?xml version="1.0" encoding="utf-8"?>
<p:tagLst xmlns:p="http://schemas.openxmlformats.org/presentationml/2006/main">
  <p:tag name="KSO_WM_DIAGRAM_VIRTUALLY_FRAME" val="{&quot;height&quot;:380.95,&quot;left&quot;:60,&quot;top&quot;:109.05,&quot;width&quot;:840}"/>
</p:tagLst>
</file>

<file path=ppt/tags/tag19.xml><?xml version="1.0" encoding="utf-8"?>
<p:tagLst xmlns:p="http://schemas.openxmlformats.org/presentationml/2006/main">
  <p:tag name="KSO_WM_DIAGRAM_VIRTUALLY_FRAME" val="{&quot;height&quot;:341.35,&quot;left&quot;:60,&quot;top&quot;:148.65,&quot;width&quot;:840}"/>
</p:tagLst>
</file>

<file path=ppt/tags/tag20.xml><?xml version="1.0" encoding="utf-8"?>
<p:tagLst xmlns:p="http://schemas.openxmlformats.org/presentationml/2006/main">
  <p:tag name="KSO_WM_DIAGRAM_VIRTUALLY_FRAME" val="{&quot;height&quot;:380.95,&quot;left&quot;:60,&quot;top&quot;:109.05,&quot;width&quot;:840}"/>
</p:tagLst>
</file>

<file path=ppt/tags/tag21.xml><?xml version="1.0" encoding="utf-8"?>
<p:tagLst xmlns:p="http://schemas.openxmlformats.org/presentationml/2006/main">
  <p:tag name="KSO_WM_DIAGRAM_VIRTUALLY_FRAME" val="{&quot;height&quot;:380.95,&quot;left&quot;:60,&quot;top&quot;:109.05,&quot;width&quot;:840}"/>
</p:tagLst>
</file>

<file path=ppt/tags/tag22.xml><?xml version="1.0" encoding="utf-8"?>
<p:tagLst xmlns:p="http://schemas.openxmlformats.org/presentationml/2006/main">
  <p:tag name="KSO_WM_DIAGRAM_VIRTUALLY_FRAME" val="{&quot;height&quot;:380.95,&quot;left&quot;:60,&quot;top&quot;:109.05,&quot;width&quot;:840}"/>
</p:tagLst>
</file>

<file path=ppt/tags/tag23.xml><?xml version="1.0" encoding="utf-8"?>
<p:tagLst xmlns:p="http://schemas.openxmlformats.org/presentationml/2006/main">
  <p:tag name="KSO_WM_DIAGRAM_VIRTUALLY_FRAME" val="{&quot;height&quot;:380.95,&quot;left&quot;:60,&quot;top&quot;:109.05,&quot;width&quot;:840}"/>
</p:tagLst>
</file>

<file path=ppt/tags/tag24.xml><?xml version="1.0" encoding="utf-8"?>
<p:tagLst xmlns:p="http://schemas.openxmlformats.org/presentationml/2006/main">
  <p:tag name="KSO_WM_DIAGRAM_VIRTUALLY_FRAME" val="{&quot;height&quot;:380.95,&quot;left&quot;:60,&quot;top&quot;:109.05,&quot;width&quot;:840}"/>
</p:tagLst>
</file>

<file path=ppt/tags/tag25.xml><?xml version="1.0" encoding="utf-8"?>
<p:tagLst xmlns:p="http://schemas.openxmlformats.org/presentationml/2006/main">
  <p:tag name="KSO_WM_DIAGRAM_VIRTUALLY_FRAME" val="{&quot;height&quot;:430,&quot;left&quot;:45.55,&quot;top&quot;:109.05,&quot;width&quot;:854.45}"/>
</p:tagLst>
</file>

<file path=ppt/tags/tag26.xml><?xml version="1.0" encoding="utf-8"?>
<p:tagLst xmlns:p="http://schemas.openxmlformats.org/presentationml/2006/main">
  <p:tag name="KSO_WM_DIAGRAM_VIRTUALLY_FRAME" val="{&quot;height&quot;:430,&quot;left&quot;:45.55,&quot;top&quot;:109.05,&quot;width&quot;:854.45}"/>
</p:tagLst>
</file>

<file path=ppt/tags/tag27.xml><?xml version="1.0" encoding="utf-8"?>
<p:tagLst xmlns:p="http://schemas.openxmlformats.org/presentationml/2006/main">
  <p:tag name="KSO_WM_DIAGRAM_VIRTUALLY_FRAME" val="{&quot;height&quot;:430,&quot;left&quot;:45.55,&quot;top&quot;:109.05,&quot;width&quot;:854.45}"/>
</p:tagLst>
</file>

<file path=ppt/tags/tag28.xml><?xml version="1.0" encoding="utf-8"?>
<p:tagLst xmlns:p="http://schemas.openxmlformats.org/presentationml/2006/main">
  <p:tag name="KSO_WM_DIAGRAM_VIRTUALLY_FRAME" val="{&quot;height&quot;:430,&quot;left&quot;:45.55,&quot;top&quot;:109.05,&quot;width&quot;:854.45}"/>
</p:tagLst>
</file>

<file path=ppt/tags/tag29.xml><?xml version="1.0" encoding="utf-8"?>
<p:tagLst xmlns:p="http://schemas.openxmlformats.org/presentationml/2006/main">
  <p:tag name="KSO_WM_DIAGRAM_VIRTUALLY_FRAME" val="{&quot;height&quot;:430,&quot;left&quot;:45.55,&quot;top&quot;:109.05,&quot;width&quot;:854.45}"/>
</p:tagLst>
</file>

<file path=ppt/tags/tag30.xml><?xml version="1.0" encoding="utf-8"?>
<p:tagLst xmlns:p="http://schemas.openxmlformats.org/presentationml/2006/main">
  <p:tag name="KSO_WM_DIAGRAM_VIRTUALLY_FRAME" val="{&quot;height&quot;:430,&quot;left&quot;:45.55,&quot;top&quot;:109.05,&quot;width&quot;:854.45}"/>
</p:tagLst>
</file>

<file path=ppt/tags/tag31.xml><?xml version="1.0" encoding="utf-8"?>
<p:tagLst xmlns:p="http://schemas.openxmlformats.org/presentationml/2006/main">
  <p:tag name="KSO_WM_DIAGRAM_VIRTUALLY_FRAME" val="{&quot;height&quot;:341.35,&quot;left&quot;:60,&quot;top&quot;:148.65,&quot;width&quot;:840}"/>
</p:tagLst>
</file>

<file path=ppt/tags/tag32.xml><?xml version="1.0" encoding="utf-8"?>
<p:tagLst xmlns:p="http://schemas.openxmlformats.org/presentationml/2006/main">
  <p:tag name="KSO_WM_DIAGRAM_VIRTUALLY_FRAME" val="{&quot;height&quot;:430,&quot;left&quot;:45.55,&quot;top&quot;:109.05,&quot;width&quot;:854.45}"/>
</p:tagLst>
</file>

<file path=ppt/tags/tag33.xml><?xml version="1.0" encoding="utf-8"?>
<p:tagLst xmlns:p="http://schemas.openxmlformats.org/presentationml/2006/main">
  <p:tag name="KSO_WM_DIAGRAM_VIRTUALLY_FRAME" val="{&quot;height&quot;:430,&quot;left&quot;:45.55,&quot;top&quot;:109.05,&quot;width&quot;:854.45}"/>
</p:tagLst>
</file>

<file path=ppt/tags/tag34.xml><?xml version="1.0" encoding="utf-8"?>
<p:tagLst xmlns:p="http://schemas.openxmlformats.org/presentationml/2006/main">
  <p:tag name="KSO_WM_DIAGRAM_VIRTUALLY_FRAME" val="{&quot;height&quot;:430,&quot;left&quot;:45.55,&quot;top&quot;:109.05,&quot;width&quot;:854.45}"/>
</p:tagLst>
</file>

<file path=ppt/tags/tag35.xml><?xml version="1.0" encoding="utf-8"?>
<p:tagLst xmlns:p="http://schemas.openxmlformats.org/presentationml/2006/main">
  <p:tag name="KSO_WM_DIAGRAM_VIRTUALLY_FRAME" val="{&quot;height&quot;:430,&quot;left&quot;:45.55,&quot;top&quot;:109.05,&quot;width&quot;:854.45}"/>
</p:tagLst>
</file>

<file path=ppt/tags/tag36.xml><?xml version="1.0" encoding="utf-8"?>
<p:tagLst xmlns:p="http://schemas.openxmlformats.org/presentationml/2006/main">
  <p:tag name="KSO_WM_DIAGRAM_VIRTUALLY_FRAME" val="{&quot;height&quot;:430,&quot;left&quot;:45.55,&quot;top&quot;:109.05,&quot;width&quot;:854.45}"/>
</p:tagLst>
</file>

<file path=ppt/tags/tag37.xml><?xml version="1.0" encoding="utf-8"?>
<p:tagLst xmlns:p="http://schemas.openxmlformats.org/presentationml/2006/main">
  <p:tag name="KSO_WM_DIAGRAM_VIRTUALLY_FRAME" val="{&quot;height&quot;:386.4,&quot;left&quot;:45.55,&quot;top&quot;:109.05,&quot;width&quot;:854.45}"/>
</p:tagLst>
</file>

<file path=ppt/tags/tag38.xml><?xml version="1.0" encoding="utf-8"?>
<p:tagLst xmlns:p="http://schemas.openxmlformats.org/presentationml/2006/main">
  <p:tag name="KSO_WM_DIAGRAM_VIRTUALLY_FRAME" val="{&quot;height&quot;:430,&quot;left&quot;:45.55,&quot;top&quot;:109.05,&quot;width&quot;:854.45}"/>
</p:tagLst>
</file>

<file path=ppt/tags/tag39.xml><?xml version="1.0" encoding="utf-8"?>
<p:tagLst xmlns:p="http://schemas.openxmlformats.org/presentationml/2006/main">
  <p:tag name="KSO_WM_DIAGRAM_VIRTUALLY_FRAME" val="{&quot;height&quot;:386.4,&quot;left&quot;:45.55,&quot;top&quot;:109.05,&quot;width&quot;:854.45}"/>
</p:tagLst>
</file>

<file path=ppt/tags/tag40.xml><?xml version="1.0" encoding="utf-8"?>
<p:tagLst xmlns:p="http://schemas.openxmlformats.org/presentationml/2006/main">
  <p:tag name="KSO_WM_DIAGRAM_VIRTUALLY_FRAME" val="{&quot;height&quot;:386.4,&quot;left&quot;:45.55,&quot;top&quot;:109.05,&quot;width&quot;:854.45}"/>
</p:tagLst>
</file>

<file path=ppt/tags/tag41.xml><?xml version="1.0" encoding="utf-8"?>
<p:tagLst xmlns:p="http://schemas.openxmlformats.org/presentationml/2006/main">
  <p:tag name="KSO_WM_DIAGRAM_VIRTUALLY_FRAME" val="{&quot;height&quot;:370,&quot;left&quot;:470,&quot;top&quot;:140,&quot;width&quot;:445}"/>
</p:tagLst>
</file>

<file path=ppt/tags/tag42.xml><?xml version="1.0" encoding="utf-8"?>
<p:tagLst xmlns:p="http://schemas.openxmlformats.org/presentationml/2006/main">
  <p:tag name="KSO_WM_DIAGRAM_VIRTUALLY_FRAME" val="{&quot;height&quot;:370,&quot;left&quot;:470,&quot;top&quot;:140,&quot;width&quot;:445}"/>
</p:tagLst>
</file>

<file path=ppt/tags/tag43.xml><?xml version="1.0" encoding="utf-8"?>
<p:tagLst xmlns:p="http://schemas.openxmlformats.org/presentationml/2006/main">
  <p:tag name="KSO_WM_DIAGRAM_VIRTUALLY_FRAME" val="{&quot;height&quot;:370,&quot;left&quot;:470,&quot;top&quot;:140,&quot;width&quot;:445}"/>
</p:tagLst>
</file>

<file path=ppt/tags/tag44.xml><?xml version="1.0" encoding="utf-8"?>
<p:tagLst xmlns:p="http://schemas.openxmlformats.org/presentationml/2006/main">
  <p:tag name="KSO_WM_DIAGRAM_VIRTUALLY_FRAME" val="{&quot;height&quot;:370,&quot;left&quot;:470,&quot;top&quot;:140,&quot;width&quot;:445}"/>
</p:tagLst>
</file>

<file path=ppt/tags/tag45.xml><?xml version="1.0" encoding="utf-8"?>
<p:tagLst xmlns:p="http://schemas.openxmlformats.org/presentationml/2006/main">
  <p:tag name="KSO_WM_DIAGRAM_VIRTUALLY_FRAME" val="{&quot;height&quot;:370,&quot;left&quot;:470,&quot;top&quot;:140,&quot;width&quot;:445}"/>
</p:tagLst>
</file>

<file path=ppt/tags/tag46.xml><?xml version="1.0" encoding="utf-8"?>
<p:tagLst xmlns:p="http://schemas.openxmlformats.org/presentationml/2006/main">
  <p:tag name="KSO_WM_DIAGRAM_VIRTUALLY_FRAME" val="{&quot;height&quot;:370,&quot;left&quot;:470,&quot;top&quot;:140,&quot;width&quot;:445}"/>
</p:tagLst>
</file>

<file path=ppt/tags/tag47.xml><?xml version="1.0" encoding="utf-8"?>
<p:tagLst xmlns:p="http://schemas.openxmlformats.org/presentationml/2006/main">
  <p:tag name="KSO_WM_DIAGRAM_VIRTUALLY_FRAME" val="{&quot;height&quot;:370,&quot;left&quot;:470,&quot;top&quot;:140,&quot;width&quot;:445}"/>
</p:tagLst>
</file>

<file path=ppt/tags/tag48.xml><?xml version="1.0" encoding="utf-8"?>
<p:tagLst xmlns:p="http://schemas.openxmlformats.org/presentationml/2006/main">
  <p:tag name="KSO_WM_DIAGRAM_VIRTUALLY_FRAME" val="{&quot;height&quot;:370,&quot;left&quot;:470,&quot;top&quot;:140,&quot;width&quot;:445}"/>
</p:tagLst>
</file>

<file path=ppt/tags/tag49.xml><?xml version="1.0" encoding="utf-8"?>
<p:tagLst xmlns:p="http://schemas.openxmlformats.org/presentationml/2006/main">
  <p:tag name="KSO_WM_DIAGRAM_VIRTUALLY_FRAME" val="{&quot;height&quot;:370,&quot;left&quot;:470,&quot;top&quot;:140,&quot;width&quot;:445}"/>
</p:tagLst>
</file>

<file path=ppt/tags/tag50.xml><?xml version="1.0" encoding="utf-8"?>
<p:tagLst xmlns:p="http://schemas.openxmlformats.org/presentationml/2006/main">
  <p:tag name="KSO_WM_DIAGRAM_VIRTUALLY_FRAME" val="{&quot;height&quot;:370,&quot;left&quot;:470,&quot;top&quot;:140,&quot;width&quot;:445}"/>
</p:tagLst>
</file>

<file path=ppt/tags/tag51.xml><?xml version="1.0" encoding="utf-8"?>
<p:tagLst xmlns:p="http://schemas.openxmlformats.org/presentationml/2006/main">
  <p:tag name="KSO_WM_DIAGRAM_VIRTUALLY_FRAME" val="{&quot;height&quot;:370,&quot;left&quot;:470,&quot;top&quot;:140,&quot;width&quot;:445}"/>
</p:tagLst>
</file>

<file path=ppt/tags/tag52.xml><?xml version="1.0" encoding="utf-8"?>
<p:tagLst xmlns:p="http://schemas.openxmlformats.org/presentationml/2006/main">
  <p:tag name="KSO_WM_DIAGRAM_VIRTUALLY_FRAME" val="{&quot;height&quot;:370,&quot;left&quot;:470,&quot;top&quot;:140,&quot;width&quot;:445}"/>
</p:tagLst>
</file>

<file path=ppt/tags/tag53.xml><?xml version="1.0" encoding="utf-8"?>
<p:tagLst xmlns:p="http://schemas.openxmlformats.org/presentationml/2006/main">
  <p:tag name="KSO_WM_DIAGRAM_VIRTUALLY_FRAME" val="{&quot;height&quot;:370,&quot;left&quot;:470,&quot;top&quot;:140,&quot;width&quot;:445}"/>
</p:tagLst>
</file>

<file path=ppt/tags/tag54.xml><?xml version="1.0" encoding="utf-8"?>
<p:tagLst xmlns:p="http://schemas.openxmlformats.org/presentationml/2006/main">
  <p:tag name="KSO_WM_DIAGRAM_VIRTUALLY_FRAME" val="{&quot;height&quot;:370,&quot;left&quot;:470,&quot;top&quot;:140,&quot;width&quot;:445}"/>
</p:tagLst>
</file>

<file path=ppt/tags/tag55.xml><?xml version="1.0" encoding="utf-8"?>
<p:tagLst xmlns:p="http://schemas.openxmlformats.org/presentationml/2006/main">
  <p:tag name="KSO_WM_DIAGRAM_VIRTUALLY_FRAME" val="{&quot;height&quot;:370,&quot;left&quot;:470,&quot;top&quot;:140,&quot;width&quot;:445}"/>
</p:tagLst>
</file>

<file path=ppt/tags/tag56.xml><?xml version="1.0" encoding="utf-8"?>
<p:tagLst xmlns:p="http://schemas.openxmlformats.org/presentationml/2006/main">
  <p:tag name="KSO_WM_DIAGRAM_VIRTUALLY_FRAME" val="{&quot;height&quot;:370,&quot;left&quot;:470,&quot;top&quot;:140,&quot;width&quot;:445}"/>
</p:tagLst>
</file>

<file path=ppt/tags/tag57.xml><?xml version="1.0" encoding="utf-8"?>
<p:tagLst xmlns:p="http://schemas.openxmlformats.org/presentationml/2006/main">
  <p:tag name="KSO_WM_DIAGRAM_VIRTUALLY_FRAME" val="{&quot;height&quot;:374.3,&quot;left&quot;:66.85,&quot;top&quot;:144.3,&quot;width&quot;:787.65}"/>
</p:tagLst>
</file>

<file path=ppt/tags/tag58.xml><?xml version="1.0" encoding="utf-8"?>
<p:tagLst xmlns:p="http://schemas.openxmlformats.org/presentationml/2006/main">
  <p:tag name="KSO_WM_DIAGRAM_VIRTUALLY_FRAME" val="{&quot;height&quot;:374.3,&quot;left&quot;:66.85,&quot;top&quot;:144.3,&quot;width&quot;:787.65}"/>
</p:tagLst>
</file>

<file path=ppt/tags/tag59.xml><?xml version="1.0" encoding="utf-8"?>
<p:tagLst xmlns:p="http://schemas.openxmlformats.org/presentationml/2006/main">
  <p:tag name="KSO_WM_DIAGRAM_VIRTUALLY_FRAME" val="{&quot;height&quot;:374.3,&quot;left&quot;:66.85,&quot;top&quot;:144.3,&quot;width&quot;:787.65}"/>
</p:tagLst>
</file>

<file path=ppt/tags/tag60.xml><?xml version="1.0" encoding="utf-8"?>
<p:tagLst xmlns:p="http://schemas.openxmlformats.org/presentationml/2006/main">
  <p:tag name="KSO_WM_DIAGRAM_VIRTUALLY_FRAME" val="{&quot;height&quot;:374.3,&quot;left&quot;:66.85,&quot;top&quot;:144.3,&quot;width&quot;:787.65}"/>
</p:tagLst>
</file>

<file path=ppt/tags/tag61.xml><?xml version="1.0" encoding="utf-8"?>
<p:tagLst xmlns:p="http://schemas.openxmlformats.org/presentationml/2006/main">
  <p:tag name="KSO_WM_DIAGRAM_VIRTUALLY_FRAME" val="{&quot;height&quot;:374.3,&quot;left&quot;:66.85,&quot;top&quot;:144.3,&quot;width&quot;:787.65}"/>
</p:tagLst>
</file>

<file path=ppt/tags/tag62.xml><?xml version="1.0" encoding="utf-8"?>
<p:tagLst xmlns:p="http://schemas.openxmlformats.org/presentationml/2006/main">
  <p:tag name="KSO_WM_DIAGRAM_VIRTUALLY_FRAME" val="{&quot;height&quot;:374.3,&quot;left&quot;:66.85,&quot;top&quot;:144.3,&quot;width&quot;:787.65}"/>
</p:tagLst>
</file>

<file path=ppt/tags/tag63.xml><?xml version="1.0" encoding="utf-8"?>
<p:tagLst xmlns:p="http://schemas.openxmlformats.org/presentationml/2006/main">
  <p:tag name="KSO_WM_DIAGRAM_VIRTUALLY_FRAME" val="{&quot;height&quot;:370,&quot;left&quot;:470,&quot;top&quot;:140,&quot;width&quot;:445}"/>
</p:tagLst>
</file>

<file path=ppt/tags/tag64.xml><?xml version="1.0" encoding="utf-8"?>
<p:tagLst xmlns:p="http://schemas.openxmlformats.org/presentationml/2006/main">
  <p:tag name="KSO_WM_DIAGRAM_VIRTUALLY_FRAME" val="{&quot;height&quot;:370,&quot;left&quot;:470,&quot;top&quot;:140,&quot;width&quot;:445}"/>
</p:tagLst>
</file>

<file path=ppt/tags/tag65.xml><?xml version="1.0" encoding="utf-8"?>
<p:tagLst xmlns:p="http://schemas.openxmlformats.org/presentationml/2006/main">
  <p:tag name="KSO_WM_DIAGRAM_VIRTUALLY_FRAME" val="{&quot;height&quot;:370,&quot;left&quot;:470,&quot;top&quot;:140,&quot;width&quot;:445}"/>
</p:tagLst>
</file>

<file path=ppt/tags/tag66.xml><?xml version="1.0" encoding="utf-8"?>
<p:tagLst xmlns:p="http://schemas.openxmlformats.org/presentationml/2006/main">
  <p:tag name="KSO_WM_DIAGRAM_VIRTUALLY_FRAME" val="{&quot;height&quot;:370,&quot;left&quot;:470,&quot;top&quot;:140,&quot;width&quot;:445}"/>
</p:tagLst>
</file>

<file path=ppt/tags/tag67.xml><?xml version="1.0" encoding="utf-8"?>
<p:tagLst xmlns:p="http://schemas.openxmlformats.org/presentationml/2006/main">
  <p:tag name="KSO_WM_DIAGRAM_VIRTUALLY_FRAME" val="{&quot;height&quot;:370,&quot;left&quot;:470,&quot;top&quot;:140,&quot;width&quot;:445}"/>
</p:tagLst>
</file>

<file path=ppt/tags/tag68.xml><?xml version="1.0" encoding="utf-8"?>
<p:tagLst xmlns:p="http://schemas.openxmlformats.org/presentationml/2006/main">
  <p:tag name="KSO_WM_DIAGRAM_VIRTUALLY_FRAME" val="{&quot;height&quot;:370,&quot;left&quot;:470,&quot;top&quot;:140,&quot;width&quot;:445}"/>
</p:tagLst>
</file>

<file path=ppt/tags/tag69.xml><?xml version="1.0" encoding="utf-8"?>
<p:tagLst xmlns:p="http://schemas.openxmlformats.org/presentationml/2006/main">
  <p:tag name="KSO_WM_DIAGRAM_VIRTUALLY_FRAME" val="{&quot;height&quot;:295,&quot;left&quot;:60,&quot;top&quot;:225,&quot;width&quot;:420}"/>
</p:tagLst>
</file>

<file path=ppt/tags/tag70.xml><?xml version="1.0" encoding="utf-8"?>
<p:tagLst xmlns:p="http://schemas.openxmlformats.org/presentationml/2006/main">
  <p:tag name="KSO_WM_DIAGRAM_VIRTUALLY_FRAME" val="{&quot;height&quot;:295,&quot;left&quot;:60,&quot;top&quot;:225,&quot;width&quot;:420}"/>
</p:tagLst>
</file>

<file path=ppt/tags/tag71.xml><?xml version="1.0" encoding="utf-8"?>
<p:tagLst xmlns:p="http://schemas.openxmlformats.org/presentationml/2006/main">
  <p:tag name="KSO_WM_DIAGRAM_VIRTUALLY_FRAME" val="{&quot;height&quot;:295,&quot;left&quot;:60,&quot;top&quot;:225,&quot;width&quot;:420}"/>
</p:tagLst>
</file>

<file path=ppt/tags/tag72.xml><?xml version="1.0" encoding="utf-8"?>
<p:tagLst xmlns:p="http://schemas.openxmlformats.org/presentationml/2006/main">
  <p:tag name="KSO_WM_DIAGRAM_VIRTUALLY_FRAME" val="{&quot;height&quot;:295,&quot;left&quot;:60,&quot;top&quot;:225,&quot;width&quot;:420}"/>
</p:tagLst>
</file>

<file path=ppt/tags/tag73.xml><?xml version="1.0" encoding="utf-8"?>
<p:tagLst xmlns:p="http://schemas.openxmlformats.org/presentationml/2006/main">
  <p:tag name="KSO_WM_DIAGRAM_VIRTUALLY_FRAME" val="{&quot;height&quot;:295,&quot;left&quot;:60,&quot;top&quot;:225,&quot;width&quot;:420}"/>
</p:tagLst>
</file>

<file path=ppt/tags/tag74.xml><?xml version="1.0" encoding="utf-8"?>
<p:tagLst xmlns:p="http://schemas.openxmlformats.org/presentationml/2006/main">
  <p:tag name="KSO_WM_DIAGRAM_VIRTUALLY_FRAME" val="{&quot;height&quot;:295,&quot;left&quot;:60,&quot;top&quot;:225,&quot;width&quot;:420}"/>
</p:tagLst>
</file>

<file path=ppt/tags/tag75.xml><?xml version="1.0" encoding="utf-8"?>
<p:tagLst xmlns:p="http://schemas.openxmlformats.org/presentationml/2006/main">
  <p:tag name="KSO_WM_DIAGRAM_VIRTUALLY_FRAME" val="{&quot;height&quot;:295,&quot;left&quot;:60,&quot;top&quot;:225,&quot;width&quot;:420}"/>
</p:tagLst>
</file>

<file path=ppt/tags/tag76.xml><?xml version="1.0" encoding="utf-8"?>
<p:tagLst xmlns:p="http://schemas.openxmlformats.org/presentationml/2006/main">
  <p:tag name="KSO_WM_DIAGRAM_VIRTUALLY_FRAME" val="{&quot;height&quot;:295,&quot;left&quot;:60,&quot;top&quot;:225,&quot;width&quot;:420}"/>
</p:tagLst>
</file>

<file path=ppt/tags/tag77.xml><?xml version="1.0" encoding="utf-8"?>
<p:tagLst xmlns:p="http://schemas.openxmlformats.org/presentationml/2006/main">
  <p:tag name="KSO_WM_DIAGRAM_VIRTUALLY_FRAME" val="{&quot;height&quot;:295,&quot;left&quot;:60,&quot;top&quot;:225,&quot;width&quot;:42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7369</Words>
  <Application>WPS 演示</Application>
  <PresentationFormat/>
  <Paragraphs>562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25</vt:i4>
      </vt:variant>
    </vt:vector>
  </HeadingPairs>
  <TitlesOfParts>
    <vt:vector size="38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1_默认主题</vt:lpstr>
      <vt:lpstr>2_默认主题</vt:lpstr>
      <vt:lpstr>3_默认主题</vt:lpstr>
      <vt:lpstr>4_默认主题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WPS_1586523613</cp:lastModifiedBy>
  <cp:revision>3</cp:revision>
  <dcterms:created xsi:type="dcterms:W3CDTF">2026-05-12T10:56:00Z</dcterms:created>
  <dcterms:modified xsi:type="dcterms:W3CDTF">2026-05-13T04:21:38Z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0F044E6917C54D3CA925C516F325A788_13</vt:lpwstr>
  </property>
</Properties>
</file>