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6" Type="http://schemas.openxmlformats.org/officeDocument/2006/relationships/image" Target="../media/image7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image" Target="../media/image19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1" Type="http://schemas.openxmlformats.org/officeDocument/2006/relationships/notesSlide" Target="../notesSlides/notesSlide15.xml"/><Relationship Id="rId30" Type="http://schemas.openxmlformats.org/officeDocument/2006/relationships/slideLayout" Target="../slideLayouts/slideLayout1.xml"/><Relationship Id="rId3" Type="http://schemas.openxmlformats.org/officeDocument/2006/relationships/tags" Target="../tags/tag2.xml"/><Relationship Id="rId29" Type="http://schemas.openxmlformats.org/officeDocument/2006/relationships/tags" Target="../tags/tag24.xml"/><Relationship Id="rId28" Type="http://schemas.openxmlformats.org/officeDocument/2006/relationships/tags" Target="../tags/tag23.xml"/><Relationship Id="rId27" Type="http://schemas.openxmlformats.org/officeDocument/2006/relationships/image" Target="../media/image21.png"/><Relationship Id="rId26" Type="http://schemas.openxmlformats.org/officeDocument/2006/relationships/tags" Target="../tags/tag22.xml"/><Relationship Id="rId25" Type="http://schemas.openxmlformats.org/officeDocument/2006/relationships/tags" Target="../tags/tag21.xml"/><Relationship Id="rId24" Type="http://schemas.openxmlformats.org/officeDocument/2006/relationships/tags" Target="../tags/tag20.xml"/><Relationship Id="rId23" Type="http://schemas.openxmlformats.org/officeDocument/2006/relationships/tags" Target="../tags/tag19.xml"/><Relationship Id="rId22" Type="http://schemas.openxmlformats.org/officeDocument/2006/relationships/tags" Target="../tags/tag18.xml"/><Relationship Id="rId21" Type="http://schemas.openxmlformats.org/officeDocument/2006/relationships/tags" Target="../tags/tag17.xml"/><Relationship Id="rId20" Type="http://schemas.openxmlformats.org/officeDocument/2006/relationships/image" Target="../media/image20.png"/><Relationship Id="rId2" Type="http://schemas.openxmlformats.org/officeDocument/2006/relationships/tags" Target="../tags/tag1.xml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image" Target="../media/image7.png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2" Type="http://schemas.openxmlformats.org/officeDocument/2006/relationships/image" Target="../media/image9.png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4.png"/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1.png"/><Relationship Id="rId3" Type="http://schemas.openxmlformats.org/officeDocument/2006/relationships/image" Target="../media/image16.png"/><Relationship Id="rId2" Type="http://schemas.openxmlformats.org/officeDocument/2006/relationships/image" Target="../media/image25.png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1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4" name="Shape 2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5EEAD4"/>
          </a:solidFill>
        </p:spPr>
      </p:sp>
      <p:sp>
        <p:nvSpPr>
          <p:cNvPr id="5" name="Text 3"/>
          <p:cNvSpPr/>
          <p:nvPr/>
        </p:nvSpPr>
        <p:spPr>
          <a:xfrm>
            <a:off x="1005840" y="14173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5EEA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开源软件开发 · 小组周报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9264" y="196596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工程教育认证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987552" y="2907792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5EEA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毕业要求达成度统一计算平台</a:t>
            </a:r>
            <a:endParaRPr lang="en-US" sz="5000" dirty="0"/>
          </a:p>
        </p:txBody>
      </p:sp>
      <p:sp>
        <p:nvSpPr>
          <p:cNvPr id="8" name="Shape 6"/>
          <p:cNvSpPr/>
          <p:nvPr/>
        </p:nvSpPr>
        <p:spPr>
          <a:xfrm>
            <a:off x="1024128" y="4041648"/>
            <a:ext cx="3108960" cy="4572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9" name="Text 7"/>
          <p:cNvSpPr/>
          <p:nvPr/>
        </p:nvSpPr>
        <p:spPr>
          <a:xfrm>
            <a:off x="1005840" y="422452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工作进展 · 功能演示 · 难点攻克 · AI 编程实践 · 组间交流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5029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计算平台开发组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5440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DB4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汇报周期：第十六周（2026.06.15 – 06.21）   |   仓库：WindZzz1/Computing_Platform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05840" y="63550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86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Spring Boot · Vue3 · MySQL · EasyExcel · PDFBox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3" name="Text 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面向专业认证的毕业要求达成度计算平台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39535" y="647395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第十六周工作汇报 · 计算平台开发组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AGENDA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84124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本次汇报内容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36118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828800"/>
            <a:ext cx="82296" cy="192024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10" name="Text 8"/>
          <p:cNvSpPr/>
          <p:nvPr/>
        </p:nvSpPr>
        <p:spPr>
          <a:xfrm>
            <a:off x="804672" y="2029968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40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2084832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2724912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工作进展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22960" y="312724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成员分工 · 项目本周进展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70832" y="1828800"/>
            <a:ext cx="36118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70832" y="1828800"/>
            <a:ext cx="82296" cy="192024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16" name="Text 13"/>
          <p:cNvSpPr/>
          <p:nvPr/>
        </p:nvSpPr>
        <p:spPr>
          <a:xfrm>
            <a:off x="4626864" y="2029968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40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2" y="2084832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645152" y="2724912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功能演示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4645152" y="312724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 D 报表导出 · 响应拦截器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193024" y="1828800"/>
            <a:ext cx="36118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193024" y="1828800"/>
            <a:ext cx="82296" cy="192024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22" name="Text 18"/>
          <p:cNvSpPr/>
          <p:nvPr/>
        </p:nvSpPr>
        <p:spPr>
          <a:xfrm>
            <a:off x="8449056" y="2029968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40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2084832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467344" y="2724912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难点攻克</a:t>
            </a:r>
            <a:endParaRPr lang="en-US" sz="1900" dirty="0"/>
          </a:p>
        </p:txBody>
      </p:sp>
      <p:sp>
        <p:nvSpPr>
          <p:cNvPr id="25" name="Text 20"/>
          <p:cNvSpPr/>
          <p:nvPr/>
        </p:nvSpPr>
        <p:spPr>
          <a:xfrm>
            <a:off x="8467344" y="312724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六大技术难题及解决经验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548640" y="3977640"/>
            <a:ext cx="36118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48640" y="3977640"/>
            <a:ext cx="82296" cy="192024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28" name="Text 23"/>
          <p:cNvSpPr/>
          <p:nvPr/>
        </p:nvSpPr>
        <p:spPr>
          <a:xfrm>
            <a:off x="804672" y="4178808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40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4233672"/>
            <a:ext cx="384048" cy="38404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22960" y="4873752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小组分享</a:t>
            </a:r>
            <a:endParaRPr lang="en-US" sz="1900" dirty="0"/>
          </a:p>
        </p:txBody>
      </p:sp>
      <p:sp>
        <p:nvSpPr>
          <p:cNvPr id="31" name="Text 25"/>
          <p:cNvSpPr/>
          <p:nvPr/>
        </p:nvSpPr>
        <p:spPr>
          <a:xfrm>
            <a:off x="822960" y="527608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编程可操作、可验证实践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4370832" y="3977640"/>
            <a:ext cx="36118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370832" y="3977640"/>
            <a:ext cx="82296" cy="192024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34" name="Text 28"/>
          <p:cNvSpPr/>
          <p:nvPr/>
        </p:nvSpPr>
        <p:spPr>
          <a:xfrm>
            <a:off x="4626864" y="4178808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40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632" y="4233672"/>
            <a:ext cx="384048" cy="38404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645152" y="4873752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组间交流</a:t>
            </a:r>
            <a:endParaRPr lang="en-US" sz="1900" dirty="0"/>
          </a:p>
        </p:txBody>
      </p:sp>
      <p:sp>
        <p:nvSpPr>
          <p:cNvPr id="37" name="Text 30"/>
          <p:cNvSpPr/>
          <p:nvPr/>
        </p:nvSpPr>
        <p:spPr>
          <a:xfrm>
            <a:off x="4645152" y="527608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跨组提问与本组回答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3" name="Text 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面向专业认证的毕业要求达成度计算平台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39535" y="647395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第十六周工作汇报 · 计算平台开发组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OVERVIEW · 本周一览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498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713232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用数字看本周产出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874520"/>
            <a:ext cx="82296" cy="1600200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11" name="Text 8"/>
          <p:cNvSpPr/>
          <p:nvPr/>
        </p:nvSpPr>
        <p:spPr>
          <a:xfrm>
            <a:off x="777240" y="2148840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57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795528" y="295351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次提交 commit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355848" y="187452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55848" y="1874520"/>
            <a:ext cx="82296" cy="16002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5" name="Text 12"/>
          <p:cNvSpPr/>
          <p:nvPr/>
        </p:nvSpPr>
        <p:spPr>
          <a:xfrm>
            <a:off x="3584448" y="2148840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28+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3602736" y="295351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 PR 合并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163056" y="187452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63056" y="1874520"/>
            <a:ext cx="82296" cy="160020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19" name="Text 16"/>
          <p:cNvSpPr/>
          <p:nvPr/>
        </p:nvSpPr>
        <p:spPr>
          <a:xfrm>
            <a:off x="6391656" y="2148840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72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88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6409944" y="295351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个文件变更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970264" y="187452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970264" y="1874520"/>
            <a:ext cx="82296" cy="160020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3" name="Text 20"/>
          <p:cNvSpPr/>
          <p:nvPr/>
        </p:nvSpPr>
        <p:spPr>
          <a:xfrm>
            <a:off x="9198864" y="2148840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C3A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+5283 / −431</a:t>
            </a:r>
            <a:endParaRPr lang="en-US" sz="3600" dirty="0"/>
          </a:p>
        </p:txBody>
      </p:sp>
      <p:sp>
        <p:nvSpPr>
          <p:cNvPr id="24" name="Text 21"/>
          <p:cNvSpPr/>
          <p:nvPr/>
        </p:nvSpPr>
        <p:spPr>
          <a:xfrm>
            <a:off x="9217152" y="295351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代码行增删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640" y="370332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48640" y="3703320"/>
            <a:ext cx="82296" cy="16002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27" name="Text 24"/>
          <p:cNvSpPr/>
          <p:nvPr/>
        </p:nvSpPr>
        <p:spPr>
          <a:xfrm>
            <a:off x="777240" y="3977640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B4530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3600" dirty="0"/>
          </a:p>
        </p:txBody>
      </p:sp>
      <p:sp>
        <p:nvSpPr>
          <p:cNvPr id="28" name="Text 25"/>
          <p:cNvSpPr/>
          <p:nvPr/>
        </p:nvSpPr>
        <p:spPr>
          <a:xfrm>
            <a:off x="795528" y="478231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名成员协作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3355848" y="370332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355848" y="3703320"/>
            <a:ext cx="82296" cy="1600200"/>
          </a:xfrm>
          <a:prstGeom prst="rect">
            <a:avLst/>
          </a:prstGeom>
          <a:solidFill>
            <a:srgbClr val="16A34A"/>
          </a:solidFill>
        </p:spPr>
      </p:sp>
      <p:sp>
        <p:nvSpPr>
          <p:cNvPr id="31" name="Text 28"/>
          <p:cNvSpPr/>
          <p:nvPr/>
        </p:nvSpPr>
        <p:spPr>
          <a:xfrm>
            <a:off x="3584448" y="3977640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A3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44</a:t>
            </a:r>
            <a:endParaRPr lang="en-US" sz="3600" dirty="0"/>
          </a:p>
        </p:txBody>
      </p:sp>
      <p:sp>
        <p:nvSpPr>
          <p:cNvPr id="32" name="Text 29"/>
          <p:cNvSpPr/>
          <p:nvPr/>
        </p:nvSpPr>
        <p:spPr>
          <a:xfrm>
            <a:off x="3602736" y="478231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个单元测试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6163056" y="370332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163056" y="3703320"/>
            <a:ext cx="82296" cy="160020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35" name="Text 32"/>
          <p:cNvSpPr/>
          <p:nvPr/>
        </p:nvSpPr>
        <p:spPr>
          <a:xfrm>
            <a:off x="6391656" y="3977640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F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3600" dirty="0"/>
          </a:p>
        </p:txBody>
      </p:sp>
      <p:sp>
        <p:nvSpPr>
          <p:cNvPr id="36" name="Text 33"/>
          <p:cNvSpPr/>
          <p:nvPr/>
        </p:nvSpPr>
        <p:spPr>
          <a:xfrm>
            <a:off x="6409944" y="478231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大类难题攻克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8970264" y="370332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8970264" y="3703320"/>
            <a:ext cx="82296" cy="160020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39" name="Text 36"/>
          <p:cNvSpPr/>
          <p:nvPr/>
        </p:nvSpPr>
        <p:spPr>
          <a:xfrm>
            <a:off x="9198864" y="3977640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72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3600" dirty="0"/>
          </a:p>
        </p:txBody>
      </p:sp>
      <p:sp>
        <p:nvSpPr>
          <p:cNvPr id="40" name="Text 37"/>
          <p:cNvSpPr/>
          <p:nvPr/>
        </p:nvSpPr>
        <p:spPr>
          <a:xfrm>
            <a:off x="9217152" y="478231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报表模块落地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数据来源：git log（2026-06-15 ~ 06-21，全分支）+ 开发进度交接.md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3" name="Text 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面向专业认证的毕业要求达成度计算平台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39535" y="647395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第十六周工作汇报 · 计算平台开发组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TEAM · 成员分工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498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713232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本周各成员工作内容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48640" y="1783080"/>
          <a:ext cx="11091672" cy="4663440"/>
        </p:xfrm>
        <a:graphic>
          <a:graphicData uri="http://schemas.openxmlformats.org/drawingml/2006/table">
            <a:tbl>
              <a:tblPr/>
              <a:tblGrid>
                <a:gridCol w="1828800"/>
                <a:gridCol w="2468880"/>
                <a:gridCol w="6793992"/>
              </a:tblGrid>
              <a:tr h="9326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工作流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成员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本周主要工作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F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后端 &amp; 集成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于佳杰 / WindZzz1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模块 D 报表（D-1/D-2/D-3）全量补全；T1 致命 + T2 严重问题修复；P1 优化；28 个 PR 流程编排与 E2E 验收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前端开发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lzzpp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模块 D 前端联调；编辑对话框对接后端 detail 端点；教师集成入口与角色隔离优化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前端集成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lzzxinji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前端 PR 合并协调、跨分支集成（detail-fetch / teacher-flow 等）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7C3AE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矩阵模块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IStarrrr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矩阵指标点按专业过滤 + 归属校验；修正指标点删除引用校验的结果表名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协作方式：GitHub Fork → 特性分支（fix/…、feat/…）→ Issue 编号关联 → merge-commit 合并；PR 正文首行 Closes #Issue 自动关闭。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3" name="Text 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面向专业认证的毕业要求达成度计算平台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39535" y="647395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第十六周工作汇报 · 计算平台开发组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CONTEXT · 项目主线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498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713232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本周两条主线 + 三级达成度计算传导链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3977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783080"/>
            <a:ext cx="82296" cy="411480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11" name="Text 8"/>
          <p:cNvSpPr/>
          <p:nvPr/>
        </p:nvSpPr>
        <p:spPr>
          <a:xfrm>
            <a:off x="777240" y="193852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本周两条主线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77240" y="2377440"/>
            <a:ext cx="356616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主线一 · 模块 D 报表补全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上周 D-1/D-2/D-3 全部 throw "暂未实现" 的空壳 stub，本周 6 个报表接口 + Excel×3 + PDF×2 全部落地可用。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主线二 · 质量加固（T1/T2）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针对计算正确性、权限越权、事务原子性等 11 个致命/严重问题逐一修复，并补齐 P1 工程优化。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54880" y="1783080"/>
            <a:ext cx="69037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1783080"/>
            <a:ext cx="82296" cy="4114800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15" name="Text 12"/>
          <p:cNvSpPr/>
          <p:nvPr/>
        </p:nvSpPr>
        <p:spPr>
          <a:xfrm>
            <a:off x="4983480" y="193852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三级达成度计算传导链（自下而上）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983480" y="2395728"/>
            <a:ext cx="6446520" cy="676656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17" name="Text 14"/>
          <p:cNvSpPr/>
          <p:nvPr/>
        </p:nvSpPr>
        <p:spPr>
          <a:xfrm>
            <a:off x="5138928" y="2395728"/>
            <a:ext cx="246888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考核点得分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498080" y="2395728"/>
            <a:ext cx="384048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2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student_score（学生 × 指标点得分）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101584" y="3090672"/>
            <a:ext cx="310896" cy="128016"/>
          </a:xfrm>
          <a:prstGeom prst="down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983480" y="3236976"/>
            <a:ext cx="6446520" cy="676656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21" name="Text 18"/>
          <p:cNvSpPr/>
          <p:nvPr/>
        </p:nvSpPr>
        <p:spPr>
          <a:xfrm>
            <a:off x="5138928" y="3236976"/>
            <a:ext cx="246888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一级 · 课程目标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498080" y="3236976"/>
            <a:ext cx="384048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2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C_ij = Σ实际得分 / Σ目标满分   [教师触发]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101584" y="3931920"/>
            <a:ext cx="310896" cy="128016"/>
          </a:xfrm>
          <a:prstGeom prst="down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983480" y="4078224"/>
            <a:ext cx="6446520" cy="67665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5" name="Text 22"/>
          <p:cNvSpPr/>
          <p:nvPr/>
        </p:nvSpPr>
        <p:spPr>
          <a:xfrm>
            <a:off x="5138928" y="4078224"/>
            <a:ext cx="246888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二级 · 课程指标点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498080" y="4078224"/>
            <a:ext cx="384048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2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E_k = Σ(C_j × w_jk)，Σw = 1.0   [教师触发]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101584" y="4773168"/>
            <a:ext cx="310896" cy="128016"/>
          </a:xfrm>
          <a:prstGeom prst="down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983480" y="4919472"/>
            <a:ext cx="6446520" cy="676656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29" name="Text 26"/>
          <p:cNvSpPr/>
          <p:nvPr/>
        </p:nvSpPr>
        <p:spPr>
          <a:xfrm>
            <a:off x="5138928" y="4919472"/>
            <a:ext cx="246888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三级 · 专业指标点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7498080" y="4919472"/>
            <a:ext cx="384048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2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G_k = Σ(E_c × W_c)，ΣW = 1.0   [专业负责人 / 教务]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983480" y="5742432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D-1 = 一/二级课程报表  ·  D-2 = 三级专业（雷达图 + 穿透台账）  ·  D-3 = 专业指标点达成度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4" name="Text 2"/>
          <p:cNvSpPr/>
          <p:nvPr/>
        </p:nvSpPr>
        <p:spPr>
          <a:xfrm>
            <a:off x="7680960" y="365760"/>
            <a:ext cx="4023360" cy="420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1A3A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5EEA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01 · WORK PROGRESS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603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542032"/>
            <a:ext cx="8686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工作进展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32688" y="35204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CDE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成员分工 · 项目本周进展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9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面向专业认证的毕业要求达成度计算平台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7295" y="63550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9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3" name="Text 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面向专业认证的毕业要求达成度计算平台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39535" y="647395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第十六周工作汇报 · 计算平台开发组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PROGRESS · 模块 D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498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713232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报表模块从「空壳」到「全量可用」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3931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783080"/>
            <a:ext cx="82296" cy="1234440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9339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07008" y="193852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上周状态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77240" y="2331720"/>
            <a:ext cx="3520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D-1/D-2/D-3 全部 throw "暂未实现"，报表接口未纳入 JWT 白名单（一直返回「未登录」）。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17720" y="1783080"/>
            <a:ext cx="70408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17720" y="1783080"/>
            <a:ext cx="82296" cy="1234440"/>
          </a:xfrm>
          <a:prstGeom prst="rect">
            <a:avLst/>
          </a:prstGeom>
          <a:solidFill>
            <a:srgbClr val="16A34A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99339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76088" y="193852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本周成果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846320" y="2331720"/>
            <a:ext cx="6629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个报表接口落地 + Excel 导出 ×3 + PDF 导出 ×2；JWT 白名单修复；雷达图 / 穿透台账 / 专业指标点全部可用。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246120"/>
            <a:ext cx="36118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48640" y="3246120"/>
            <a:ext cx="82296" cy="274320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21" name="Text 16"/>
          <p:cNvSpPr/>
          <p:nvPr/>
        </p:nvSpPr>
        <p:spPr>
          <a:xfrm>
            <a:off x="804672" y="3401568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D-1</a:t>
            </a:r>
            <a:endParaRPr lang="en-US" sz="3000" dirty="0"/>
          </a:p>
        </p:txBody>
      </p:sp>
      <p:sp>
        <p:nvSpPr>
          <p:cNvPr id="22" name="Text 17"/>
          <p:cNvSpPr/>
          <p:nvPr/>
        </p:nvSpPr>
        <p:spPr>
          <a:xfrm>
            <a:off x="822960" y="402336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课程目标达成度评价表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22960" y="461772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数据接口 + Excel + PDF（嵌入 CJK 字体）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822960" y="5532120"/>
            <a:ext cx="3063240" cy="310896"/>
          </a:xfrm>
          <a:prstGeom prst="rect">
            <a:avLst/>
          </a:prstGeom>
          <a:solidFill>
            <a:srgbClr val="F4F7FB"/>
          </a:solidFill>
        </p:spPr>
      </p:sp>
      <p:sp>
        <p:nvSpPr>
          <p:cNvPr id="25" name="Text 20"/>
          <p:cNvSpPr/>
          <p:nvPr/>
        </p:nvSpPr>
        <p:spPr>
          <a:xfrm>
            <a:off x="822960" y="5532120"/>
            <a:ext cx="3063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2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#114 D-1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370832" y="3246120"/>
            <a:ext cx="36118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370832" y="3246120"/>
            <a:ext cx="82296" cy="27432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8" name="Text 23"/>
          <p:cNvSpPr/>
          <p:nvPr/>
        </p:nvSpPr>
        <p:spPr>
          <a:xfrm>
            <a:off x="4626864" y="3401568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D-2</a:t>
            </a:r>
            <a:endParaRPr lang="en-US" sz="3000" dirty="0"/>
          </a:p>
        </p:txBody>
      </p:sp>
      <p:sp>
        <p:nvSpPr>
          <p:cNvPr id="29" name="Text 24"/>
          <p:cNvSpPr/>
          <p:nvPr/>
        </p:nvSpPr>
        <p:spPr>
          <a:xfrm>
            <a:off x="4645152" y="402336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专业雷达图 + 穿透式台账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4645152" y="461772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MajorScopeHelper 复用 · 五层组装 · Excel 5 sheet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4645152" y="5532120"/>
            <a:ext cx="3063240" cy="310896"/>
          </a:xfrm>
          <a:prstGeom prst="rect">
            <a:avLst/>
          </a:prstGeom>
          <a:solidFill>
            <a:srgbClr val="F4F7FB"/>
          </a:solidFill>
        </p:spPr>
      </p:sp>
      <p:sp>
        <p:nvSpPr>
          <p:cNvPr id="32" name="Text 27"/>
          <p:cNvSpPr/>
          <p:nvPr/>
        </p:nvSpPr>
        <p:spPr>
          <a:xfrm>
            <a:off x="4645152" y="5532120"/>
            <a:ext cx="3063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#126/#128/#130 D-2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8193024" y="3246120"/>
            <a:ext cx="36118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8193024" y="3246120"/>
            <a:ext cx="82296" cy="2743200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35" name="Text 30"/>
          <p:cNvSpPr/>
          <p:nvPr/>
        </p:nvSpPr>
        <p:spPr>
          <a:xfrm>
            <a:off x="8449056" y="3401568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D-3</a:t>
            </a:r>
            <a:endParaRPr lang="en-US" sz="3000" dirty="0"/>
          </a:p>
        </p:txBody>
      </p:sp>
      <p:sp>
        <p:nvSpPr>
          <p:cNvPr id="36" name="Text 31"/>
          <p:cNvSpPr/>
          <p:nvPr/>
        </p:nvSpPr>
        <p:spPr>
          <a:xfrm>
            <a:off x="8467344" y="402336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专业指标点达成度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8467344" y="461772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Excel + PDF 导出（专业级权限）</a:t>
            </a:r>
            <a:endParaRPr lang="en-US" sz="1150" dirty="0"/>
          </a:p>
        </p:txBody>
      </p:sp>
      <p:sp>
        <p:nvSpPr>
          <p:cNvPr id="38" name="Shape 33"/>
          <p:cNvSpPr/>
          <p:nvPr/>
        </p:nvSpPr>
        <p:spPr>
          <a:xfrm>
            <a:off x="8467344" y="5532120"/>
            <a:ext cx="3063240" cy="310896"/>
          </a:xfrm>
          <a:prstGeom prst="rect">
            <a:avLst/>
          </a:prstGeom>
          <a:solidFill>
            <a:srgbClr val="F4F7FB"/>
          </a:solidFill>
        </p:spPr>
      </p:sp>
      <p:sp>
        <p:nvSpPr>
          <p:cNvPr id="39" name="Text 34"/>
          <p:cNvSpPr/>
          <p:nvPr/>
        </p:nvSpPr>
        <p:spPr>
          <a:xfrm>
            <a:off x="8467344" y="5532120"/>
            <a:ext cx="3063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#144 D-3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3" name="Text 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面向专业认证的毕业要求达成度计算平台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39535" y="647395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第十六周工作汇报 · 计算平台开发组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PROGRESS · D-1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498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713232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课程目标达成情况评价表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110916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828800"/>
            <a:ext cx="82296" cy="804672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11" name="Shape 8"/>
          <p:cNvSpPr/>
          <p:nvPr/>
        </p:nvSpPr>
        <p:spPr>
          <a:xfrm>
            <a:off x="777240" y="2002536"/>
            <a:ext cx="457200" cy="45720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2" name="Text 9"/>
          <p:cNvSpPr/>
          <p:nvPr/>
        </p:nvSpPr>
        <p:spPr>
          <a:xfrm>
            <a:off x="777240" y="200253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17320" y="1828800"/>
            <a:ext cx="23774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数据接口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840480" y="1828800"/>
            <a:ext cx="75895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CourseAchievementReportServiceImpl.generateReportData() 返回完整 VO，PDF/Excel 直接渲染。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2761488"/>
            <a:ext cx="110916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" y="2761488"/>
            <a:ext cx="82296" cy="804672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17" name="Shape 14"/>
          <p:cNvSpPr/>
          <p:nvPr/>
        </p:nvSpPr>
        <p:spPr>
          <a:xfrm>
            <a:off x="777240" y="2935224"/>
            <a:ext cx="457200" cy="45720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8" name="Text 15"/>
          <p:cNvSpPr/>
          <p:nvPr/>
        </p:nvSpPr>
        <p:spPr>
          <a:xfrm>
            <a:off x="777240" y="293522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417320" y="2761488"/>
            <a:ext cx="23774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Excel 导出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840480" y="2761488"/>
            <a:ext cx="75895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POST /course-report/export/excel —— 课程目标达成度明细，列：目标、满分、平均得分、达成度。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3694176"/>
            <a:ext cx="110916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8640" y="3694176"/>
            <a:ext cx="82296" cy="804672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23" name="Shape 20"/>
          <p:cNvSpPr/>
          <p:nvPr/>
        </p:nvSpPr>
        <p:spPr>
          <a:xfrm>
            <a:off x="777240" y="3867912"/>
            <a:ext cx="457200" cy="45720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24" name="Text 21"/>
          <p:cNvSpPr/>
          <p:nvPr/>
        </p:nvSpPr>
        <p:spPr>
          <a:xfrm>
            <a:off x="777240" y="38679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417320" y="3694176"/>
            <a:ext cx="23774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PDF 导出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840480" y="3694176"/>
            <a:ext cx="75895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POST /course-report/export/pdf —— 嵌入 LXGW WenKai 中文字体，PdfTableRenderer 表格化渲染。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48640" y="4626864"/>
            <a:ext cx="110916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48640" y="4626864"/>
            <a:ext cx="82296" cy="804672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29" name="Shape 26"/>
          <p:cNvSpPr/>
          <p:nvPr/>
        </p:nvSpPr>
        <p:spPr>
          <a:xfrm>
            <a:off x="777240" y="4800600"/>
            <a:ext cx="457200" cy="45720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30" name="Text 27"/>
          <p:cNvSpPr/>
          <p:nvPr/>
        </p:nvSpPr>
        <p:spPr>
          <a:xfrm>
            <a:off x="777240" y="4800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417320" y="4626864"/>
            <a:ext cx="23774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顺带修复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3840480" y="4626864"/>
            <a:ext cx="75895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报表接口纳入 JWT 拦截器白名单（此前报表接口一直返回「未登录」）。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48640" y="576072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关键文件：service/impl/CourseAchievementReportServiceImpl.java · controller/CourseAchievementReportController.java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3" name="Text 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面向专业认证的毕业要求达成度计算平台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39535" y="647395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第十六周工作汇报 · 计算平台开发组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PROGRESS · D-2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498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713232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专业雷达图 + 穿透式台账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110916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828800"/>
            <a:ext cx="82296" cy="80467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1" name="Shape 8"/>
          <p:cNvSpPr/>
          <p:nvPr/>
        </p:nvSpPr>
        <p:spPr>
          <a:xfrm>
            <a:off x="777240" y="2002536"/>
            <a:ext cx="457200" cy="45720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2" name="Text 9"/>
          <p:cNvSpPr/>
          <p:nvPr/>
        </p:nvSpPr>
        <p:spPr>
          <a:xfrm>
            <a:off x="777240" y="200253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17320" y="1828800"/>
            <a:ext cx="265176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雷达图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114800" y="1828800"/>
            <a:ext cx="731520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POST /major-report/radar-data —— 抽取 MajorScopeHelper 复用专业/学年/年级 scope，前端直接画图。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2761488"/>
            <a:ext cx="110916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" y="2761488"/>
            <a:ext cx="82296" cy="80467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7" name="Shape 14"/>
          <p:cNvSpPr/>
          <p:nvPr/>
        </p:nvSpPr>
        <p:spPr>
          <a:xfrm>
            <a:off x="777240" y="2935224"/>
            <a:ext cx="457200" cy="45720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8" name="Text 15"/>
          <p:cNvSpPr/>
          <p:nvPr/>
        </p:nvSpPr>
        <p:spPr>
          <a:xfrm>
            <a:off x="777240" y="293522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417320" y="2761488"/>
            <a:ext cx="265176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穿透台账·组装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114800" y="2761488"/>
            <a:ext cx="731520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五层穿透：major_indicator → course_indicator → student_objective → student_score，废弃坏 PenetrationAccountMapper。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3694176"/>
            <a:ext cx="110916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8640" y="3694176"/>
            <a:ext cx="82296" cy="80467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3" name="Shape 20"/>
          <p:cNvSpPr/>
          <p:nvPr/>
        </p:nvSpPr>
        <p:spPr>
          <a:xfrm>
            <a:off x="777240" y="3867912"/>
            <a:ext cx="457200" cy="45720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24" name="Text 21"/>
          <p:cNvSpPr/>
          <p:nvPr/>
        </p:nvSpPr>
        <p:spPr>
          <a:xfrm>
            <a:off x="777240" y="38679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417320" y="3694176"/>
            <a:ext cx="265176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穿透台账·导出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114800" y="3694176"/>
            <a:ext cx="731520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POST /major-report/export/account-excel —— 5 个 sheet 汇总，AssessmentPointAccount VO 对齐前端。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48640" y="4626864"/>
            <a:ext cx="110916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48640" y="4626864"/>
            <a:ext cx="82296" cy="80467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9" name="Shape 26"/>
          <p:cNvSpPr/>
          <p:nvPr/>
        </p:nvSpPr>
        <p:spPr>
          <a:xfrm>
            <a:off x="777240" y="4800600"/>
            <a:ext cx="457200" cy="45720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30" name="Text 27"/>
          <p:cNvSpPr/>
          <p:nvPr/>
        </p:nvSpPr>
        <p:spPr>
          <a:xfrm>
            <a:off x="777240" y="4800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417320" y="4626864"/>
            <a:ext cx="265176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权限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4114800" y="4626864"/>
            <a:ext cx="731520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@AuthCheck(anyRole = ROLE_LEADER, ROLE_EDU) —— 专业负责人 / 教务可访问（#110 修复后真正生效）。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48640" y="576072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关键文件：service/impl/MajorReportServiceImpl.java · manager/MajorScopeHelper.java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3" name="Text 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面向专业认证的毕业要求达成度计算平台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39535" y="647395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第十六周工作汇报 · 计算平台开发组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PROGRESS · D-3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498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713232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专业指标点达成度导出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110916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828800"/>
            <a:ext cx="82296" cy="804672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11" name="Shape 8"/>
          <p:cNvSpPr/>
          <p:nvPr/>
        </p:nvSpPr>
        <p:spPr>
          <a:xfrm>
            <a:off x="777240" y="2002536"/>
            <a:ext cx="457200" cy="457200"/>
          </a:xfrm>
          <a:prstGeom prst="ellipse">
            <a:avLst/>
          </a:prstGeom>
          <a:solidFill>
            <a:srgbClr val="0F2A4A"/>
          </a:solidFill>
        </p:spPr>
      </p:sp>
      <p:sp>
        <p:nvSpPr>
          <p:cNvPr id="12" name="Text 9"/>
          <p:cNvSpPr/>
          <p:nvPr/>
        </p:nvSpPr>
        <p:spPr>
          <a:xfrm>
            <a:off x="777240" y="200253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17320" y="1828800"/>
            <a:ext cx="23774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Excel 导出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840480" y="1828800"/>
            <a:ext cx="75895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POST /major-report/export/indicator-excel —— 各毕业要求指标点 G_k 达成度汇总表。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2761488"/>
            <a:ext cx="110916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" y="2761488"/>
            <a:ext cx="82296" cy="804672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17" name="Shape 14"/>
          <p:cNvSpPr/>
          <p:nvPr/>
        </p:nvSpPr>
        <p:spPr>
          <a:xfrm>
            <a:off x="777240" y="2935224"/>
            <a:ext cx="457200" cy="457200"/>
          </a:xfrm>
          <a:prstGeom prst="ellipse">
            <a:avLst/>
          </a:prstGeom>
          <a:solidFill>
            <a:srgbClr val="0F2A4A"/>
          </a:solidFill>
        </p:spPr>
      </p:sp>
      <p:sp>
        <p:nvSpPr>
          <p:cNvPr id="18" name="Text 15"/>
          <p:cNvSpPr/>
          <p:nvPr/>
        </p:nvSpPr>
        <p:spPr>
          <a:xfrm>
            <a:off x="777240" y="293522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417320" y="2761488"/>
            <a:ext cx="23774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PDF 导出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840480" y="2761488"/>
            <a:ext cx="75895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POST /major-report/export/indicator-pdf —— 复用嵌入 CJK 字体方案，专业级报表。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3694176"/>
            <a:ext cx="110916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8640" y="3694176"/>
            <a:ext cx="82296" cy="804672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23" name="Shape 20"/>
          <p:cNvSpPr/>
          <p:nvPr/>
        </p:nvSpPr>
        <p:spPr>
          <a:xfrm>
            <a:off x="777240" y="3867912"/>
            <a:ext cx="457200" cy="457200"/>
          </a:xfrm>
          <a:prstGeom prst="ellipse">
            <a:avLst/>
          </a:prstGeom>
          <a:solidFill>
            <a:srgbClr val="0F2A4A"/>
          </a:solidFill>
        </p:spPr>
      </p:sp>
      <p:sp>
        <p:nvSpPr>
          <p:cNvPr id="24" name="Text 21"/>
          <p:cNvSpPr/>
          <p:nvPr/>
        </p:nvSpPr>
        <p:spPr>
          <a:xfrm>
            <a:off x="777240" y="38679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417320" y="3694176"/>
            <a:ext cx="23774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数据来源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840480" y="3694176"/>
            <a:ext cx="75895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major_indicator_achievement 表（三级计算结果 G_k = Σ(E_c × W_c)）。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48640" y="4626864"/>
            <a:ext cx="110916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48640" y="4626864"/>
            <a:ext cx="82296" cy="804672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29" name="Shape 26"/>
          <p:cNvSpPr/>
          <p:nvPr/>
        </p:nvSpPr>
        <p:spPr>
          <a:xfrm>
            <a:off x="777240" y="4800600"/>
            <a:ext cx="457200" cy="457200"/>
          </a:xfrm>
          <a:prstGeom prst="ellipse">
            <a:avLst/>
          </a:prstGeom>
          <a:solidFill>
            <a:srgbClr val="0F2A4A"/>
          </a:solidFill>
        </p:spPr>
      </p:sp>
      <p:sp>
        <p:nvSpPr>
          <p:cNvPr id="30" name="Text 27"/>
          <p:cNvSpPr/>
          <p:nvPr/>
        </p:nvSpPr>
        <p:spPr>
          <a:xfrm>
            <a:off x="777240" y="4800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417320" y="4626864"/>
            <a:ext cx="23774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验收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3840480" y="4626864"/>
            <a:ext cx="75895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E2E：admin 临时放行后真实数据导出，PDF 头部 %PDF-1.4、中文正常、体积约 30KB。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48640" y="576072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至此模块 D 三个子报表（D-1/D-2/D-3）全部从空壳补全为可用功能。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3" name="Text 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面向专业认证的毕业要求达成度计算平台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39535" y="647395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第十六周工作汇报 · 计算平台开发组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QUALITY · T1 致命问题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498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713232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影响计算正确性 / 安全的 5 个致命问题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548640" y="1783080"/>
          <a:ext cx="11091672" cy="4498848"/>
        </p:xfrm>
        <a:graphic>
          <a:graphicData uri="http://schemas.openxmlformats.org/drawingml/2006/table">
            <a:tbl>
              <a:tblPr/>
              <a:tblGrid>
                <a:gridCol w="914400"/>
                <a:gridCol w="1691640"/>
                <a:gridCol w="914400"/>
                <a:gridCol w="7571232"/>
              </a:tblGrid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编号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问题类别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PR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解决方案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F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T1-3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F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鉴权越权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#110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AuthInterceptor 真正校验 anyRole（原先只读 mustRole，多角色接口对任意登录用户开放）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F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T1-1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F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计算丢数据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#111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calculateAchievement 失败时 setRollbackOnly() 显式回滚，避免「先删后插」中途失败丢数据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F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T1-2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F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跨专业串数据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#112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MajorCalculationServiceImpl 按 course.major_id + grade 过滤教学班（原空实现→跨专业串数据）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F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T1-4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F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重复计算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#113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新增 GradesheetStatusHelper 推断三态（未提交/已提交/已锁定）+ forceRecalculate 防重算 + 看板状态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F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D-1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F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报表 401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#114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报表接口纳入 JWT 白名单（原一直返回「未登录」）+ D-1 数据接口与 Excel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 PR 含编译通过 + 单测（#110=9 / #112=5 / #113=4）或 E2E 验证 + 详细正文。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3" name="Text 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面向专业认证的毕业要求达成度计算平台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39535" y="647395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第十六周工作汇报 · 计算平台开发组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QUALITY · T2 严重问题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498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713232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个严重问题 + 1 个 hotfix 合并修复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548640" y="1783080"/>
          <a:ext cx="11091672" cy="4480560"/>
        </p:xfrm>
        <a:graphic>
          <a:graphicData uri="http://schemas.openxmlformats.org/drawingml/2006/table">
            <a:tbl>
              <a:tblPr/>
              <a:tblGrid>
                <a:gridCol w="1005840"/>
                <a:gridCol w="1828800"/>
                <a:gridCol w="1005840"/>
                <a:gridCol w="7251192"/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编号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问题类别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PR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解决方案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hotfix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编译失败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#115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补回 #112/#113 合并冲突丢失的 StudentMapper 注入（曾导致 main 编译失败）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T2-6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公式偏差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#116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一级达成度公式改回规约 Σ得分/Σ满分（原为加权平均，结果不同）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T2-3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横向越权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#117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新增 OwnershipHelper，11 处写操作加数据级归属校验（班级 teacher_id / 课程归属）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T2-1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角色错误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#119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宏观矩阵配置接口 ROLE_EDU → ROLE_LEADER（规约 A-4 要求专业负责人）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T2-5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部分落库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#121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三个 Excel 批量导入改原子，任一行失败整批回滚（原先部分成功落库）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T2-4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跨班冲突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#123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student_score 唯一键加 class_id：uk_student_point → uk_class_student_point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GitHub Issues #118/#120/#122 已通过 PR 正文 Closes #N 自动关闭；远程库 schema 已 SHOW INDEX 验证。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3" name="Text 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面向专业认证的毕业要求达成度计算平台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39535" y="647395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第十六周工作汇报 · 计算平台开发组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QUALITY · P1 + 其他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498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713232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P1 工程优化、矩阵模块、前端联调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783080"/>
            <a:ext cx="82296" cy="1828800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002536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198424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前端响应拦截器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822960" y="24414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#134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22960" y="2743200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40100（未登录）→ 清登录态 + 跳 /login，原先只弹 error。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370832" y="178308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370832" y="1783080"/>
            <a:ext cx="82296" cy="1828800"/>
          </a:xfrm>
          <a:prstGeom prst="rect">
            <a:avLst/>
          </a:prstGeom>
          <a:solidFill>
            <a:srgbClr val="1C7293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864" y="2002536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02352" y="198424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导入原子化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4645152" y="24414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#136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645152" y="2743200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CourseServiceImpl.importCourses 去逐行 catch，任一行失败整批回滚。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8193024" y="178308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193024" y="1783080"/>
            <a:ext cx="82296" cy="1828800"/>
          </a:xfrm>
          <a:prstGeom prst="rect">
            <a:avLst/>
          </a:prstGeom>
          <a:solidFill>
            <a:srgbClr val="B45309"/>
          </a:solidFill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56" y="2002536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924544" y="198424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HikariCP keepalive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8467344" y="24414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#138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8467344" y="2743200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max-lifetime/keepalive-time/connection-test-query，解决远程 MySQL 空闲连接 stale。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548640" y="3776472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548640" y="3776472"/>
            <a:ext cx="82296" cy="1828800"/>
          </a:xfrm>
          <a:prstGeom prst="rect">
            <a:avLst/>
          </a:prstGeom>
          <a:solidFill>
            <a:srgbClr val="64748B"/>
          </a:solidFill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995928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280160" y="397764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死代码清理</a:t>
            </a:r>
            <a:endParaRPr lang="en-US" sz="1450" dirty="0"/>
          </a:p>
        </p:txBody>
      </p:sp>
      <p:sp>
        <p:nvSpPr>
          <p:cNvPr id="31" name="Text 24"/>
          <p:cNvSpPr/>
          <p:nvPr/>
        </p:nvSpPr>
        <p:spPr>
          <a:xfrm>
            <a:off x="822960" y="443484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#140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822960" y="4736592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删除 mock.ts / dict.ts、旧 types、GradeEntryServiceImpl.getCurrentUserId。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4370832" y="3776472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4370832" y="3776472"/>
            <a:ext cx="82296" cy="1828800"/>
          </a:xfrm>
          <a:prstGeom prst="rect">
            <a:avLst/>
          </a:prstGeom>
          <a:solidFill>
            <a:srgbClr val="7C3AED"/>
          </a:solidFill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6864" y="3995928"/>
            <a:ext cx="365760" cy="36576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102352" y="397764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矩阵模块</a:t>
            </a:r>
            <a:endParaRPr lang="en-US" sz="1450" dirty="0"/>
          </a:p>
        </p:txBody>
      </p:sp>
      <p:sp>
        <p:nvSpPr>
          <p:cNvPr id="37" name="Text 29"/>
          <p:cNvSpPr/>
          <p:nvPr/>
        </p:nvSpPr>
        <p:spPr>
          <a:xfrm>
            <a:off x="4645152" y="443484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4645152" y="4736592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按专业过滤矩阵指标点 + 归属校验；修正删除引用校验结果表名（IStarrrr）。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8193024" y="3776472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8193024" y="3776472"/>
            <a:ext cx="82296" cy="1828800"/>
          </a:xfrm>
          <a:prstGeom prst="rect">
            <a:avLst/>
          </a:prstGeom>
          <a:solidFill>
            <a:srgbClr val="16A34A"/>
          </a:solidFill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9056" y="3995928"/>
            <a:ext cx="365760" cy="36576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8924544" y="397764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前端联调</a:t>
            </a:r>
            <a:endParaRPr lang="en-US" sz="1450" dirty="0"/>
          </a:p>
        </p:txBody>
      </p:sp>
      <p:sp>
        <p:nvSpPr>
          <p:cNvPr id="43" name="Text 34"/>
          <p:cNvSpPr/>
          <p:nvPr/>
        </p:nvSpPr>
        <p:spPr>
          <a:xfrm>
            <a:off x="8467344" y="443484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</a:t>
            </a:r>
            <a:endParaRPr lang="en-US" sz="1100" dirty="0"/>
          </a:p>
        </p:txBody>
      </p:sp>
      <p:sp>
        <p:nvSpPr>
          <p:cNvPr id="44" name="Text 35"/>
          <p:cNvSpPr/>
          <p:nvPr/>
        </p:nvSpPr>
        <p:spPr>
          <a:xfrm>
            <a:off x="8467344" y="4736592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 模块编辑对话框对接后端 detail 端点；教师集成入口优化（lzzpp）。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4" name="Text 2"/>
          <p:cNvSpPr/>
          <p:nvPr/>
        </p:nvSpPr>
        <p:spPr>
          <a:xfrm>
            <a:off x="7680960" y="365760"/>
            <a:ext cx="4023360" cy="420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1A3A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5EEA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02 · DEMO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603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542032"/>
            <a:ext cx="8686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功能演示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32688" y="35204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CDE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本周新功能现场演示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9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面向专业认证的毕业要求达成度计算平台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7295" y="63550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9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3" name="Text 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面向专业认证的毕业要求达成度计算平台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39535" y="647395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第十六周工作汇报 · 计算平台开发组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DEMO · 演示总览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498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713232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四个演示项 · 现场可复现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环境：admin / 12345678 登录  ·  后端 http://localhost:8101/api  ·  前端 http://localhost:5173</a:t>
            </a:r>
            <a:endParaRPr lang="en-US" sz="1300" dirty="0"/>
          </a:p>
        </p:txBody>
      </p:sp>
      <p:sp>
        <p:nvSpPr>
          <p:cNvPr id="10" name="Shape 7"/>
          <p:cNvSpPr/>
          <p:nvPr>
            <p:custDataLst>
              <p:tags r:id="rId2"/>
            </p:custDataLst>
          </p:nvPr>
        </p:nvSpPr>
        <p:spPr>
          <a:xfrm>
            <a:off x="548640" y="2057400"/>
            <a:ext cx="5440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1" name="Shape 8"/>
          <p:cNvSpPr/>
          <p:nvPr>
            <p:custDataLst>
              <p:tags r:id="rId3"/>
            </p:custDataLst>
          </p:nvPr>
        </p:nvSpPr>
        <p:spPr>
          <a:xfrm>
            <a:off x="548640" y="2057400"/>
            <a:ext cx="82296" cy="1645920"/>
          </a:xfrm>
          <a:prstGeom prst="rect">
            <a:avLst/>
          </a:prstGeom>
          <a:solidFill>
            <a:srgbClr val="16A34A"/>
          </a:solidFill>
        </p:spPr>
      </p:sp>
      <p:sp>
        <p:nvSpPr>
          <p:cNvPr id="12" name="Text 9"/>
          <p:cNvSpPr/>
          <p:nvPr>
            <p:custDataLst>
              <p:tags r:id="rId4"/>
            </p:custDataLst>
          </p:nvPr>
        </p:nvSpPr>
        <p:spPr>
          <a:xfrm>
            <a:off x="822960" y="228600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A3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</a:t>
            </a:r>
            <a:endParaRPr lang="en-US" sz="3400" dirty="0"/>
          </a:p>
        </p:txBody>
      </p:sp>
      <p:pic>
        <p:nvPicPr>
          <p:cNvPr id="13" name="Image 1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600200" y="233172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>
            <p:custDataLst>
              <p:tags r:id="rId7"/>
            </p:custDataLst>
          </p:nvPr>
        </p:nvSpPr>
        <p:spPr>
          <a:xfrm>
            <a:off x="2148840" y="2313432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D-1 课程报表</a:t>
            </a:r>
            <a:endParaRPr lang="en-US" sz="1600" dirty="0"/>
          </a:p>
        </p:txBody>
      </p:sp>
      <p:sp>
        <p:nvSpPr>
          <p:cNvPr id="15" name="Text 11"/>
          <p:cNvSpPr/>
          <p:nvPr>
            <p:custDataLst>
              <p:tags r:id="rId8"/>
            </p:custDataLst>
          </p:nvPr>
        </p:nvSpPr>
        <p:spPr>
          <a:xfrm>
            <a:off x="2148840" y="2807208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导出 Excel + PDF（验证中文不乱码）</a:t>
            </a:r>
            <a:endParaRPr lang="en-US" sz="1200" dirty="0"/>
          </a:p>
        </p:txBody>
      </p:sp>
      <p:sp>
        <p:nvSpPr>
          <p:cNvPr id="16" name="Shape 12"/>
          <p:cNvSpPr/>
          <p:nvPr>
            <p:custDataLst>
              <p:tags r:id="rId9"/>
            </p:custDataLst>
          </p:nvPr>
        </p:nvSpPr>
        <p:spPr>
          <a:xfrm>
            <a:off x="6199632" y="2057400"/>
            <a:ext cx="5440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7" name="Shape 13"/>
          <p:cNvSpPr/>
          <p:nvPr>
            <p:custDataLst>
              <p:tags r:id="rId10"/>
            </p:custDataLst>
          </p:nvPr>
        </p:nvSpPr>
        <p:spPr>
          <a:xfrm>
            <a:off x="6199632" y="2057400"/>
            <a:ext cx="82296" cy="16459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8" name="Text 14"/>
          <p:cNvSpPr/>
          <p:nvPr>
            <p:custDataLst>
              <p:tags r:id="rId11"/>
            </p:custDataLst>
          </p:nvPr>
        </p:nvSpPr>
        <p:spPr>
          <a:xfrm>
            <a:off x="6473952" y="228600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</a:t>
            </a:r>
            <a:endParaRPr lang="en-US" sz="3400" dirty="0"/>
          </a:p>
        </p:txBody>
      </p:sp>
      <p:pic>
        <p:nvPicPr>
          <p:cNvPr id="19" name="Image 2" descr="preencoded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7251192" y="233172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>
            <p:custDataLst>
              <p:tags r:id="rId14"/>
            </p:custDataLst>
          </p:nvPr>
        </p:nvSpPr>
        <p:spPr>
          <a:xfrm>
            <a:off x="7799832" y="2313432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D-2 雷达图 + 台账</a:t>
            </a:r>
            <a:endParaRPr lang="en-US" sz="1600" dirty="0"/>
          </a:p>
        </p:txBody>
      </p:sp>
      <p:sp>
        <p:nvSpPr>
          <p:cNvPr id="21" name="Text 16"/>
          <p:cNvSpPr/>
          <p:nvPr>
            <p:custDataLst>
              <p:tags r:id="rId15"/>
            </p:custDataLst>
          </p:nvPr>
        </p:nvSpPr>
        <p:spPr>
          <a:xfrm>
            <a:off x="7799832" y="2807208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雷达图渲染 + 穿透台账 Excel（5 sheet）</a:t>
            </a:r>
            <a:endParaRPr lang="en-US" sz="1200" dirty="0"/>
          </a:p>
        </p:txBody>
      </p:sp>
      <p:sp>
        <p:nvSpPr>
          <p:cNvPr id="22" name="Shape 17"/>
          <p:cNvSpPr/>
          <p:nvPr>
            <p:custDataLst>
              <p:tags r:id="rId16"/>
            </p:custDataLst>
          </p:nvPr>
        </p:nvSpPr>
        <p:spPr>
          <a:xfrm>
            <a:off x="548640" y="3886200"/>
            <a:ext cx="5440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23" name="Shape 18"/>
          <p:cNvSpPr/>
          <p:nvPr>
            <p:custDataLst>
              <p:tags r:id="rId17"/>
            </p:custDataLst>
          </p:nvPr>
        </p:nvSpPr>
        <p:spPr>
          <a:xfrm>
            <a:off x="548640" y="3886200"/>
            <a:ext cx="82296" cy="164592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24" name="Text 19"/>
          <p:cNvSpPr/>
          <p:nvPr>
            <p:custDataLst>
              <p:tags r:id="rId18"/>
            </p:custDataLst>
          </p:nvPr>
        </p:nvSpPr>
        <p:spPr>
          <a:xfrm>
            <a:off x="822960" y="411480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F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</a:t>
            </a:r>
            <a:endParaRPr lang="en-US" sz="3400" dirty="0"/>
          </a:p>
        </p:txBody>
      </p:sp>
      <p:pic>
        <p:nvPicPr>
          <p:cNvPr id="25" name="Image 3" descr="preencoded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1600200" y="416052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>
            <p:custDataLst>
              <p:tags r:id="rId21"/>
            </p:custDataLst>
          </p:nvPr>
        </p:nvSpPr>
        <p:spPr>
          <a:xfrm>
            <a:off x="2148840" y="4142232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D-3 专业指标点</a:t>
            </a:r>
            <a:endParaRPr lang="en-US" sz="1600" dirty="0"/>
          </a:p>
        </p:txBody>
      </p:sp>
      <p:sp>
        <p:nvSpPr>
          <p:cNvPr id="27" name="Text 21"/>
          <p:cNvSpPr/>
          <p:nvPr>
            <p:custDataLst>
              <p:tags r:id="rId22"/>
            </p:custDataLst>
          </p:nvPr>
        </p:nvSpPr>
        <p:spPr>
          <a:xfrm>
            <a:off x="2148840" y="4636008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专业级 Excel + PDF 导出</a:t>
            </a:r>
            <a:endParaRPr lang="en-US" sz="1200" dirty="0"/>
          </a:p>
        </p:txBody>
      </p:sp>
      <p:sp>
        <p:nvSpPr>
          <p:cNvPr id="28" name="Shape 22"/>
          <p:cNvSpPr/>
          <p:nvPr>
            <p:custDataLst>
              <p:tags r:id="rId23"/>
            </p:custDataLst>
          </p:nvPr>
        </p:nvSpPr>
        <p:spPr>
          <a:xfrm>
            <a:off x="6199632" y="3886200"/>
            <a:ext cx="5440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29" name="Shape 23"/>
          <p:cNvSpPr/>
          <p:nvPr>
            <p:custDataLst>
              <p:tags r:id="rId24"/>
            </p:custDataLst>
          </p:nvPr>
        </p:nvSpPr>
        <p:spPr>
          <a:xfrm>
            <a:off x="6199632" y="3886200"/>
            <a:ext cx="82296" cy="164592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30" name="Text 24"/>
          <p:cNvSpPr/>
          <p:nvPr>
            <p:custDataLst>
              <p:tags r:id="rId25"/>
            </p:custDataLst>
          </p:nvPr>
        </p:nvSpPr>
        <p:spPr>
          <a:xfrm>
            <a:off x="6473952" y="411480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4530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</a:t>
            </a:r>
            <a:endParaRPr lang="en-US" sz="3400" dirty="0"/>
          </a:p>
        </p:txBody>
      </p:sp>
      <p:pic>
        <p:nvPicPr>
          <p:cNvPr id="31" name="Image 4" descr="preencoded.png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7251192" y="4160520"/>
            <a:ext cx="411480" cy="411480"/>
          </a:xfrm>
          <a:prstGeom prst="rect">
            <a:avLst/>
          </a:prstGeom>
        </p:spPr>
      </p:pic>
      <p:sp>
        <p:nvSpPr>
          <p:cNvPr id="32" name="Text 25"/>
          <p:cNvSpPr/>
          <p:nvPr>
            <p:custDataLst>
              <p:tags r:id="rId28"/>
            </p:custDataLst>
          </p:nvPr>
        </p:nvSpPr>
        <p:spPr>
          <a:xfrm>
            <a:off x="7799832" y="4142232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前端响应拦截器</a:t>
            </a:r>
            <a:endParaRPr lang="en-US" sz="1600" dirty="0"/>
          </a:p>
        </p:txBody>
      </p:sp>
      <p:sp>
        <p:nvSpPr>
          <p:cNvPr id="33" name="Text 26"/>
          <p:cNvSpPr/>
          <p:nvPr>
            <p:custDataLst>
              <p:tags r:id="rId29"/>
            </p:custDataLst>
          </p:nvPr>
        </p:nvSpPr>
        <p:spPr>
          <a:xfrm>
            <a:off x="7799832" y="4636008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token 失效 → 自动登出跳登录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演示后每项给出「验证点」（文件大小、%PDF 头、sheet 数、跳转行为），做到可验证。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3" name="Text 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面向专业认证的毕业要求达成度计算平台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39535" y="647395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第十六周工作汇报 · 计算平台开发组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DEMO · ① D-1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498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713232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课程目标达成度评价表 · Excel + PDF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16A34A"/>
          </a:solidFill>
        </p:spPr>
      </p:sp>
      <p:sp>
        <p:nvSpPr>
          <p:cNvPr id="10" name="Text 7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43000" y="182880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教师登录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383280" y="182880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用主讲教师账号进入某教学班「课程报表」页，确认成绩已提交。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16A34A"/>
          </a:solidFill>
        </p:spPr>
      </p:sp>
      <p:sp>
        <p:nvSpPr>
          <p:cNvPr id="14" name="Text 11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143000" y="269748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导出 Excel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383280" y="269748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点击「导出 Excel」→ 下载课程目标达成度明细表。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rgbClr val="16A34A"/>
          </a:solidFill>
        </p:spPr>
      </p:sp>
      <p:sp>
        <p:nvSpPr>
          <p:cNvPr id="18" name="Text 15"/>
          <p:cNvSpPr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143000" y="356616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导出 PDF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383280" y="356616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点击「导出 PDF」→ 下载嵌入中文字体的 PDF。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4480560"/>
            <a:ext cx="457200" cy="457200"/>
          </a:xfrm>
          <a:prstGeom prst="ellipse">
            <a:avLst/>
          </a:prstGeom>
          <a:solidFill>
            <a:srgbClr val="16A34A"/>
          </a:solidFill>
        </p:spPr>
      </p:sp>
      <p:sp>
        <p:nvSpPr>
          <p:cNvPr id="22" name="Text 19"/>
          <p:cNvSpPr/>
          <p:nvPr/>
        </p:nvSpPr>
        <p:spPr>
          <a:xfrm>
            <a:off x="548640" y="44805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143000" y="443484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383280" y="443484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Excel 列完整；PDF 头部 %PDF-1.4、中文不乱码、体积约 30KB。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772400" y="1783080"/>
            <a:ext cx="3886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772400" y="1783080"/>
            <a:ext cx="82296" cy="3931920"/>
          </a:xfrm>
          <a:prstGeom prst="rect">
            <a:avLst/>
          </a:prstGeom>
          <a:solidFill>
            <a:srgbClr val="16A34A"/>
          </a:solidFill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993392"/>
            <a:ext cx="384048" cy="38404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8458200" y="1993392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验证点（可复现）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8028432" y="251460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</a:t>
            </a: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PDF 头部为 %PDF-1.4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8028432" y="3081528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</a:t>
            </a: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中文字符正常显示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8028432" y="3648456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</a:t>
            </a: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PDF 体积约 30KB（字体 subset）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8028432" y="4215384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</a:t>
            </a: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Excel 列：目标 / 满分 / 得分 / 达成度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8028432" y="4782312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</a:t>
            </a: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接口已纳入 JWT 白名单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3" name="Text 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面向专业认证的毕业要求达成度计算平台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39535" y="647395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第十六周工作汇报 · 计算平台开发组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DEMO · ② D-2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498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713232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专业雷达图 + 穿透式台账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0" name="Text 7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43000" y="182880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专业负责人登录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566160" y="1828800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进入「专业报表」→ 选择专业 / 学年 / 年级。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4" name="Text 11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143000" y="269748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雷达图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566160" y="2697480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查看专业各指标点 G_k 达成度雷达图（前端 ECharts 渲染）。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8" name="Text 15"/>
          <p:cNvSpPr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143000" y="356616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穿透台账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566160" y="3566160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点击「导出台账」→ Excel 5 sheet（指标点逐层穿透到学生得分）。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4480560"/>
            <a:ext cx="457200" cy="45720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22" name="Text 19"/>
          <p:cNvSpPr/>
          <p:nvPr/>
        </p:nvSpPr>
        <p:spPr>
          <a:xfrm>
            <a:off x="548640" y="44805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143000" y="443484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566160" y="4434840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雷达图数据非空；Excel 5 sheet 标签齐全；数据与三级计算结果一致。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772400" y="1783080"/>
            <a:ext cx="3886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772400" y="1783080"/>
            <a:ext cx="82296" cy="3931920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993392"/>
            <a:ext cx="384048" cy="38404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8458200" y="1993392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验证点（可复现）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8028432" y="251460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</a:t>
            </a: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雷达图按 majorId+grade 正确过滤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8028432" y="3081528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</a:t>
            </a: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台账 5 个 sheet 标签齐全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8028432" y="3648456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</a:t>
            </a: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穿透链：指标点→课程目标→学生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8028432" y="4215384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</a:t>
            </a: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权限：ROLE_LEADER / ROLE_EDU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8028432" y="4782312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</a:t>
            </a: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管理员被 403（符合数据隔离）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3" name="Text 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面向专业认证的毕业要求达成度计算平台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39535" y="647395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第十六周工作汇报 · 计算平台开发组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DEMO · ③④ D-3 + 响应拦截器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498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713232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专业指标点导出 · 40100 自动登出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5486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783080"/>
            <a:ext cx="82296" cy="4023360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11" name="Text 8"/>
          <p:cNvSpPr/>
          <p:nvPr/>
        </p:nvSpPr>
        <p:spPr>
          <a:xfrm>
            <a:off x="777240" y="193852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D-3 专业指标点达成度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77240" y="2395728"/>
            <a:ext cx="310896" cy="310896"/>
          </a:xfrm>
          <a:prstGeom prst="ellipse">
            <a:avLst/>
          </a:prstGeom>
          <a:solidFill>
            <a:srgbClr val="0F2A4A"/>
          </a:solidFill>
        </p:spPr>
      </p:sp>
      <p:sp>
        <p:nvSpPr>
          <p:cNvPr id="13" name="Text 10"/>
          <p:cNvSpPr/>
          <p:nvPr/>
        </p:nvSpPr>
        <p:spPr>
          <a:xfrm>
            <a:off x="777240" y="239572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07008" y="2395728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专业负责人进入「专业指标点报表」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77240" y="2999232"/>
            <a:ext cx="310896" cy="310896"/>
          </a:xfrm>
          <a:prstGeom prst="ellipse">
            <a:avLst/>
          </a:prstGeom>
          <a:solidFill>
            <a:srgbClr val="0F2A4A"/>
          </a:solidFill>
        </p:spPr>
      </p:sp>
      <p:sp>
        <p:nvSpPr>
          <p:cNvPr id="16" name="Text 13"/>
          <p:cNvSpPr/>
          <p:nvPr/>
        </p:nvSpPr>
        <p:spPr>
          <a:xfrm>
            <a:off x="777240" y="29992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07008" y="2999232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导出 Excel：各指标点 G_k 达成度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77240" y="3602736"/>
            <a:ext cx="310896" cy="310896"/>
          </a:xfrm>
          <a:prstGeom prst="ellipse">
            <a:avLst/>
          </a:prstGeom>
          <a:solidFill>
            <a:srgbClr val="0F2A4A"/>
          </a:solidFill>
        </p:spPr>
      </p:sp>
      <p:sp>
        <p:nvSpPr>
          <p:cNvPr id="19" name="Text 16"/>
          <p:cNvSpPr/>
          <p:nvPr/>
        </p:nvSpPr>
        <p:spPr>
          <a:xfrm>
            <a:off x="777240" y="360273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07008" y="3602736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导出 PDF：嵌入 CJK 字体的专业报表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77240" y="4206240"/>
            <a:ext cx="310896" cy="310896"/>
          </a:xfrm>
          <a:prstGeom prst="ellipse">
            <a:avLst/>
          </a:prstGeom>
          <a:solidFill>
            <a:srgbClr val="0F2A4A"/>
          </a:solidFill>
        </p:spPr>
      </p:sp>
      <p:sp>
        <p:nvSpPr>
          <p:cNvPr id="22" name="Text 19"/>
          <p:cNvSpPr/>
          <p:nvPr/>
        </p:nvSpPr>
        <p:spPr>
          <a:xfrm>
            <a:off x="777240" y="420624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207008" y="42062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验证：%PDF-1.4、中文正常、约 30KB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77240" y="4809744"/>
            <a:ext cx="310896" cy="310896"/>
          </a:xfrm>
          <a:prstGeom prst="ellipse">
            <a:avLst/>
          </a:prstGeom>
          <a:solidFill>
            <a:srgbClr val="0F2A4A"/>
          </a:solidFill>
        </p:spPr>
      </p:sp>
      <p:sp>
        <p:nvSpPr>
          <p:cNvPr id="25" name="Text 22"/>
          <p:cNvSpPr/>
          <p:nvPr/>
        </p:nvSpPr>
        <p:spPr>
          <a:xfrm>
            <a:off x="777240" y="480974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207008" y="4809744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数据源：major_indicator_achievement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217920" y="1783080"/>
            <a:ext cx="54406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217920" y="1783080"/>
            <a:ext cx="82296" cy="4023360"/>
          </a:xfrm>
          <a:prstGeom prst="rect">
            <a:avLst/>
          </a:prstGeom>
          <a:solidFill>
            <a:srgbClr val="B45309"/>
          </a:solidFill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965960"/>
            <a:ext cx="365760" cy="36576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903720" y="19659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 前端响应拦截器（#134）</a:t>
            </a:r>
            <a:endParaRPr lang="en-US" sz="1500" dirty="0"/>
          </a:p>
        </p:txBody>
      </p:sp>
      <p:sp>
        <p:nvSpPr>
          <p:cNvPr id="31" name="Text 27"/>
          <p:cNvSpPr/>
          <p:nvPr/>
        </p:nvSpPr>
        <p:spPr>
          <a:xfrm>
            <a:off x="6446520" y="2468880"/>
            <a:ext cx="498348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F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问题：</a:t>
            </a: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后端返回 code===40100（未登录）时只弹 error，不登出。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6A3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修复：</a:t>
            </a: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 axios 响应拦截器统一处理 → 清登录态 + 跳 /login。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演示：</a:t>
            </a: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手动让后端 token 失效 → 任意接口请求 → 自动跳回登录页。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4" name="Text 2"/>
          <p:cNvSpPr/>
          <p:nvPr/>
        </p:nvSpPr>
        <p:spPr>
          <a:xfrm>
            <a:off x="7680960" y="365760"/>
            <a:ext cx="4023360" cy="420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1A3A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5EEA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03 · CHALLENGES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603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542032"/>
            <a:ext cx="8686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难点攻克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32688" y="35204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CDE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本周碰到的主要问题及解决经验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9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面向专业认证的毕业要求达成度计算平台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7295" y="63550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9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3" name="Text 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面向专业认证的毕业要求达成度计算平台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39535" y="647395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第十六周工作汇报 · 计算平台开发组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CHALLENGE · ① PDF 中文渲染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498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713232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PDFBox 不支持中文 —— 字体嵌入方案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53949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783080"/>
            <a:ext cx="82296" cy="4023360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659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19659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77240" y="2468880"/>
            <a:ext cx="4937760" cy="3108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PDFBox 2.0.x 内置字体不支持中文，导出 PDF 中文全乱码。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不支持 CFF-OTF 与变量 TTF 字体格式。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部署环境（Linux）可能无中文字体。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126480" y="1783080"/>
            <a:ext cx="55321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1783080"/>
            <a:ext cx="82296" cy="4023360"/>
          </a:xfrm>
          <a:prstGeom prst="rect">
            <a:avLst/>
          </a:prstGeom>
          <a:solidFill>
            <a:srgbClr val="16A34A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9659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12280" y="19659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解决方案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55080" y="2432304"/>
            <a:ext cx="512064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方案对比：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6A3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嵌入开源 CJK 字体子集（最稳） ✓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用运行环境系统字体（Linux 需自装）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落地：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LXGW WenKai 静态 TTF（OFL 协议，~24MB 入库，subset 后 PDF 不膨胀）。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PdfTableRenderer 表格化渲染 + pom resource filtering 修复字体加载。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验证：PDF 头部 %PDF-1.4、中文正常、体积约 30KB。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3" name="Text 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面向专业认证的毕业要求达成度计算平台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39535" y="647395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第十六周工作汇报 · 计算平台开发组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CHALLENGE · ② 穿透台账 SQL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498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713232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旧 Mapper 四处致命错误 —— 五层穿透重写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5440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783080"/>
            <a:ext cx="82296" cy="804672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1" name="Shape 8"/>
          <p:cNvSpPr/>
          <p:nvPr/>
        </p:nvSpPr>
        <p:spPr>
          <a:xfrm>
            <a:off x="731520" y="1956816"/>
            <a:ext cx="457200" cy="457200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12" name="Text 9"/>
          <p:cNvSpPr/>
          <p:nvPr/>
        </p:nvSpPr>
        <p:spPr>
          <a:xfrm>
            <a:off x="731520" y="19568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325880" y="178308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tc.major_id 列不存在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325880" y="2167128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teaching_class 表无 major_id，错误关联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99632" y="1783080"/>
            <a:ext cx="5440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99632" y="1783080"/>
            <a:ext cx="82296" cy="804672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7" name="Shape 14"/>
          <p:cNvSpPr/>
          <p:nvPr/>
        </p:nvSpPr>
        <p:spPr>
          <a:xfrm>
            <a:off x="6382512" y="1956816"/>
            <a:ext cx="457200" cy="457200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18" name="Text 15"/>
          <p:cNvSpPr/>
          <p:nvPr/>
        </p:nvSpPr>
        <p:spPr>
          <a:xfrm>
            <a:off x="6382512" y="19568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976872" y="178308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student_score.class_id 列名错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976872" y="2167128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正确列名应为 teaching_class_id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2697480"/>
            <a:ext cx="5440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8640" y="2697480"/>
            <a:ext cx="82296" cy="804672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23" name="Shape 20"/>
          <p:cNvSpPr/>
          <p:nvPr/>
        </p:nvSpPr>
        <p:spPr>
          <a:xfrm>
            <a:off x="731520" y="2871216"/>
            <a:ext cx="457200" cy="457200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24" name="Text 21"/>
          <p:cNvSpPr/>
          <p:nvPr/>
        </p:nvSpPr>
        <p:spPr>
          <a:xfrm>
            <a:off x="731520" y="28712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325880" y="269748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条 SQL 无过滤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325880" y="3081528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未按 termId / grade 过滤，数据串档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199632" y="2697480"/>
            <a:ext cx="5440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199632" y="2697480"/>
            <a:ext cx="82296" cy="804672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29" name="Shape 26"/>
          <p:cNvSpPr/>
          <p:nvPr/>
        </p:nvSpPr>
        <p:spPr>
          <a:xfrm>
            <a:off x="6382512" y="2871216"/>
            <a:ext cx="457200" cy="457200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30" name="Text 27"/>
          <p:cNvSpPr/>
          <p:nvPr/>
        </p:nvSpPr>
        <p:spPr>
          <a:xfrm>
            <a:off x="6382512" y="28712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6976872" y="269748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平铺 4 表无真 JOIN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6976872" y="3081528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穿透语义不成立，无层级关联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48640" y="3794760"/>
            <a:ext cx="1109167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48640" y="3794760"/>
            <a:ext cx="82296" cy="2011680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977640"/>
            <a:ext cx="365760" cy="36576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234440" y="3977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重写方案：走 course.major_id 关联，五层组装</a:t>
            </a:r>
            <a:endParaRPr lang="en-US" sz="1500" dirty="0"/>
          </a:p>
        </p:txBody>
      </p:sp>
      <p:sp>
        <p:nvSpPr>
          <p:cNvPr id="37" name="Text 33"/>
          <p:cNvSpPr/>
          <p:nvPr/>
        </p:nvSpPr>
        <p:spPr>
          <a:xfrm>
            <a:off x="777240" y="448056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major_indicator  →  course_indicator  →  student_objective  →  student_score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777240" y="502920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废弃坏 PenetrationAccountMapper；新增 AssessmentPointAccount VO 对齐前端字段；按 termId / grade 正确过滤；输出 Excel 5 sheet。E2E 已过。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3" name="Text 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面向专业认证的毕业要求达成度计算平台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39535" y="647395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第十六周工作汇报 · 计算平台开发组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CHALLENGE · ③ 工程化四连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498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713232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越权 · 原子性 · 合并吞字段 · 连接 stale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5440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783080"/>
            <a:ext cx="82296" cy="1828800"/>
          </a:xfrm>
          <a:prstGeom prst="rect">
            <a:avLst/>
          </a:prstGeom>
          <a:solidFill>
            <a:srgbClr val="1C7293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20824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002536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多角色越权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029200" y="2020824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C72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#110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41248" y="2560320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AuthInterceptor 原只读 mustRole、不校验 anyRole → 真正校验 anyRole。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99632" y="1783080"/>
            <a:ext cx="5440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99632" y="1783080"/>
            <a:ext cx="82296" cy="1828800"/>
          </a:xfrm>
          <a:prstGeom prst="rect">
            <a:avLst/>
          </a:prstGeom>
          <a:solidFill>
            <a:srgbClr val="16A34A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020824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76872" y="2002536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导入非原子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0680192" y="2020824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6A3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#121/#136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492240" y="2560320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@Transactional 内逐行 catch 吞异常 → 去逐行 catch，任一行失败回滚。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3776472"/>
            <a:ext cx="5440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48640" y="3776472"/>
            <a:ext cx="82296" cy="1828800"/>
          </a:xfrm>
          <a:prstGeom prst="rect">
            <a:avLst/>
          </a:prstGeom>
          <a:solidFill>
            <a:srgbClr val="7C3AED"/>
          </a:solidFill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14216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25880" y="3995928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合并吞字段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5029200" y="4014216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C3A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#115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841248" y="4553712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#112/#113 合并冲突丢失 studentMapper 注入致编译失败 → 同文件注入错位 + 合并前 mvn compile。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6199632" y="3776472"/>
            <a:ext cx="5440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199632" y="3776472"/>
            <a:ext cx="82296" cy="1828800"/>
          </a:xfrm>
          <a:prstGeom prst="rect">
            <a:avLst/>
          </a:prstGeom>
          <a:solidFill>
            <a:srgbClr val="B45309"/>
          </a:solidFill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4014216"/>
            <a:ext cx="384048" cy="38404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976872" y="3995928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连接 stale</a:t>
            </a:r>
            <a:endParaRPr lang="en-US" sz="1550" dirty="0"/>
          </a:p>
        </p:txBody>
      </p:sp>
      <p:sp>
        <p:nvSpPr>
          <p:cNvPr id="31" name="Text 24"/>
          <p:cNvSpPr/>
          <p:nvPr/>
        </p:nvSpPr>
        <p:spPr>
          <a:xfrm>
            <a:off x="10680192" y="4014216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4530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#138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6492240" y="4553712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远程 MySQL 关闭空闲连接、HikariCP 不恢复 → keepalive-time / max-lifetime / connection-test-query。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4" name="Text 2"/>
          <p:cNvSpPr/>
          <p:nvPr/>
        </p:nvSpPr>
        <p:spPr>
          <a:xfrm>
            <a:off x="7680960" y="365760"/>
            <a:ext cx="4023360" cy="420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1A3A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5EEA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04 · AI PRACTICE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603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542032"/>
            <a:ext cx="8686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小组分享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32688" y="35204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CDE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编程经验 · 可操作、可验证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9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面向专业认证的毕业要求达成度计算平台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7295" y="63550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9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3" name="Text 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面向专业认证的毕业要求达成度计算平台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39535" y="647395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第十六周工作汇报 · 计算平台开发组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SHARING · AI 编程实践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498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713232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我们把 AI 当「配对工程师」用 —— 四个落地实践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48640" y="157276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原则：AI 负责生成（代码/文档/诊断），人负责验证（编译 + 单测 + E2E + 对照规约）。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5440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011680"/>
            <a:ext cx="82296" cy="1828800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12" name="Text 9"/>
          <p:cNvSpPr/>
          <p:nvPr/>
        </p:nvSpPr>
        <p:spPr>
          <a:xfrm>
            <a:off x="804672" y="2212848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</a:t>
            </a:r>
            <a:endParaRPr lang="en-US" sz="3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22860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48840" y="2267712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Issue → PR → 自动闭环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2167128" y="2761488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gh CLI 编排流程，Closes #N 自动关 Issue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199632" y="2011680"/>
            <a:ext cx="5440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99632" y="2011680"/>
            <a:ext cx="82296" cy="18288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8" name="Text 14"/>
          <p:cNvSpPr/>
          <p:nvPr/>
        </p:nvSpPr>
        <p:spPr>
          <a:xfrm>
            <a:off x="6455664" y="2212848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</a:t>
            </a:r>
            <a:endParaRPr lang="en-US" sz="34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22860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799832" y="2267712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批量修复 + 单测 + 代码审查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7818120" y="2761488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一类问题一个 PR，AI 按规约生成代码与单测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4005072"/>
            <a:ext cx="5440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48640" y="4005072"/>
            <a:ext cx="82296" cy="182880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4" name="Text 19"/>
          <p:cNvSpPr/>
          <p:nvPr/>
        </p:nvSpPr>
        <p:spPr>
          <a:xfrm>
            <a:off x="804672" y="420624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7C3A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</a:t>
            </a:r>
            <a:endParaRPr lang="en-US" sz="34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4279392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148840" y="4261104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交接文档 + SQL 诊断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2167128" y="4754880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读 git log 生成结构化文档；诊断坏 SQL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6199632" y="4005072"/>
            <a:ext cx="5440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199632" y="4005072"/>
            <a:ext cx="82296" cy="18288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0" name="Text 24"/>
          <p:cNvSpPr/>
          <p:nvPr/>
        </p:nvSpPr>
        <p:spPr>
          <a:xfrm>
            <a:off x="6455664" y="420624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</a:t>
            </a:r>
            <a:endParaRPr lang="en-US" sz="34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4279392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799832" y="4261104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避坑：幻觉 / 吞字段 / 必须验证</a:t>
            </a:r>
            <a:endParaRPr lang="en-US" sz="1550" dirty="0"/>
          </a:p>
        </p:txBody>
      </p:sp>
      <p:sp>
        <p:nvSpPr>
          <p:cNvPr id="33" name="Text 26"/>
          <p:cNvSpPr/>
          <p:nvPr/>
        </p:nvSpPr>
        <p:spPr>
          <a:xfrm>
            <a:off x="7818120" y="4754880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对照 schema、合并前编译、三重验证文化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3" name="Text 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面向专业认证的毕业要求达成度计算平台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39535" y="647395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第十六周工作汇报 · 计算平台开发组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PRACTICE · ① Issue → PR 闭环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498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713232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可操作：用 gh CLI 把 AI 产出钉进标准流程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26334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783080"/>
            <a:ext cx="82296" cy="2286000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11" name="Shape 8"/>
          <p:cNvSpPr/>
          <p:nvPr/>
        </p:nvSpPr>
        <p:spPr>
          <a:xfrm>
            <a:off x="1636776" y="1938528"/>
            <a:ext cx="457200" cy="457200"/>
          </a:xfrm>
          <a:prstGeom prst="ellipse">
            <a:avLst/>
          </a:prstGeom>
          <a:solidFill>
            <a:srgbClr val="0F2A4A"/>
          </a:solidFill>
        </p:spPr>
      </p:sp>
      <p:sp>
        <p:nvSpPr>
          <p:cNvPr id="12" name="Text 9"/>
          <p:cNvSpPr/>
          <p:nvPr/>
        </p:nvSpPr>
        <p:spPr>
          <a:xfrm>
            <a:off x="1636776" y="19385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31520" y="248716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 Issue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1520" y="2944368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gh issue create，写清问题 + 方案，assignees + labels（bug/feat）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182112" y="2743200"/>
            <a:ext cx="310896" cy="310896"/>
          </a:xfrm>
          <a:prstGeom prst="down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92424" y="1783080"/>
            <a:ext cx="26334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392424" y="1783080"/>
            <a:ext cx="82296" cy="2286000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18" name="Shape 15"/>
          <p:cNvSpPr/>
          <p:nvPr/>
        </p:nvSpPr>
        <p:spPr>
          <a:xfrm>
            <a:off x="4480560" y="1938528"/>
            <a:ext cx="457200" cy="457200"/>
          </a:xfrm>
          <a:prstGeom prst="ellipse">
            <a:avLst/>
          </a:prstGeom>
          <a:solidFill>
            <a:srgbClr val="0F2A4A"/>
          </a:solidFill>
        </p:spPr>
      </p:sp>
      <p:sp>
        <p:nvSpPr>
          <p:cNvPr id="19" name="Text 16"/>
          <p:cNvSpPr/>
          <p:nvPr/>
        </p:nvSpPr>
        <p:spPr>
          <a:xfrm>
            <a:off x="4480560" y="19385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3575304" y="248716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修复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575304" y="2944368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 main 建独立分支（fix/…），让 AI 按规约生成修复代码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025896" y="2743200"/>
            <a:ext cx="310896" cy="310896"/>
          </a:xfrm>
          <a:prstGeom prst="down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36208" y="1783080"/>
            <a:ext cx="26334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236208" y="1783080"/>
            <a:ext cx="82296" cy="2286000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25" name="Shape 22"/>
          <p:cNvSpPr/>
          <p:nvPr/>
        </p:nvSpPr>
        <p:spPr>
          <a:xfrm>
            <a:off x="7324344" y="1938528"/>
            <a:ext cx="457200" cy="457200"/>
          </a:xfrm>
          <a:prstGeom prst="ellipse">
            <a:avLst/>
          </a:prstGeom>
          <a:solidFill>
            <a:srgbClr val="0F2A4A"/>
          </a:solidFill>
        </p:spPr>
      </p:sp>
      <p:sp>
        <p:nvSpPr>
          <p:cNvPr id="26" name="Text 23"/>
          <p:cNvSpPr/>
          <p:nvPr/>
        </p:nvSpPr>
        <p:spPr>
          <a:xfrm>
            <a:off x="7324344" y="19385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419088" y="248716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 PR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419088" y="2944368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 正文首行写 Closes #&lt;Issue号&gt;，assignees 标注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8869680" y="2743200"/>
            <a:ext cx="310896" cy="310896"/>
          </a:xfrm>
          <a:prstGeom prst="down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79992" y="1783080"/>
            <a:ext cx="26334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9079992" y="1783080"/>
            <a:ext cx="82296" cy="2286000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32" name="Shape 29"/>
          <p:cNvSpPr/>
          <p:nvPr/>
        </p:nvSpPr>
        <p:spPr>
          <a:xfrm>
            <a:off x="10168128" y="1938528"/>
            <a:ext cx="457200" cy="457200"/>
          </a:xfrm>
          <a:prstGeom prst="ellipse">
            <a:avLst/>
          </a:prstGeom>
          <a:solidFill>
            <a:srgbClr val="0F2A4A"/>
          </a:solidFill>
        </p:spPr>
      </p:sp>
      <p:sp>
        <p:nvSpPr>
          <p:cNvPr id="33" name="Text 30"/>
          <p:cNvSpPr/>
          <p:nvPr/>
        </p:nvSpPr>
        <p:spPr>
          <a:xfrm>
            <a:off x="10168128" y="19385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9262872" y="248716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合并即闭环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9262872" y="2944368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merge-commit 合并 → Issue 自动关闭；每个 PR 一类问题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548640" y="4343400"/>
            <a:ext cx="1109167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48640" y="4343400"/>
            <a:ext cx="82296" cy="1463040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553712"/>
            <a:ext cx="384048" cy="384048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1280160" y="4553712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可验证（本周真实数据）</a:t>
            </a:r>
            <a:endParaRPr lang="en-US" sz="1500" dirty="0"/>
          </a:p>
        </p:txBody>
      </p:sp>
      <p:sp>
        <p:nvSpPr>
          <p:cNvPr id="40" name="Text 36"/>
          <p:cNvSpPr/>
          <p:nvPr/>
        </p:nvSpPr>
        <p:spPr>
          <a:xfrm>
            <a:off x="777240" y="498348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本周 28 个 PR 全部走此流程；Issues #118/#120/#122 经 Closes #N 自动关闭。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gh 认证踩坑：fine-grained PAT 不能 assign issue/PR → 改用 classic PAT（repo scope）+ GH_TOKEN 前缀 assign，可复现。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3" name="Text 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面向专业认证的毕业要求达成度计算平台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39535" y="647395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第十六周工作汇报 · 计算平台开发组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PRACTICE · ② 批量修复 + 单测 + 审查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498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713232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可操作：AI 按规约生成代码、单测，并辅助发现隐患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783080"/>
            <a:ext cx="82296" cy="1188720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20824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194767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按规约生成 + 单测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325880" y="2313432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一类问题一个 PR；AI 生成代码同时产出 Mockito/JUnit5 单测。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例：OwnershipHelper 11 处越权校验；#110 单测 9 个 / #112 单测 5 个 / #117 单测 8 个。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108960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108960"/>
            <a:ext cx="82296" cy="1188720"/>
          </a:xfrm>
          <a:prstGeom prst="rect">
            <a:avLst/>
          </a:prstGeom>
          <a:solidFill>
            <a:srgbClr val="7C3AED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346704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27355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C3A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辅助发现隐患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325880" y="3639312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 AI 对照规约文档审查，发现：anyRole 越权（#110）、一级公式 Σ得分/Σ满分 偏差（#116）、角色应为 ROLE_LEADER（规约 A-4）。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434840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48640" y="4434840"/>
            <a:ext cx="82296" cy="1188720"/>
          </a:xfrm>
          <a:prstGeom prst="rect">
            <a:avLst/>
          </a:prstGeom>
          <a:solidFill>
            <a:srgbClr val="16A34A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672584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459943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A3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可验证：三重验证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325880" y="4965192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 PR = 编译通过 + 单测全绿（共 44 个）+ 关键项 E2E（admin 账号 + curl）。mvn test 可一键复现。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3" name="Text 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面向专业认证的毕业要求达成度计算平台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39535" y="647395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第十六周工作汇报 · 计算平台开发组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PRACTICE · ③ 交接文档 + SQL 诊断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498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713232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可操作：AI 读代码生成文档、诊断坏 SQL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54406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783080"/>
            <a:ext cx="82296" cy="4023360"/>
          </a:xfrm>
          <a:prstGeom prst="rect">
            <a:avLst/>
          </a:prstGeom>
          <a:solidFill>
            <a:srgbClr val="1C7293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196596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生成结构化交接文档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77240" y="2468880"/>
            <a:ext cx="4983480" cy="320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操作：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 AI 读 git log + 关键源码，生成《开发进度交接.md》，含：今日完成 / 系统状态 / 明日待办 / 关键代码位置 / 计算传导链 / 决策记录。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6A3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可验证：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次日按文档「明日建议起点」直接 git pull + mvn run 上手，无需口头交接。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72200" y="1783080"/>
            <a:ext cx="5486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72200" y="1783080"/>
            <a:ext cx="82296" cy="4023360"/>
          </a:xfrm>
          <a:prstGeom prst="rect">
            <a:avLst/>
          </a:prstGeom>
          <a:solidFill>
            <a:srgbClr val="7C3AED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6596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03720" y="196596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诊断坏 SQL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00800" y="2468880"/>
            <a:ext cx="5029200" cy="320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操作：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把穿透台账的坏 SQL 贴给 AI，要求指出错误并给出修正方案。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6A3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输出（可验证）：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tc.major_id 列不存在 ② class_id 列名错 ③ 缺 termId/grade 过滤 ④ 无真 JOIN → 给出五层穿透重写方案。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结果：重写后 E2E 通过，Excel 5 sheet 正确。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3" name="Text 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面向专业认证的毕业要求达成度计算平台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39535" y="647395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第十六周工作汇报 · 计算平台开发组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PRACTICE · ④ 避坑经验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498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713232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很强，但必须「信任 + 验证」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5440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783080"/>
            <a:ext cx="82296" cy="182880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1" name="Shape 8"/>
          <p:cNvSpPr/>
          <p:nvPr/>
        </p:nvSpPr>
        <p:spPr>
          <a:xfrm>
            <a:off x="804672" y="2020824"/>
            <a:ext cx="457200" cy="457200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12" name="Text 9"/>
          <p:cNvSpPr/>
          <p:nvPr/>
        </p:nvSpPr>
        <p:spPr>
          <a:xfrm>
            <a:off x="804672" y="202082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17320" y="2002536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幻觉：编造不存在的列/方法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22960" y="2651760"/>
            <a:ext cx="49834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会写出 tc.major_id 这类不存在的字段。→ 必须查 schema / 编译验证后再采用。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99632" y="1783080"/>
            <a:ext cx="5440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99632" y="1783080"/>
            <a:ext cx="82296" cy="18288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7" name="Shape 14"/>
          <p:cNvSpPr/>
          <p:nvPr/>
        </p:nvSpPr>
        <p:spPr>
          <a:xfrm>
            <a:off x="6455664" y="2020824"/>
            <a:ext cx="457200" cy="45720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8" name="Text 15"/>
          <p:cNvSpPr/>
          <p:nvPr/>
        </p:nvSpPr>
        <p:spPr>
          <a:xfrm>
            <a:off x="6455664" y="202082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068312" y="2002536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 PR 合并吞字段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473952" y="2651760"/>
            <a:ext cx="49834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让多个 PR 同改注入块 → 冲突丢字段致编译失败。→ 同文件注入错位 + 合并前 mvn compile。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3776472"/>
            <a:ext cx="5440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8640" y="3776472"/>
            <a:ext cx="82296" cy="182880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3" name="Shape 20"/>
          <p:cNvSpPr/>
          <p:nvPr/>
        </p:nvSpPr>
        <p:spPr>
          <a:xfrm>
            <a:off x="804672" y="4014216"/>
            <a:ext cx="457200" cy="45720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24" name="Text 21"/>
          <p:cNvSpPr/>
          <p:nvPr/>
        </p:nvSpPr>
        <p:spPr>
          <a:xfrm>
            <a:off x="804672" y="40142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417320" y="3995928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建议违反规约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822960" y="4645152"/>
            <a:ext cx="49834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可能给「加权平均」而非规约要求的「Σ得分/Σ满分」。→ 对照规约文档复核每个公式。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199632" y="3776472"/>
            <a:ext cx="5440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199632" y="3776472"/>
            <a:ext cx="82296" cy="1828800"/>
          </a:xfrm>
          <a:prstGeom prst="rect">
            <a:avLst/>
          </a:prstGeom>
          <a:solidFill>
            <a:srgbClr val="16A34A"/>
          </a:solidFill>
        </p:spPr>
      </p:sp>
      <p:sp>
        <p:nvSpPr>
          <p:cNvPr id="29" name="Shape 26"/>
          <p:cNvSpPr/>
          <p:nvPr/>
        </p:nvSpPr>
        <p:spPr>
          <a:xfrm>
            <a:off x="6455664" y="4014216"/>
            <a:ext cx="457200" cy="457200"/>
          </a:xfrm>
          <a:prstGeom prst="ellipse">
            <a:avLst/>
          </a:prstGeom>
          <a:solidFill>
            <a:srgbClr val="16A34A"/>
          </a:solidFill>
        </p:spPr>
      </p:sp>
      <p:sp>
        <p:nvSpPr>
          <p:cNvPr id="30" name="Text 27"/>
          <p:cNvSpPr/>
          <p:nvPr/>
        </p:nvSpPr>
        <p:spPr>
          <a:xfrm>
            <a:off x="6455664" y="40142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7068312" y="3995928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验证文化是底线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6473952" y="4645152"/>
            <a:ext cx="49834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生成、人验证：编译 + 单测（44 个）+ E2E 三重把关，关键 SQL 必查 schema。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4" name="Text 2"/>
          <p:cNvSpPr/>
          <p:nvPr/>
        </p:nvSpPr>
        <p:spPr>
          <a:xfrm>
            <a:off x="7680960" y="365760"/>
            <a:ext cx="4023360" cy="420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1A3A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5EEA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05 · Q&amp;A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603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542032"/>
            <a:ext cx="8686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组间交流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32688" y="35204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CDE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欢迎其他小组提问，本组作答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6355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9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面向专业认证的毕业要求达成度计算平台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7295" y="63550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9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3" name="Text 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面向专业认证的毕业要求达成度计算平台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39535" y="647395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第十六周工作汇报 · 计算平台开发组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Q&amp;A · 组间交流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498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713232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三个小组的提问与本组回答（节选）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1109167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783080"/>
            <a:ext cx="82296" cy="1261872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11" name="Shape 8"/>
          <p:cNvSpPr/>
          <p:nvPr/>
        </p:nvSpPr>
        <p:spPr>
          <a:xfrm>
            <a:off x="548640" y="1783080"/>
            <a:ext cx="1554480" cy="1261872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12" name="Text 9"/>
          <p:cNvSpPr/>
          <p:nvPr/>
        </p:nvSpPr>
        <p:spPr>
          <a:xfrm>
            <a:off x="548640" y="1783080"/>
            <a:ext cx="1554480" cy="1261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计算模型组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286000" y="1874520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Q：三级达成度如何保证 ΣW = 1.0？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286000" y="2313432"/>
            <a:ext cx="9144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A：后端 MatrixCourseIndicatorServiceImpl.checkMatrixWeights 强制校验，容差 0.0001；课程内部权重 ∑w = 1.0 由 checkWeights 同理校验，不满足直接拒绝落库。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154680"/>
            <a:ext cx="1109167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" y="3154680"/>
            <a:ext cx="82296" cy="126187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7" name="Shape 14"/>
          <p:cNvSpPr/>
          <p:nvPr/>
        </p:nvSpPr>
        <p:spPr>
          <a:xfrm>
            <a:off x="548640" y="3154680"/>
            <a:ext cx="1554480" cy="126187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8" name="Text 15"/>
          <p:cNvSpPr/>
          <p:nvPr/>
        </p:nvSpPr>
        <p:spPr>
          <a:xfrm>
            <a:off x="548640" y="3154680"/>
            <a:ext cx="1554480" cy="1261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安全组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286000" y="3246120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Q：如何防止教师横向越权查看 / 改他人数据？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286000" y="3685032"/>
            <a:ext cx="9144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A：① OwnershipHelper 数据级归属校验（班级 teacher_id、课程「是否讲授」），admin 放行；② AuthInterceptor 真正校验 anyRole；③ 报表接口纳入 JWT 白名单。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526280"/>
            <a:ext cx="1109167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2A4A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8640" y="4526280"/>
            <a:ext cx="82296" cy="126187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3" name="Shape 20"/>
          <p:cNvSpPr/>
          <p:nvPr/>
        </p:nvSpPr>
        <p:spPr>
          <a:xfrm>
            <a:off x="548640" y="4526280"/>
            <a:ext cx="1554480" cy="126187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4" name="Text 21"/>
          <p:cNvSpPr/>
          <p:nvPr/>
        </p:nvSpPr>
        <p:spPr>
          <a:xfrm>
            <a:off x="548640" y="4526280"/>
            <a:ext cx="1554480" cy="1261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组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2286000" y="4617720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Q：AI 生成的代码如何保证不引入 bug？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2286000" y="5056632"/>
            <a:ext cx="9144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A：三重验证（编译 + 44 个单测 + E2E）+ 对照规约复核 + 关键 SQL 查 schema；AI 负责生成，人负责验证，幻觉字段会被编译立刻拦住。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备选问题：④ 部署组 — PDF 中文如何解决？A：嵌入 LXGW WenKai 静态 TTF（OFL）+ PdfTableRenderer。   ⑤ 测试组 — 测试数据哪来？A：新增软件工程专业完整数据（id 段 9000+）。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4" name="Text 2"/>
          <p:cNvSpPr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kern="0" spc="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THANKS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960120" y="3611880"/>
            <a:ext cx="2926080" cy="4572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6" name="Text 4"/>
          <p:cNvSpPr/>
          <p:nvPr/>
        </p:nvSpPr>
        <p:spPr>
          <a:xfrm>
            <a:off x="932688" y="37947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EEA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感谢聆听 · 欢迎提问与交流</a:t>
            </a:r>
            <a:endParaRPr lang="en-US" sz="2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3.6,&quot;left&quot;:43.2,&quot;top&quot;:162,&quot;width&quot;:873.36}"/>
</p:tagLst>
</file>

<file path=ppt/tags/tag2.xml><?xml version="1.0" encoding="utf-8"?>
<p:tagLst xmlns:p="http://schemas.openxmlformats.org/presentationml/2006/main">
  <p:tag name="KSO_WM_DIAGRAM_VIRTUALLY_FRAME" val="{&quot;height&quot;:273.6,&quot;left&quot;:43.2,&quot;top&quot;:162,&quot;width&quot;:873.36}"/>
</p:tagLst>
</file>

<file path=ppt/tags/tag3.xml><?xml version="1.0" encoding="utf-8"?>
<p:tagLst xmlns:p="http://schemas.openxmlformats.org/presentationml/2006/main">
  <p:tag name="KSO_WM_DIAGRAM_VIRTUALLY_FRAME" val="{&quot;height&quot;:273.6,&quot;left&quot;:43.2,&quot;top&quot;:162,&quot;width&quot;:873.36}"/>
</p:tagLst>
</file>

<file path=ppt/tags/tag4.xml><?xml version="1.0" encoding="utf-8"?>
<p:tagLst xmlns:p="http://schemas.openxmlformats.org/presentationml/2006/main">
  <p:tag name="KSO_WM_DIAGRAM_VIRTUALLY_FRAME" val="{&quot;height&quot;:273.6,&quot;left&quot;:43.2,&quot;top&quot;:162,&quot;width&quot;:873.36}"/>
</p:tagLst>
</file>

<file path=ppt/tags/tag5.xml><?xml version="1.0" encoding="utf-8"?>
<p:tagLst xmlns:p="http://schemas.openxmlformats.org/presentationml/2006/main">
  <p:tag name="KSO_WM_DIAGRAM_VIRTUALLY_FRAME" val="{&quot;height&quot;:273.6,&quot;left&quot;:43.2,&quot;top&quot;:162,&quot;width&quot;:873.36}"/>
</p:tagLst>
</file>

<file path=ppt/tags/tag6.xml><?xml version="1.0" encoding="utf-8"?>
<p:tagLst xmlns:p="http://schemas.openxmlformats.org/presentationml/2006/main">
  <p:tag name="KSO_WM_DIAGRAM_VIRTUALLY_FRAME" val="{&quot;height&quot;:273.6,&quot;left&quot;:43.2,&quot;top&quot;:162,&quot;width&quot;:873.36}"/>
</p:tagLst>
</file>

<file path=ppt/tags/tag7.xml><?xml version="1.0" encoding="utf-8"?>
<p:tagLst xmlns:p="http://schemas.openxmlformats.org/presentationml/2006/main">
  <p:tag name="KSO_WM_DIAGRAM_VIRTUALLY_FRAME" val="{&quot;height&quot;:273.6,&quot;left&quot;:43.2,&quot;top&quot;:162,&quot;width&quot;:873.36}"/>
</p:tagLst>
</file>

<file path=ppt/tags/tag8.xml><?xml version="1.0" encoding="utf-8"?>
<p:tagLst xmlns:p="http://schemas.openxmlformats.org/presentationml/2006/main">
  <p:tag name="KSO_WM_DIAGRAM_VIRTUALLY_FRAME" val="{&quot;height&quot;:273.6,&quot;left&quot;:43.2,&quot;top&quot;:162,&quot;width&quot;:873.36}"/>
</p:tagLst>
</file>

<file path=ppt/tags/tag9.xml><?xml version="1.0" encoding="utf-8"?>
<p:tagLst xmlns:p="http://schemas.openxmlformats.org/presentationml/2006/main">
  <p:tag name="KSO_WM_DIAGRAM_VIRTUALLY_FRAME" val="{&quot;height&quot;:273.6,&quot;left&quot;:43.2,&quot;top&quot;:162,&quot;width&quot;:873.36}"/>
</p:tagLst>
</file>

<file path=ppt/tags/tag10.xml><?xml version="1.0" encoding="utf-8"?>
<p:tagLst xmlns:p="http://schemas.openxmlformats.org/presentationml/2006/main">
  <p:tag name="KSO_WM_DIAGRAM_VIRTUALLY_FRAME" val="{&quot;height&quot;:273.6,&quot;left&quot;:43.2,&quot;top&quot;:162,&quot;width&quot;:873.36}"/>
</p:tagLst>
</file>

<file path=ppt/tags/tag11.xml><?xml version="1.0" encoding="utf-8"?>
<p:tagLst xmlns:p="http://schemas.openxmlformats.org/presentationml/2006/main">
  <p:tag name="KSO_WM_DIAGRAM_VIRTUALLY_FRAME" val="{&quot;height&quot;:273.6,&quot;left&quot;:43.2,&quot;top&quot;:162,&quot;width&quot;:873.36}"/>
</p:tagLst>
</file>

<file path=ppt/tags/tag12.xml><?xml version="1.0" encoding="utf-8"?>
<p:tagLst xmlns:p="http://schemas.openxmlformats.org/presentationml/2006/main">
  <p:tag name="KSO_WM_DIAGRAM_VIRTUALLY_FRAME" val="{&quot;height&quot;:273.6,&quot;left&quot;:43.2,&quot;top&quot;:162,&quot;width&quot;:873.36}"/>
</p:tagLst>
</file>

<file path=ppt/tags/tag13.xml><?xml version="1.0" encoding="utf-8"?>
<p:tagLst xmlns:p="http://schemas.openxmlformats.org/presentationml/2006/main">
  <p:tag name="KSO_WM_DIAGRAM_VIRTUALLY_FRAME" val="{&quot;height&quot;:273.6,&quot;left&quot;:43.2,&quot;top&quot;:162,&quot;width&quot;:873.36}"/>
</p:tagLst>
</file>

<file path=ppt/tags/tag14.xml><?xml version="1.0" encoding="utf-8"?>
<p:tagLst xmlns:p="http://schemas.openxmlformats.org/presentationml/2006/main">
  <p:tag name="KSO_WM_DIAGRAM_VIRTUALLY_FRAME" val="{&quot;height&quot;:273.6,&quot;left&quot;:43.2,&quot;top&quot;:162,&quot;width&quot;:873.36}"/>
</p:tagLst>
</file>

<file path=ppt/tags/tag15.xml><?xml version="1.0" encoding="utf-8"?>
<p:tagLst xmlns:p="http://schemas.openxmlformats.org/presentationml/2006/main">
  <p:tag name="KSO_WM_DIAGRAM_VIRTUALLY_FRAME" val="{&quot;height&quot;:273.6,&quot;left&quot;:43.2,&quot;top&quot;:162,&quot;width&quot;:873.36}"/>
</p:tagLst>
</file>

<file path=ppt/tags/tag16.xml><?xml version="1.0" encoding="utf-8"?>
<p:tagLst xmlns:p="http://schemas.openxmlformats.org/presentationml/2006/main">
  <p:tag name="KSO_WM_DIAGRAM_VIRTUALLY_FRAME" val="{&quot;height&quot;:273.6,&quot;left&quot;:43.2,&quot;top&quot;:162,&quot;width&quot;:873.36}"/>
</p:tagLst>
</file>

<file path=ppt/tags/tag17.xml><?xml version="1.0" encoding="utf-8"?>
<p:tagLst xmlns:p="http://schemas.openxmlformats.org/presentationml/2006/main">
  <p:tag name="KSO_WM_DIAGRAM_VIRTUALLY_FRAME" val="{&quot;height&quot;:273.6,&quot;left&quot;:43.2,&quot;top&quot;:162,&quot;width&quot;:873.36}"/>
</p:tagLst>
</file>

<file path=ppt/tags/tag18.xml><?xml version="1.0" encoding="utf-8"?>
<p:tagLst xmlns:p="http://schemas.openxmlformats.org/presentationml/2006/main">
  <p:tag name="KSO_WM_DIAGRAM_VIRTUALLY_FRAME" val="{&quot;height&quot;:273.6,&quot;left&quot;:43.2,&quot;top&quot;:162,&quot;width&quot;:873.36}"/>
</p:tagLst>
</file>

<file path=ppt/tags/tag19.xml><?xml version="1.0" encoding="utf-8"?>
<p:tagLst xmlns:p="http://schemas.openxmlformats.org/presentationml/2006/main">
  <p:tag name="KSO_WM_DIAGRAM_VIRTUALLY_FRAME" val="{&quot;height&quot;:273.6,&quot;left&quot;:43.2,&quot;top&quot;:162,&quot;width&quot;:873.36}"/>
</p:tagLst>
</file>

<file path=ppt/tags/tag20.xml><?xml version="1.0" encoding="utf-8"?>
<p:tagLst xmlns:p="http://schemas.openxmlformats.org/presentationml/2006/main">
  <p:tag name="KSO_WM_DIAGRAM_VIRTUALLY_FRAME" val="{&quot;height&quot;:273.6,&quot;left&quot;:43.2,&quot;top&quot;:162,&quot;width&quot;:873.36}"/>
</p:tagLst>
</file>

<file path=ppt/tags/tag21.xml><?xml version="1.0" encoding="utf-8"?>
<p:tagLst xmlns:p="http://schemas.openxmlformats.org/presentationml/2006/main">
  <p:tag name="KSO_WM_DIAGRAM_VIRTUALLY_FRAME" val="{&quot;height&quot;:273.6,&quot;left&quot;:43.2,&quot;top&quot;:162,&quot;width&quot;:873.36}"/>
</p:tagLst>
</file>

<file path=ppt/tags/tag22.xml><?xml version="1.0" encoding="utf-8"?>
<p:tagLst xmlns:p="http://schemas.openxmlformats.org/presentationml/2006/main">
  <p:tag name="KSO_WM_DIAGRAM_VIRTUALLY_FRAME" val="{&quot;height&quot;:273.6,&quot;left&quot;:43.2,&quot;top&quot;:162,&quot;width&quot;:873.36}"/>
</p:tagLst>
</file>

<file path=ppt/tags/tag23.xml><?xml version="1.0" encoding="utf-8"?>
<p:tagLst xmlns:p="http://schemas.openxmlformats.org/presentationml/2006/main">
  <p:tag name="KSO_WM_DIAGRAM_VIRTUALLY_FRAME" val="{&quot;height&quot;:273.6,&quot;left&quot;:43.2,&quot;top&quot;:162,&quot;width&quot;:873.36}"/>
</p:tagLst>
</file>

<file path=ppt/tags/tag24.xml><?xml version="1.0" encoding="utf-8"?>
<p:tagLst xmlns:p="http://schemas.openxmlformats.org/presentationml/2006/main">
  <p:tag name="KSO_WM_DIAGRAM_VIRTUALLY_FRAME" val="{&quot;height&quot;:273.6,&quot;left&quot;:43.2,&quot;top&quot;:162,&quot;width&quot;:873.3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9840</Words>
  <Application>WPS 演示</Application>
  <PresentationFormat>On-screen Show (16:9)</PresentationFormat>
  <Paragraphs>1020</Paragraphs>
  <Slides>31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0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开源软件开发课程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第十六周工作汇报</dc:title>
  <dc:creator>计算平台开发组</dc:creator>
  <dc:subject>PptxGenJS Presentation</dc:subject>
  <cp:lastModifiedBy>像风像云像你.</cp:lastModifiedBy>
  <cp:revision>2</cp:revision>
  <dcterms:created xsi:type="dcterms:W3CDTF">2026-06-21T11:54:00Z</dcterms:created>
  <dcterms:modified xsi:type="dcterms:W3CDTF">2026-06-21T11:57:13Z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09A2F3F87D0F41A79B4A8945E5DA742A_12</vt:lpwstr>
  </property>
  <property fmtid="{D5CDD505-2E9C-101B-9397-08002B2CF9AE}" pid="3" name="KSOProductBuildVer">
    <vt:lpwstr>2052-12.1.0.26895</vt:lpwstr>
  </property>
</Properties>
</file>