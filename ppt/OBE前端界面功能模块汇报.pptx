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3333095" cy="7499985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5900000"/>
            <a:ext cx="13333333" cy="1600000"/>
          </a:xfrm>
          <a:prstGeom prst="rect">
            <a:avLst/>
          </a:prstGeom>
          <a:solidFill>
            <a:srgbClr val="EEF6FF"/>
          </a:solidFill>
          <a:ln>
            <a:solidFill>
              <a:srgbClr val="EEF6FF"/>
            </a:solidFill>
          </a:ln>
        </p:spPr>
      </p:sp>
      <p:sp>
        <p:nvSpPr>
          <p:cNvPr id="4" name="text"/>
          <p:cNvSpPr txBox="1"/>
          <p:nvPr/>
        </p:nvSpPr>
        <p:spPr>
          <a:xfrm>
            <a:off x="820000" y="125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3900" b="1">
                <a:solidFill>
                  <a:srgbClr val="FFFFFF"/>
                </a:solidFill>
              </a:rPr>
              <a:t>OBE达成度计算平台</a:t>
            </a:r>
            <a:endParaRPr lang="zh-CN" sz="3900" b="1">
              <a:solidFill>
                <a:srgbClr val="FFFFFF"/>
              </a:solidFill>
            </a:endParaRPr>
          </a:p>
          <a:p>
            <a:pPr>
              <a:buNone/>
            </a:pPr>
            <a:r>
              <a:rPr lang="zh-CN" sz="3900" b="0">
                <a:solidFill>
                  <a:srgbClr val="FFFFFF"/>
                </a:solidFill>
              </a:rPr>
              <a:t>前端界面功能模块汇报</a:t>
            </a:r>
            <a:endParaRPr lang="zh-CN" sz="3900" b="0">
              <a:solidFill>
                <a:srgbClr val="FFFFFF"/>
              </a:solidFill>
            </a:endParaRPr>
          </a:p>
        </p:txBody>
      </p:sp>
      <p:sp>
        <p:nvSpPr>
          <p:cNvPr id="5" name="text"/>
          <p:cNvSpPr txBox="1"/>
          <p:nvPr/>
        </p:nvSpPr>
        <p:spPr>
          <a:xfrm>
            <a:off x="880000" y="3050000"/>
            <a:ext cx="85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100" b="0">
                <a:solidFill>
                  <a:srgbClr val="DCEAFF"/>
                </a:solidFill>
              </a:rPr>
              <a:t>围绕 UI 界面展示系统入口、数据维护、达成度计算和报表导出流程</a:t>
            </a:r>
            <a:endParaRPr lang="zh-CN" sz="2100" b="0">
              <a:solidFill>
                <a:srgbClr val="DCEAFF"/>
              </a:solidFill>
            </a:endParaRPr>
          </a:p>
        </p:txBody>
      </p:sp>
      <p:sp>
        <p:nvSpPr>
          <p:cNvPr id="6" name="shape"/>
          <p:cNvSpPr/>
          <p:nvPr/>
        </p:nvSpPr>
        <p:spPr>
          <a:xfrm>
            <a:off x="870000" y="4340000"/>
            <a:ext cx="2160000" cy="560000"/>
          </a:xfrm>
          <a:prstGeom prst="roundRect">
            <a:avLst/>
          </a:prstGeom>
          <a:solidFill>
            <a:srgbClr val="1776F2"/>
          </a:solidFill>
          <a:ln>
            <a:solidFill>
              <a:srgbClr val="1776F2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FFFFFF"/>
                </a:solidFill>
              </a:rPr>
              <a:t>Vue + Element Plus</a:t>
            </a:r>
            <a:endParaRPr lang="zh-CN" sz="1700" b="1">
              <a:solidFill>
                <a:srgbClr val="FFFFFF"/>
              </a:solidFill>
            </a:endParaRPr>
          </a:p>
        </p:txBody>
      </p:sp>
      <p:sp>
        <p:nvSpPr>
          <p:cNvPr id="7" name="shape"/>
          <p:cNvSpPr/>
          <p:nvPr/>
        </p:nvSpPr>
        <p:spPr>
          <a:xfrm>
            <a:off x="3260000" y="4340000"/>
            <a:ext cx="1600000" cy="560000"/>
          </a:xfrm>
          <a:prstGeom prst="roundRect">
            <a:avLst/>
          </a:prstGeom>
          <a:solidFill>
            <a:srgbClr val="24A761"/>
          </a:solidFill>
          <a:ln>
            <a:solidFill>
              <a:srgbClr val="24A761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FFFFFF"/>
                </a:solidFill>
              </a:rPr>
              <a:t>ECharts</a:t>
            </a:r>
            <a:endParaRPr lang="zh-CN" sz="1700" b="1">
              <a:solidFill>
                <a:srgbClr val="FFFFFF"/>
              </a:solidFill>
            </a:endParaRPr>
          </a:p>
        </p:txBody>
      </p:sp>
      <p:sp>
        <p:nvSpPr>
          <p:cNvPr id="8" name="shape"/>
          <p:cNvSpPr/>
          <p:nvPr/>
        </p:nvSpPr>
        <p:spPr>
          <a:xfrm>
            <a:off x="5100000" y="4340000"/>
            <a:ext cx="2120000" cy="560000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FFFFFF"/>
                </a:solidFill>
              </a:rPr>
              <a:t>工程认证</a:t>
            </a:r>
            <a:endParaRPr lang="zh-CN" sz="17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095" cy="7380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7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汇报结构：从数据到计算再到导出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780000" y="1050000"/>
            <a:ext cx="11700000" cy="4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300" b="1">
                <a:solidFill>
                  <a:srgbClr val="25364D"/>
                </a:solidFill>
              </a:rPr>
              <a:t>平台采用左侧导航 + 顶部状态栏 + 内容工作区的后台管理布局。</a:t>
            </a:r>
            <a:endParaRPr lang="zh-CN" sz="230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首页负责全局概览，快速说明平台当前运行情况。</a:t>
            </a:r>
            <a:endParaRPr lang="zh-CN" sz="230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基础数据、支撑矩阵、课程大纲构成达成度计算前置配置。</a:t>
            </a:r>
            <a:endParaRPr lang="zh-CN" sz="230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成绩导入、课程级计算、专业级计算完成三层达成度链路。</a:t>
            </a:r>
            <a:endParaRPr lang="zh-CN" sz="230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300" b="0">
                <a:solidFill>
                  <a:srgbClr val="25364D"/>
                </a:solidFill>
              </a:rPr>
              <a:t>报表中心负责输出认证所需的可追溯材料。</a:t>
            </a:r>
            <a:endParaRPr lang="zh-CN" sz="2300" b="0">
              <a:solidFill>
                <a:srgbClr val="25364D"/>
              </a:solidFill>
            </a:endParaRPr>
          </a:p>
        </p:txBody>
      </p:sp>
      <p:sp>
        <p:nvSpPr>
          <p:cNvPr id="5" name="shape"/>
          <p:cNvSpPr/>
          <p:nvPr/>
        </p:nvSpPr>
        <p:spPr>
          <a:xfrm>
            <a:off x="820000" y="6050000"/>
            <a:ext cx="11600000" cy="620000"/>
          </a:xfrm>
          <a:prstGeom prst="roundRect">
            <a:avLst/>
          </a:prstGeom>
          <a:solidFill>
            <a:srgbClr val="EEF6FF"/>
          </a:solidFill>
          <a:ln>
            <a:solidFill>
              <a:srgbClr val="BCD8FF"/>
            </a:solidFill>
          </a:ln>
        </p:spPr>
        <p:txBody>
          <a:bodyPr wrap="square"/>
          <a:lstStyle/>
          <a:p>
            <a:r>
              <a:rPr lang="zh-CN" sz="1900" b="1">
                <a:solidFill>
                  <a:srgbClr val="174F98"/>
                </a:solidFill>
              </a:rPr>
              <a:t>展示重点：说明每个界面模块“给谁用、做什么、产出什么数据”。</a:t>
            </a:r>
            <a:endParaRPr lang="zh-CN" sz="1900" b="1">
              <a:solidFill>
                <a:srgbClr val="174F9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095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1. 登录与角色入口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提供统一系统入口，通过角色选择进入对应业务场景。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覆盖系统管理员、教务管理员、专业负责人、课程教师四类角色。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用于展示平台围绕工程教育认证的分工协作流程。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页面路径：/login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2. 首页综合看板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汇总毕业要求、课程总数、学生总数、课程锁定率等核心指标。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通过雷达图展示毕业要求达成度，通过饼图展示课程计算状态。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提供最近计算记录、通知公告和常用功能快捷入口。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页面路径：/dashboard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3. 基础数据管理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维护专业课程库、学年学期、教学班、学生名单等基础数据。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展示课程代码、课程名称、教师、学生数、学期和计算状态。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管理毕业要求与二级指标点，为后续计算提供统一数据源。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页面路径：/basic-data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4. 宏观支撑矩阵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专业负责人配置课程对毕业要求指标点的支撑权重 Wc。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每个指标点列合计要求为 1.00，保证专业级计算权重有效。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矩阵结果参与公式 Gk = Σ(Ek × Wc)，连接课程级与专业级达成度。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页面路径：/matrix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5. 课程大纲配置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维护课程目标 CO、目标描述和示例达成度。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配置课程目标到指标点的内部贡献权重 wjk，列合计必须为 1.00。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管理考核点、分值、对应课程目标和考核方式。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页面路径：/syllabus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6. 成绩导入与预览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支持课程教师导入 Excel 成绩模板，也可下载标准模板。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预览学生各考核点原始成绩，并支持单条编辑。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点击计算并锁定后生成课程目标达成度与课程级指标点达成度 Ek。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页面路径：/score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7. 专业级计算看板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检查各课程是否完成计算并锁定，未锁定时提示暂不能执行。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展示一级、二级、三级达成度计算链路，说明数据如何逐级汇总。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输出专业指标点最终达成度 Gk，并标识达成或待改进。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页面路径：/calculation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2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8. 报表与导出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shape"/>
          <p:cNvSpPr/>
          <p:nvPr/>
        </p:nvSpPr>
        <p:spPr>
          <a:xfrm>
            <a:off x="520000" y="930000"/>
            <a:ext cx="4550000" cy="4980000"/>
          </a:xfrm>
          <a:prstGeom prst="roundRect">
            <a:avLst/>
          </a:prstGeom>
          <a:solidFill>
            <a:srgbClr val="FFFFFF"/>
          </a:solidFill>
          <a:ln>
            <a:solidFill>
              <a:srgbClr val="DFE7F2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850000" y="1230000"/>
            <a:ext cx="3900000" cy="4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850" b="1">
                <a:solidFill>
                  <a:srgbClr val="25364D"/>
                </a:solidFill>
              </a:rPr>
              <a:t>功能作用</a:t>
            </a:r>
            <a:endParaRPr lang="zh-CN" sz="18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提供单项指标点达成度表，便于快速查看专业达成情况。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支持课程目标达成情况、专业毕业要求报告、支撑矩阵台账等报表。</a:t>
            </a:r>
            <a:endParaRPr lang="zh-CN" sz="18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1850" b="0">
                <a:solidFill>
                  <a:srgbClr val="25364D"/>
                </a:solidFill>
              </a:rPr>
              <a:t>面向不同角色提供 Excel 与 PDF 导出入口，形成可追溯材料。</a:t>
            </a:r>
            <a:endParaRPr lang="zh-CN" sz="1850" b="0">
              <a:solidFill>
                <a:srgbClr val="25364D"/>
              </a:solidFill>
            </a:endParaRPr>
          </a:p>
        </p:txBody>
      </p:sp>
      <p:pic>
        <p:nvPicPr>
          <p:cNvPr id="10" name="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500000" y="1000000"/>
            <a:ext cx="7220000" cy="4059267"/>
          </a:xfrm>
          <a:prstGeom prst="rect">
            <a:avLst/>
          </a:prstGeom>
          <a:ln>
            <a:solidFill>
              <a:srgbClr val="D9E4F2"/>
            </a:solidFill>
          </a:ln>
        </p:spPr>
      </p:pic>
      <p:sp>
        <p:nvSpPr>
          <p:cNvPr id="6" name="text"/>
          <p:cNvSpPr txBox="1"/>
          <p:nvPr/>
        </p:nvSpPr>
        <p:spPr>
          <a:xfrm>
            <a:off x="5500000" y="6160000"/>
            <a:ext cx="71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1450" b="0">
                <a:solidFill>
                  <a:srgbClr val="68778D"/>
                </a:solidFill>
              </a:rPr>
              <a:t>页面路径：/report</a:t>
            </a:r>
            <a:endParaRPr lang="zh-CN" sz="1450" b="0">
              <a:solidFill>
                <a:srgbClr val="68778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3333333" cy="748800"/>
          </a:xfrm>
          <a:prstGeom prst="rect">
            <a:avLst/>
          </a:prstGeom>
          <a:solidFill>
            <a:srgbClr val="061A34"/>
          </a:solidFill>
          <a:ln>
            <a:solidFill>
              <a:srgbClr val="061A34"/>
            </a:solidFill>
          </a:ln>
        </p:spPr>
      </p:sp>
      <p:sp>
        <p:nvSpPr>
          <p:cNvPr id="3" name="text"/>
          <p:cNvSpPr txBox="1"/>
          <p:nvPr/>
        </p:nvSpPr>
        <p:spPr>
          <a:xfrm>
            <a:off x="520000" y="165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500" b="1">
                <a:solidFill>
                  <a:srgbClr val="FFFFFF"/>
                </a:solidFill>
              </a:rPr>
              <a:t>汇报收束</a:t>
            </a:r>
            <a:endParaRPr lang="zh-CN" sz="2500" b="1">
              <a:solidFill>
                <a:srgbClr val="FFFFFF"/>
              </a:solidFill>
            </a:endParaRPr>
          </a:p>
        </p:txBody>
      </p:sp>
      <p:sp>
        <p:nvSpPr>
          <p:cNvPr id="4" name="text"/>
          <p:cNvSpPr txBox="1"/>
          <p:nvPr/>
        </p:nvSpPr>
        <p:spPr>
          <a:xfrm>
            <a:off x="850000" y="1150000"/>
            <a:ext cx="11500000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zh-CN" sz="2450" b="1">
                <a:solidFill>
                  <a:srgbClr val="25364D"/>
                </a:solidFill>
              </a:rPr>
              <a:t>整体上，前端把 OBE 达成度计算拆成了清晰的业务闭环：</a:t>
            </a:r>
            <a:endParaRPr lang="zh-CN" sz="2450" b="1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450" b="0">
                <a:solidFill>
                  <a:srgbClr val="25364D"/>
                </a:solidFill>
              </a:rPr>
              <a:t>数据准备：基础数据、课程库、毕业要求和指标点。</a:t>
            </a:r>
            <a:endParaRPr lang="zh-CN" sz="24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450" b="0">
                <a:solidFill>
                  <a:srgbClr val="25364D"/>
                </a:solidFill>
              </a:rPr>
              <a:t>权重配置：宏观支撑矩阵与课程目标内部贡献权重。</a:t>
            </a:r>
            <a:endParaRPr lang="zh-CN" sz="24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450" b="0">
                <a:solidFill>
                  <a:srgbClr val="25364D"/>
                </a:solidFill>
              </a:rPr>
              <a:t>成绩计算：成绩导入、课程级结果、专业级结果。</a:t>
            </a:r>
            <a:endParaRPr lang="zh-CN" sz="2450" b="0">
              <a:solidFill>
                <a:srgbClr val="25364D"/>
              </a:solidFill>
            </a:endParaRPr>
          </a:p>
          <a:p>
            <a:pPr marL="280035" indent="-179705">
              <a:buChar char="•"/>
            </a:pPr>
            <a:r>
              <a:rPr lang="zh-CN" sz="2450" b="0">
                <a:solidFill>
                  <a:srgbClr val="25364D"/>
                </a:solidFill>
              </a:rPr>
              <a:t>结果应用：看板监控、状态提醒、报表导出和认证材料留痕。</a:t>
            </a:r>
            <a:endParaRPr lang="zh-CN" sz="2450" b="0">
              <a:solidFill>
                <a:srgbClr val="25364D"/>
              </a:solidFill>
            </a:endParaRPr>
          </a:p>
        </p:txBody>
      </p:sp>
      <p:sp>
        <p:nvSpPr>
          <p:cNvPr id="5" name="shape"/>
          <p:cNvSpPr/>
          <p:nvPr/>
        </p:nvSpPr>
        <p:spPr>
          <a:xfrm>
            <a:off x="1000000" y="6040000"/>
            <a:ext cx="11200000" cy="580000"/>
          </a:xfrm>
          <a:prstGeom prst="roundRect">
            <a:avLst/>
          </a:prstGeom>
          <a:solidFill>
            <a:srgbClr val="1776F2"/>
          </a:solidFill>
          <a:ln>
            <a:solidFill>
              <a:srgbClr val="1776F2"/>
            </a:solidFill>
          </a:ln>
        </p:spPr>
        <p:txBody>
          <a:bodyPr wrap="square"/>
          <a:lstStyle/>
          <a:p>
            <a:r>
              <a:rPr lang="zh-CN" sz="1850" b="1">
                <a:solidFill>
                  <a:srgbClr val="FFFFFF"/>
                </a:solidFill>
              </a:rPr>
              <a:t>前端负责把复杂的三层达成度计算流程变成可配置、可检查、可导出的工作台。</a:t>
            </a:r>
            <a:endParaRPr lang="zh-CN" sz="18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BE">
  <a:themeElements>
    <a:clrScheme name="OBE">
      <a:dk1>
        <a:srgbClr val="142033"/>
      </a:dk1>
      <a:lt1>
        <a:srgbClr val="FFFFFF"/>
      </a:lt1>
      <a:dk2>
        <a:srgbClr val="061A34"/>
      </a:dk2>
      <a:lt2>
        <a:srgbClr val="F4F7FB"/>
      </a:lt2>
      <a:accent1>
        <a:srgbClr val="1776F2"/>
      </a:accent1>
      <a:accent2>
        <a:srgbClr val="24A761"/>
      </a:accent2>
      <a:accent3>
        <a:srgbClr val="F5A524"/>
      </a:accent3>
      <a:accent4>
        <a:srgbClr val="E5484D"/>
      </a:accent4>
      <a:accent5>
        <a:srgbClr val="0B4FB3"/>
      </a:accent5>
      <a:accent6>
        <a:srgbClr val="68778D"/>
      </a:accent6>
      <a:hlink>
        <a:srgbClr val="1776F2"/>
      </a:hlink>
      <a:folHlink>
        <a:srgbClr val="0B4FB3"/>
      </a:folHlink>
    </a:clrScheme>
    <a:fontScheme name="OB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B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1282</Words>
  <Application>WPS 演示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OBE前端界面功能模块汇报</dc:title>
  <dc:creator>Codex</dc:creator>
  <cp:lastModifiedBy>Ai.</cp:lastModifiedBy>
  <cp:revision>1</cp:revision>
  <dcterms:created xsi:type="dcterms:W3CDTF">2026-05-26T08:31:40Z</dcterms:created>
  <dcterms:modified xsi:type="dcterms:W3CDTF">2026-05-26T08:31:40Z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92524E3025F64D0FA974916FA8723F15_12</vt:lpwstr>
  </property>
</Properties>
</file>