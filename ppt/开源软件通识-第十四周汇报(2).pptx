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9" r:id="rId3"/>
    <p:sldId id="862" r:id="rId5"/>
    <p:sldId id="863" r:id="rId6"/>
    <p:sldId id="864" r:id="rId7"/>
    <p:sldId id="866" r:id="rId8"/>
    <p:sldId id="868" r:id="rId9"/>
    <p:sldId id="869" r:id="rId10"/>
    <p:sldId id="870" r:id="rId11"/>
    <p:sldId id="871" r:id="rId12"/>
    <p:sldId id="873" r:id="rId13"/>
    <p:sldId id="867" r:id="rId14"/>
    <p:sldId id="872" r:id="rId15"/>
    <p:sldId id="702" r:id="rId16"/>
    <p:sldId id="833" r:id="rId17"/>
    <p:sldId id="834" r:id="rId18"/>
    <p:sldId id="840" r:id="rId19"/>
    <p:sldId id="837" r:id="rId20"/>
    <p:sldId id="841" r:id="rId21"/>
    <p:sldId id="842" r:id="rId22"/>
    <p:sldId id="847" r:id="rId23"/>
    <p:sldId id="848" r:id="rId24"/>
    <p:sldId id="849" r:id="rId25"/>
    <p:sldId id="850" r:id="rId26"/>
    <p:sldId id="740" r:id="rId27"/>
    <p:sldId id="851" r:id="rId28"/>
    <p:sldId id="852" r:id="rId29"/>
    <p:sldId id="853" r:id="rId30"/>
    <p:sldId id="854" r:id="rId31"/>
    <p:sldId id="855" r:id="rId32"/>
    <p:sldId id="856" r:id="rId33"/>
    <p:sldId id="857" r:id="rId34"/>
    <p:sldId id="860" r:id="rId35"/>
    <p:sldId id="861" r:id="rId36"/>
    <p:sldId id="716" r:id="rId37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862"/>
            <p14:sldId id="863"/>
            <p14:sldId id="864"/>
            <p14:sldId id="866"/>
            <p14:sldId id="868"/>
            <p14:sldId id="869"/>
            <p14:sldId id="870"/>
            <p14:sldId id="871"/>
            <p14:sldId id="873"/>
            <p14:sldId id="867"/>
            <p14:sldId id="872"/>
            <p14:sldId id="702"/>
            <p14:sldId id="833"/>
            <p14:sldId id="834"/>
            <p14:sldId id="840"/>
            <p14:sldId id="837"/>
            <p14:sldId id="841"/>
            <p14:sldId id="842"/>
            <p14:sldId id="847"/>
            <p14:sldId id="848"/>
            <p14:sldId id="849"/>
            <p14:sldId id="850"/>
            <p14:sldId id="740"/>
            <p14:sldId id="851"/>
            <p14:sldId id="852"/>
            <p14:sldId id="853"/>
            <p14:sldId id="854"/>
            <p14:sldId id="855"/>
            <p14:sldId id="856"/>
            <p14:sldId id="857"/>
            <p14:sldId id="860"/>
            <p14:sldId id="861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00" autoAdjust="0"/>
  </p:normalViewPr>
  <p:slideViewPr>
    <p:cSldViewPr snapToGrid="0" showGuides="1">
      <p:cViewPr varScale="1">
        <p:scale>
          <a:sx n="76" d="100"/>
          <a:sy n="76" d="100"/>
        </p:scale>
        <p:origin x="946" y="53"/>
      </p:cViewPr>
      <p:guideLst>
        <p:guide orient="horz" pos="222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6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hyperlink" Target="http://120.27.221.219:8101/api/doc.html#/home&#13;" TargetMode="Externa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.xml"/><Relationship Id="rId7" Type="http://schemas.openxmlformats.org/officeDocument/2006/relationships/image" Target="../media/image1.png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notesSlide" Target="../notesSlides/notesSlide34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1802765" y="2145030"/>
            <a:ext cx="858647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b="1" spc="300" smtClean="0">
                <a:solidFill>
                  <a:schemeClr val="accent1"/>
                </a:solidFill>
                <a:cs typeface="+mn-ea"/>
                <a:sym typeface="+mn-lt"/>
              </a:rPr>
              <a:t>OBE</a:t>
            </a:r>
            <a:r>
              <a:rPr lang="zh-CN" altLang="en-US" sz="4000" b="1" spc="300" smtClean="0">
                <a:solidFill>
                  <a:schemeClr val="accent1"/>
                </a:solidFill>
                <a:cs typeface="+mn-ea"/>
                <a:sym typeface="+mn-lt"/>
              </a:rPr>
              <a:t>达成度计算平台前端本周改进汇报</a:t>
            </a:r>
            <a:endParaRPr lang="zh-CN" altLang="en-US" sz="4000" b="1" spc="300" smtClean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</a:t>
            </a:r>
            <a:r>
              <a:rPr lang="zh-CN" altLang="en-US" sz="1800" b="1" smtClean="0">
                <a:latin typeface="+mn-ea"/>
              </a:rPr>
              <a:t>：</a:t>
            </a:r>
            <a:endParaRPr lang="en-US" altLang="zh-CN" sz="1800" b="1" smtClean="0">
              <a:latin typeface="+mn-ea"/>
            </a:endParaRPr>
          </a:p>
          <a:p>
            <a:pPr algn="ctr"/>
            <a:r>
              <a:rPr lang="zh-CN" altLang="en-US" b="1" smtClean="0">
                <a:latin typeface="+mn-ea"/>
              </a:rPr>
              <a:t>时间：</a:t>
            </a:r>
            <a:r>
              <a:rPr lang="en-US" altLang="zh-CN" b="1" smtClean="0">
                <a:latin typeface="+mn-ea"/>
              </a:rPr>
              <a:t>2026.6.3</a:t>
            </a:r>
            <a:endParaRPr lang="en-US" altLang="zh-CN" b="1" smtClean="0">
              <a:latin typeface="+mn-ea"/>
            </a:endParaRP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后端技术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选型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90245" y="2115820"/>
          <a:ext cx="10485120" cy="281940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技术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版本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用途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Spring Boot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2.7.18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基础框架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MyBatis-Plus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3.5.2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ORM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持久层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MySQL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8.0+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关系型数据库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JWT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0.11.5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登录认证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Knife4j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4.4.0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接口文档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Hutool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5.8.8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工具库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Spring Session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-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分布式会话（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Redis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EasyExcel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3.1.1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Excel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导入导出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腾讯云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COS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5.6.89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对象存储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后端完成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模块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7120" y="1893252"/>
            <a:ext cx="5080000" cy="8502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000"/>
              </a:spcBef>
              <a:spcAft>
                <a:spcPts val="1200"/>
              </a:spcAft>
            </a:pPr>
            <a:r>
              <a:rPr lang="zh-CN" altLang="en-US" sz="1400" b="1" i="0">
                <a:solidFill>
                  <a:schemeClr val="tx1"/>
                </a:solidFill>
                <a:latin typeface="Helvetica"/>
                <a:ea typeface="Helvetica"/>
              </a:rPr>
              <a:t>模块划分（</a:t>
            </a:r>
            <a:r>
              <a:rPr lang="en-US" altLang="zh-CN" sz="1400" b="1" i="0">
                <a:solidFill>
                  <a:schemeClr val="tx1"/>
                </a:solidFill>
                <a:latin typeface="Helvetica"/>
                <a:ea typeface="Helvetica"/>
              </a:rPr>
              <a:t>12</a:t>
            </a:r>
            <a:r>
              <a:rPr lang="zh-CN" altLang="en-US" sz="1400" b="1" i="0">
                <a:solidFill>
                  <a:schemeClr val="tx1"/>
                </a:solidFill>
                <a:latin typeface="Helvetica"/>
                <a:ea typeface="Helvetica"/>
              </a:rPr>
              <a:t>个</a:t>
            </a:r>
            <a:r>
              <a:rPr lang="en-US" altLang="zh-CN" sz="1400" b="1" i="0">
                <a:solidFill>
                  <a:schemeClr val="tx1"/>
                </a:solidFill>
                <a:latin typeface="Helvetica"/>
                <a:ea typeface="Helvetica"/>
              </a:rPr>
              <a:t>Controller</a:t>
            </a:r>
            <a:r>
              <a:rPr lang="zh-CN" altLang="en-US" sz="1400" b="1" i="0">
                <a:solidFill>
                  <a:schemeClr val="tx1"/>
                </a:solidFill>
                <a:latin typeface="Helvetica"/>
                <a:ea typeface="Helvetica"/>
              </a:rPr>
              <a:t>）</a:t>
            </a:r>
            <a:endParaRPr lang="zh-CN" altLang="en-US" sz="1400" b="1" i="0">
              <a:solidFill>
                <a:schemeClr val="tx1"/>
              </a:solidFill>
              <a:latin typeface="Helvetica"/>
              <a:ea typeface="Helvetica"/>
            </a:endParaRPr>
          </a:p>
          <a:p>
            <a:pPr marL="0" indent="0">
              <a:spcBef>
                <a:spcPts val="1000"/>
              </a:spcBef>
              <a:spcAft>
                <a:spcPts val="1200"/>
              </a:spcAft>
            </a:pPr>
            <a:r>
              <a:rPr lang="zh-CN" altLang="en-US" sz="1700" b="1" i="0">
                <a:solidFill>
                  <a:schemeClr val="tx1"/>
                </a:solidFill>
                <a:latin typeface="Helvetica"/>
                <a:ea typeface="Helvetica"/>
              </a:rPr>
              <a:t>基础数据模块</a:t>
            </a:r>
            <a:endParaRPr lang="zh-CN" altLang="en-US" sz="1700" b="1" i="0">
              <a:solidFill>
                <a:schemeClr val="tx1"/>
              </a:solidFill>
              <a:latin typeface="Helvetica"/>
              <a:ea typeface="Helvetic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794385" y="2960370"/>
          <a:ext cx="10431780" cy="1610995"/>
        </p:xfrm>
        <a:graphic>
          <a:graphicData uri="http://schemas.openxmlformats.org/drawingml/2006/table">
            <a:tbl>
              <a:tblPr/>
              <a:tblGrid>
                <a:gridCol w="5215890"/>
                <a:gridCol w="5215890"/>
              </a:tblGrid>
              <a:tr h="483235">
                <a:tc>
                  <a:txBody>
                    <a:bodyPr/>
                    <a:p>
                      <a:pPr latinLnBrk="0"/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Controller</a:t>
                      </a:r>
                      <a:endParaRPr lang="en-US" altLang="zh-CN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功能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SysUserController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用户管理、登录认证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SysDictCollegeController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学院字典管理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SysDictMajorController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专业字典管理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SysDictSchoolYearController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学年学期管理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41045" y="4439920"/>
            <a:ext cx="5080000" cy="424180"/>
          </a:xfrm>
          <a:prstGeom prst="rect">
            <a:avLst/>
          </a:prstGeom>
        </p:spPr>
        <p:txBody>
          <a:bodyPr>
            <a:noAutofit/>
          </a:bodyPr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spcBef>
                <a:spcPts val="1000"/>
              </a:spcBef>
              <a:spcAft>
                <a:spcPts val="1200"/>
              </a:spcAft>
            </a:pPr>
            <a:r>
              <a:rPr lang="zh-CN" altLang="en-US" sz="1700" b="1" i="0">
                <a:solidFill>
                  <a:schemeClr val="tx1"/>
                </a:solidFill>
                <a:latin typeface="Helvetica"/>
                <a:ea typeface="Helvetica"/>
              </a:rPr>
              <a:t>课程管理模块</a:t>
            </a:r>
            <a:endParaRPr lang="zh-CN" altLang="en-US" sz="1700" b="1" i="0">
              <a:solidFill>
                <a:schemeClr val="tx1"/>
              </a:solidFill>
              <a:latin typeface="Helvetica"/>
              <a:ea typeface="Helvetica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741045" y="5189537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Controller</a:t>
                      </a:r>
                      <a:endParaRPr lang="en-US" altLang="zh-CN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功能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CourseController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课程信息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CRUD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TeachingClassController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教学班级管理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StudentController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学生信息管理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后端完成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模块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020" y="2054543"/>
            <a:ext cx="5080000" cy="35242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000"/>
              </a:spcBef>
              <a:spcAft>
                <a:spcPts val="1200"/>
              </a:spcAft>
            </a:pPr>
            <a:r>
              <a:rPr lang="zh-CN" altLang="en-US" sz="1700" b="1" i="0">
                <a:solidFill>
                  <a:schemeClr val="tx1"/>
                </a:solidFill>
                <a:latin typeface="Helvetica"/>
                <a:ea typeface="Helvetica"/>
              </a:rPr>
              <a:t>成果评价模块</a:t>
            </a:r>
            <a:endParaRPr lang="zh-CN" altLang="en-US" sz="1700" b="1" i="0">
              <a:solidFill>
                <a:schemeClr val="tx1"/>
              </a:solidFill>
              <a:latin typeface="Helvetica"/>
              <a:ea typeface="Helvetica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795020" y="2624773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Controller</a:t>
                      </a:r>
                      <a:endParaRPr lang="en-US" altLang="zh-CN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功能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GraduationRequirementController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毕业要求管理（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GR1/GR2...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IndicatorPointController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指标点管理（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1.1/1.2...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CourseObjectiveController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课程目标管理（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CO1/CO2...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AssessmentPointController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考核点管理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MatrixCourseIndicatorController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宏观支撑矩阵（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Wc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权重）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WeightObjectiveIndicatorController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内部贡献权重（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wjk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Helvetica"/>
                          <a:ea typeface="Helvetica"/>
                        </a:rPr>
                        <a:t>权重）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3353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问题</a:t>
            </a:r>
            <a:r>
              <a:rPr lang="en-US" altLang="zh-CN" sz="2250">
                <a:solidFill>
                  <a:srgbClr val="25364D"/>
                </a:solidFill>
                <a:sym typeface="+mn-ea"/>
              </a:rPr>
              <a:t>1 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数据库设计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问题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" y="1925320"/>
            <a:ext cx="5960745" cy="2517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090930"/>
            <a:ext cx="4846320" cy="2609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560" y="3923665"/>
            <a:ext cx="5003800" cy="28873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数据库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结构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" y="1734185"/>
            <a:ext cx="5808345" cy="2560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55" y="1123950"/>
            <a:ext cx="4201160" cy="56356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业务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流程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635" y="1555750"/>
            <a:ext cx="5796280" cy="45872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问题</a:t>
            </a:r>
            <a:r>
              <a:rPr lang="en-US" altLang="zh-CN" sz="2250">
                <a:solidFill>
                  <a:srgbClr val="25364D"/>
                </a:solidFill>
                <a:sym typeface="+mn-ea"/>
              </a:rPr>
              <a:t>2 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删除课程目标/考核点前自动校验下游引用，防止数据异常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55" y="2150745"/>
            <a:ext cx="4593590" cy="38436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810" y="2957195"/>
            <a:ext cx="5979795" cy="24974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问题</a:t>
            </a:r>
            <a:r>
              <a:rPr lang="en-US" altLang="zh-CN" sz="2250">
                <a:solidFill>
                  <a:srgbClr val="25364D"/>
                </a:solidFill>
                <a:sym typeface="+mn-ea"/>
              </a:rPr>
              <a:t>3 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下载学生导入模板和课程导入模板问题</a:t>
            </a:r>
            <a:r>
              <a:rPr lang="en-US" altLang="zh-CN" sz="2250">
                <a:solidFill>
                  <a:srgbClr val="25364D"/>
                </a:solidFill>
                <a:sym typeface="+mn-ea"/>
              </a:rPr>
              <a:t>   --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仍在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解决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" y="2069465"/>
            <a:ext cx="6158230" cy="27184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470" y="3481070"/>
            <a:ext cx="4971415" cy="27984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问题</a:t>
            </a:r>
            <a:r>
              <a:rPr lang="en-US" altLang="zh-CN" sz="2250">
                <a:solidFill>
                  <a:srgbClr val="25364D"/>
                </a:solidFill>
                <a:sym typeface="+mn-ea"/>
              </a:rPr>
              <a:t>4 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本地数据库测试数据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不方便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  <a:p>
            <a:pPr>
              <a:buNone/>
            </a:pPr>
            <a:endParaRPr lang="zh-CN" altLang="en-US" sz="2250">
              <a:solidFill>
                <a:srgbClr val="25364D"/>
              </a:solidFill>
              <a:sym typeface="+mn-ea"/>
            </a:endParaRPr>
          </a:p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解决：服务器部署线上数据库并进行测试数据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迁移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2883535"/>
            <a:ext cx="5656580" cy="3429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后端部署并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启动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  <p:pic>
        <p:nvPicPr>
          <p:cNvPr id="7" name="图片 6" descr="ba6ffe49a9dc57ad3b2a7138b2499d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" y="1733550"/>
            <a:ext cx="5257800" cy="3296285"/>
          </a:xfrm>
          <a:prstGeom prst="rect">
            <a:avLst/>
          </a:prstGeom>
        </p:spPr>
      </p:pic>
      <p:pic>
        <p:nvPicPr>
          <p:cNvPr id="8" name="图片 7" descr="cf3989d7312b20100a9f10e16792a32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05" y="1733550"/>
            <a:ext cx="7692390" cy="32962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</a:t>
            </a:r>
            <a:r>
              <a:rPr>
                <a:solidFill>
                  <a:srgbClr val="FFFFFF"/>
                </a:solidFill>
                <a:sym typeface="+mn-ea"/>
              </a:rPr>
              <a:t>后端工作总览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250">
                <a:solidFill>
                  <a:srgbClr val="25364D"/>
                </a:solidFill>
                <a:sym typeface="+mn-ea"/>
              </a:rPr>
              <a:t>后端部署成功访问接口</a:t>
            </a:r>
            <a:r>
              <a:rPr lang="zh-CN" altLang="en-US" sz="2250">
                <a:solidFill>
                  <a:srgbClr val="25364D"/>
                </a:solidFill>
                <a:sym typeface="+mn-ea"/>
              </a:rPr>
              <a:t>文档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  <a:p>
            <a:pPr>
              <a:buNone/>
            </a:pPr>
            <a:endParaRPr lang="zh-CN" altLang="en-US" sz="2250">
              <a:solidFill>
                <a:srgbClr val="25364D"/>
              </a:solidFill>
              <a:sym typeface="+mn-ea"/>
            </a:endParaRPr>
          </a:p>
          <a:p>
            <a:pPr>
              <a:buNone/>
            </a:pPr>
            <a:r>
              <a:rPr lang="en-US" altLang="zh-CN" sz="2250">
                <a:solidFill>
                  <a:srgbClr val="25364D"/>
                </a:solidFill>
                <a:sym typeface="+mn-ea"/>
                <a:hlinkClick r:id="rId2" tooltip=""/>
              </a:rPr>
              <a:t>http://120.27.221.219:8101/api/doc.html#/home</a:t>
            </a:r>
            <a:endParaRPr lang="en-US" altLang="zh-CN" sz="2250">
              <a:solidFill>
                <a:srgbClr val="25364D"/>
              </a:solidFill>
              <a:sym typeface="+mn-ea"/>
            </a:endParaRPr>
          </a:p>
          <a:p>
            <a:pPr>
              <a:buNone/>
            </a:pP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汇报路线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8500" y="1365250"/>
            <a:ext cx="874014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1. 本组前端工作进度：先讲本周完成了什么。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2. 系统功能演示：按页面走一遍核心界面。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3. 开发问题探讨：后端接口、数据库、部署、分支协作。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4. 开源与 AI 开发分享：工具链和 AI 辅助开发经验。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本周前端工作总览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35" y="1205230"/>
            <a:ext cx="9015730" cy="303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sz="2250" b="1">
                <a:solidFill>
                  <a:srgbClr val="25364D"/>
                </a:solidFill>
                <a:sym typeface="+mn-ea"/>
              </a:rPr>
              <a:t>从 mock 展示走向真实接口联调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登录从“选择角色”改为“账号密码 + JWT Token”。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新增 auth.ts、dict.ts，开始按后端 Swagger 接口拆分 API。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request.ts 统一处理响应格式、Token 请求头、错误提示。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字典类基础数据已对接后端，未完成模块继续保留 mock。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增加构建产物、Nginx 配置和部署说明。</a:t>
            </a:r>
            <a:endParaRPr lang="zh-CN" altLang="en-US" sz="2250">
              <a:solidFill>
                <a:srgbClr val="25364D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登录页改进：从演示入口到真实登录</a:t>
            </a:r>
            <a:endParaRPr lang="zh-CN" altLang="en-US"/>
          </a:p>
        </p:txBody>
      </p:sp>
      <p:sp>
        <p:nvSpPr>
          <p:cNvPr id="6" name="shape"/>
          <p:cNvSpPr/>
          <p:nvPr/>
        </p:nvSpPr>
        <p:spPr>
          <a:xfrm>
            <a:off x="129540" y="925195"/>
            <a:ext cx="3844290" cy="520001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16865" y="1255395"/>
            <a:ext cx="3274695" cy="47148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上周是角色选择登录，适合原型演示。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本周后端提供 Token 登录接口。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前端改为账号、密码、登录按钮。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登录成功后跳转首页并保存用户状态。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559300" y="955040"/>
            <a:ext cx="7450455" cy="429704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olidFill>
                  <a:srgbClr val="FFFFFF"/>
                </a:solidFill>
                <a:sym typeface="+mn-ea"/>
              </a:rPr>
              <a:t>登录实现逻辑</a:t>
            </a:r>
            <a:endParaRPr sz="280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0" name="shape"/>
          <p:cNvSpPr/>
          <p:nvPr/>
        </p:nvSpPr>
        <p:spPr>
          <a:xfrm>
            <a:off x="174625" y="1000125"/>
            <a:ext cx="459867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94665" y="1350010"/>
            <a:ext cx="3975735" cy="476313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endParaRPr lang="zh-CN" sz="19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用 reactive 保存账号和密码。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点击登录时先做空值校验。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调用 Pinia 的 user.login。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loading 状态避免重复点击。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登录成功后 router.push('/dashboard')。</a:t>
            </a:r>
            <a:endParaRPr lang="zh-CN" sz="1950" b="0">
              <a:solidFill>
                <a:srgbClr val="25364D"/>
              </a:solidFill>
            </a:endParaRPr>
          </a:p>
        </p:txBody>
      </p:sp>
      <p:sp>
        <p:nvSpPr>
          <p:cNvPr id="22" name="shape"/>
          <p:cNvSpPr/>
          <p:nvPr/>
        </p:nvSpPr>
        <p:spPr>
          <a:xfrm>
            <a:off x="5324475" y="1000125"/>
            <a:ext cx="6514465" cy="5394960"/>
          </a:xfrm>
          <a:prstGeom prst="roundRect">
            <a:avLst/>
          </a:prstGeom>
          <a:solidFill>
            <a:srgbClr val="10203A"/>
          </a:solidFill>
          <a:ln>
            <a:solidFill>
              <a:srgbClr val="10203A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644515" y="1329690"/>
            <a:ext cx="5988050" cy="476313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500" b="1">
                <a:solidFill>
                  <a:srgbClr val="EAF2FF"/>
                </a:solidFill>
              </a:rPr>
              <a:t>代码关键点</a:t>
            </a:r>
            <a:endParaRPr lang="zh-CN" sz="1500" b="1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const form = reactive({ username: 'admin', password: '123456' })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await user.login(form.username, form.password)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ElMessage.success('登录成功')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router.push('/dashboard')</a:t>
            </a:r>
            <a:endParaRPr lang="zh-CN" sz="1500" b="0">
              <a:solidFill>
                <a:srgbClr val="EAF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auth.ts：登录接口封装</a:t>
            </a:r>
            <a:endParaRPr lang="zh-CN" altLang="en-US"/>
          </a:p>
        </p:txBody>
      </p:sp>
      <p:sp>
        <p:nvSpPr>
          <p:cNvPr id="6" name="shape"/>
          <p:cNvSpPr/>
          <p:nvPr/>
        </p:nvSpPr>
        <p:spPr>
          <a:xfrm>
            <a:off x="559435" y="1028700"/>
            <a:ext cx="4081780" cy="533146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46150" y="1378585"/>
            <a:ext cx="3528695" cy="47078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950" b="1">
                <a:solidFill>
                  <a:srgbClr val="25364D"/>
                </a:solidFill>
              </a:rPr>
              <a:t>单独建 auth.ts</a:t>
            </a:r>
            <a:endParaRPr lang="zh-CN" sz="19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登录相关接口集中管理。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明确请求参数和返回类型。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页面不用关心 URL 细节。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后续增加退出、注册、当前用户接口更方便。</a:t>
            </a:r>
            <a:endParaRPr lang="zh-CN" sz="1950" b="0">
              <a:solidFill>
                <a:srgbClr val="25364D"/>
              </a:solidFill>
            </a:endParaRPr>
          </a:p>
        </p:txBody>
      </p:sp>
      <p:sp>
        <p:nvSpPr>
          <p:cNvPr id="8" name="shape"/>
          <p:cNvSpPr/>
          <p:nvPr/>
        </p:nvSpPr>
        <p:spPr>
          <a:xfrm>
            <a:off x="5775960" y="1028700"/>
            <a:ext cx="5782310" cy="5331460"/>
          </a:xfrm>
          <a:prstGeom prst="roundRect">
            <a:avLst/>
          </a:prstGeom>
          <a:solidFill>
            <a:srgbClr val="10203A"/>
          </a:solidFill>
          <a:ln>
            <a:solidFill>
              <a:srgbClr val="10203A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6096000" y="1358265"/>
            <a:ext cx="5314950" cy="47078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500" b="1">
                <a:solidFill>
                  <a:srgbClr val="EAF2FF"/>
                </a:solidFill>
              </a:rPr>
              <a:t>代码关键点</a:t>
            </a:r>
            <a:endParaRPr lang="zh-CN" sz="1500" b="1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POST /sysuser/login/token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GET  /sysuser/get/login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LoginPayload: username + password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LoginUser: id + username + roleCode + token</a:t>
            </a:r>
            <a:endParaRPr lang="zh-CN" sz="1500" b="0">
              <a:solidFill>
                <a:srgbClr val="EAF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stores/user.ts：登录状态管理</a:t>
            </a:r>
            <a:endParaRPr lang="zh-CN" altLang="en-US"/>
          </a:p>
        </p:txBody>
      </p:sp>
      <p:sp>
        <p:nvSpPr>
          <p:cNvPr id="8" name="shape"/>
          <p:cNvSpPr/>
          <p:nvPr/>
        </p:nvSpPr>
        <p:spPr>
          <a:xfrm>
            <a:off x="574040" y="1000125"/>
            <a:ext cx="4108450" cy="527494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94080" y="1350010"/>
            <a:ext cx="3552190" cy="46570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950" b="1">
                <a:solidFill>
                  <a:srgbClr val="25364D"/>
                </a:solidFill>
              </a:rPr>
              <a:t>Pinia 负责全局用户状态</a:t>
            </a:r>
            <a:endParaRPr lang="zh-CN" sz="19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保存 name、role、token。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localStorage 支持刷新后保持登录态。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roleName 用于页面展示角色中文名。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logout 时清空本地状态。</a:t>
            </a:r>
            <a:endParaRPr lang="zh-CN" sz="1950" b="0">
              <a:solidFill>
                <a:srgbClr val="25364D"/>
              </a:solidFill>
            </a:endParaRPr>
          </a:p>
        </p:txBody>
      </p:sp>
      <p:sp>
        <p:nvSpPr>
          <p:cNvPr id="10" name="shape"/>
          <p:cNvSpPr/>
          <p:nvPr/>
        </p:nvSpPr>
        <p:spPr>
          <a:xfrm>
            <a:off x="5723890" y="1000125"/>
            <a:ext cx="5821045" cy="5274945"/>
          </a:xfrm>
          <a:prstGeom prst="roundRect">
            <a:avLst/>
          </a:prstGeom>
          <a:solidFill>
            <a:srgbClr val="10203A"/>
          </a:solidFill>
          <a:ln>
            <a:solidFill>
              <a:srgbClr val="10203A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6043930" y="1329690"/>
            <a:ext cx="5349875" cy="46570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500" b="1">
                <a:solidFill>
                  <a:srgbClr val="EAF2FF"/>
                </a:solidFill>
              </a:rPr>
              <a:t>代码关键点</a:t>
            </a:r>
            <a:endParaRPr lang="zh-CN" sz="1500" b="1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setLoginState({ username, roleCode, token })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localStorage.setItem('token', token)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refreshLoginUser() -&gt; /sysuser/get/login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logout() -&gt; remove token / role / name</a:t>
            </a:r>
            <a:endParaRPr lang="zh-CN" sz="1500" b="0">
              <a:solidFill>
                <a:srgbClr val="EAF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标题 8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request.ts：统一请求规范</a:t>
            </a:r>
            <a:endParaRPr lang="zh-CN" altLang="en-US"/>
          </a:p>
        </p:txBody>
      </p:sp>
      <p:sp>
        <p:nvSpPr>
          <p:cNvPr id="13" name="shape"/>
          <p:cNvSpPr/>
          <p:nvPr/>
        </p:nvSpPr>
        <p:spPr>
          <a:xfrm>
            <a:off x="330200" y="1000125"/>
            <a:ext cx="4323080" cy="539369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650240" y="1350010"/>
            <a:ext cx="373761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950" b="1">
                <a:solidFill>
                  <a:srgbClr val="25364D"/>
                </a:solidFill>
              </a:rPr>
              <a:t>对齐前端开发须知</a:t>
            </a:r>
            <a:endParaRPr lang="zh-CN" sz="19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baseURL 统一为 /api。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请求拦截器自动携带 JWT。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响应拦截器只把 data 返回给页面。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40100 自动清空 Token 并回登录页。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其他错误统一弹窗提示。</a:t>
            </a:r>
            <a:endParaRPr lang="zh-CN" sz="1950" b="0">
              <a:solidFill>
                <a:srgbClr val="25364D"/>
              </a:solidFill>
            </a:endParaRPr>
          </a:p>
        </p:txBody>
      </p:sp>
      <p:sp>
        <p:nvSpPr>
          <p:cNvPr id="15" name="shape"/>
          <p:cNvSpPr/>
          <p:nvPr/>
        </p:nvSpPr>
        <p:spPr>
          <a:xfrm>
            <a:off x="5480050" y="1000125"/>
            <a:ext cx="6124575" cy="5393690"/>
          </a:xfrm>
          <a:prstGeom prst="roundRect">
            <a:avLst/>
          </a:prstGeom>
          <a:solidFill>
            <a:srgbClr val="10203A"/>
          </a:solidFill>
          <a:ln>
            <a:solidFill>
              <a:srgbClr val="10203A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5800090" y="1329690"/>
            <a:ext cx="562991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500" b="1">
                <a:solidFill>
                  <a:srgbClr val="EAF2FF"/>
                </a:solidFill>
              </a:rPr>
              <a:t>代码关键点</a:t>
            </a:r>
            <a:endParaRPr lang="zh-CN" sz="1500" b="1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Authorization: Bearer &lt;token&gt;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BaseResponse&lt;T&gt; = { code, data, message }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code === 0 -&gt; return result.data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code === 40100 -&gt; 清 token + 跳转 login</a:t>
            </a:r>
            <a:endParaRPr lang="zh-CN" sz="1500" b="0">
              <a:solidFill>
                <a:srgbClr val="EAF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标题 8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dict.ts：基础字典接口</a:t>
            </a:r>
            <a:endParaRPr lang="zh-CN" altLang="en-US"/>
          </a:p>
        </p:txBody>
      </p:sp>
      <p:sp>
        <p:nvSpPr>
          <p:cNvPr id="10" name="shape"/>
          <p:cNvSpPr/>
          <p:nvPr/>
        </p:nvSpPr>
        <p:spPr>
          <a:xfrm>
            <a:off x="320040" y="1000125"/>
            <a:ext cx="4396105" cy="527431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640080" y="1350010"/>
            <a:ext cx="3800475" cy="46570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950" b="1">
                <a:solidFill>
                  <a:srgbClr val="25364D"/>
                </a:solidFill>
              </a:rPr>
              <a:t>本周已对接的后端模块</a:t>
            </a:r>
            <a:endParaRPr lang="zh-CN" sz="19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学院字典：/dict/college/page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专业字典：/dict/major/page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学年学期：/dict/schoolyear/page</a:t>
            </a:r>
            <a:endParaRPr lang="zh-CN" sz="19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950" b="0">
                <a:solidFill>
                  <a:srgbClr val="25364D"/>
                </a:solidFill>
              </a:rPr>
              <a:t>使用 PageResult&lt;T&gt; 统一描述分页结果。</a:t>
            </a:r>
            <a:endParaRPr lang="zh-CN" sz="1950" b="0">
              <a:solidFill>
                <a:srgbClr val="25364D"/>
              </a:solidFill>
            </a:endParaRPr>
          </a:p>
        </p:txBody>
      </p:sp>
      <p:sp>
        <p:nvSpPr>
          <p:cNvPr id="12" name="shape"/>
          <p:cNvSpPr/>
          <p:nvPr/>
        </p:nvSpPr>
        <p:spPr>
          <a:xfrm>
            <a:off x="5469890" y="1000125"/>
            <a:ext cx="6228715" cy="5274310"/>
          </a:xfrm>
          <a:prstGeom prst="roundRect">
            <a:avLst/>
          </a:prstGeom>
          <a:solidFill>
            <a:srgbClr val="10203A"/>
          </a:solidFill>
          <a:ln>
            <a:solidFill>
              <a:srgbClr val="10203A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789930" y="1329690"/>
            <a:ext cx="5725160" cy="46570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500" b="1">
                <a:solidFill>
                  <a:srgbClr val="EAF2FF"/>
                </a:solidFill>
              </a:rPr>
              <a:t>代码关键点</a:t>
            </a:r>
            <a:endParaRPr lang="zh-CN" sz="1500" b="1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pageColleges({ current, pageSize })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pageMajors({ current, pageSize })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pageSchoolYears({ current, pageSize })</a:t>
            </a:r>
            <a:endParaRPr lang="zh-CN" sz="1500" b="0">
              <a:solidFill>
                <a:srgbClr val="EAF2FF"/>
              </a:solidFill>
            </a:endParaRPr>
          </a:p>
          <a:p>
            <a:pPr>
              <a:buNone/>
            </a:pPr>
            <a:r>
              <a:rPr lang="zh-CN" sz="1500" b="0">
                <a:solidFill>
                  <a:srgbClr val="EAF2FF"/>
                </a:solidFill>
              </a:rPr>
              <a:t>records / total / size / current / pages</a:t>
            </a:r>
            <a:endParaRPr lang="zh-CN" sz="1500" b="0">
              <a:solidFill>
                <a:srgbClr val="EAF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基础数据页：真实接口 + mock 并存</a:t>
            </a:r>
            <a:endParaRPr lang="zh-CN" altLang="en-US"/>
          </a:p>
        </p:txBody>
      </p:sp>
      <p:sp>
        <p:nvSpPr>
          <p:cNvPr id="8" name="shape"/>
          <p:cNvSpPr/>
          <p:nvPr/>
        </p:nvSpPr>
        <p:spPr>
          <a:xfrm>
            <a:off x="520065" y="1029970"/>
            <a:ext cx="3446780" cy="505015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40105" y="1360170"/>
            <a:ext cx="2936240" cy="457898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页面改动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新增学院、专业、学年学期三块后端字典表。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页面标注“后端接口”和“mock展示”。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课程库和指标点暂未有完整后端接口。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altLang="en-US" sz="1820" b="0">
                <a:solidFill>
                  <a:srgbClr val="25364D"/>
                </a:solidFill>
              </a:rPr>
              <a:t>后端已有接口：前端真实请求。</a:t>
            </a:r>
            <a:endParaRPr lang="zh-CN" altLang="en-US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altLang="en-US" sz="1820" b="0">
                <a:solidFill>
                  <a:srgbClr val="25364D"/>
                </a:solidFill>
              </a:rPr>
              <a:t>后端未完成接口：前端继续用 </a:t>
            </a:r>
            <a:r>
              <a:rPr lang="en-US" altLang="zh-CN" sz="1820" b="0">
                <a:solidFill>
                  <a:srgbClr val="25364D"/>
                </a:solidFill>
              </a:rPr>
              <a:t>mock </a:t>
            </a:r>
            <a:r>
              <a:rPr lang="zh-CN" altLang="en-US" sz="1820" b="0">
                <a:solidFill>
                  <a:srgbClr val="25364D"/>
                </a:solidFill>
              </a:rPr>
              <a:t>展示业务流程。</a:t>
            </a:r>
            <a:endParaRPr lang="zh-CN" altLang="en-US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altLang="en-US" sz="1820" b="0">
                <a:solidFill>
                  <a:srgbClr val="25364D"/>
                </a:solidFill>
              </a:rPr>
              <a:t>好处是页面不会因为接口未完成而空白。</a:t>
            </a:r>
            <a:endParaRPr lang="zh-CN" altLang="en-US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altLang="en-US" sz="1820" b="0">
                <a:solidFill>
                  <a:srgbClr val="25364D"/>
                </a:solidFill>
              </a:rPr>
              <a:t>后续后端补齐后，只替换数据来源，不大改 </a:t>
            </a:r>
            <a:r>
              <a:rPr lang="en-US" altLang="zh-CN" sz="1820" b="0">
                <a:solidFill>
                  <a:srgbClr val="25364D"/>
                </a:solidFill>
              </a:rPr>
              <a:t>UI。</a:t>
            </a:r>
            <a:endParaRPr lang="en-US" altLang="zh-CN" sz="182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427220" y="1059815"/>
            <a:ext cx="7203440" cy="452437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shape"/>
          <p:cNvSpPr/>
          <p:nvPr/>
        </p:nvSpPr>
        <p:spPr>
          <a:xfrm>
            <a:off x="170720" y="1020000"/>
            <a:ext cx="11850000" cy="555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530720" y="1380000"/>
            <a:ext cx="111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</a:rPr>
              <a:t>前端开发须知文档要求与前端实现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统一响应：request.ts 按 BaseResponse 解析。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错误码：code 不是 0 时统一提示，40100 回登录。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JWT：请求头使用 Authorization: Bearer token。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分页：dict.ts 使用 current/pageSize 和 PageResult。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文件上传：成绩导入页保留 Excel 上传入口，后续接 multipart/form-data。</a:t>
            </a:r>
            <a:endParaRPr lang="zh-CN" sz="2250" b="0">
              <a:solidFill>
                <a:srgbClr val="25364D"/>
              </a:solidFill>
            </a:endParaRPr>
          </a:p>
        </p:txBody>
      </p:sp>
      <p:sp>
        <p:nvSpPr>
          <p:cNvPr id="18" name="标题 17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前端开发须知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0" name="标题 9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首页看板：系统整体状态展示</a:t>
            </a:r>
            <a:endParaRPr lang="zh-CN" altLang="en-US"/>
          </a:p>
        </p:txBody>
      </p:sp>
      <p:sp>
        <p:nvSpPr>
          <p:cNvPr id="11" name="shape"/>
          <p:cNvSpPr/>
          <p:nvPr/>
        </p:nvSpPr>
        <p:spPr>
          <a:xfrm>
            <a:off x="520065" y="1029970"/>
            <a:ext cx="3482340" cy="513143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40105" y="1360170"/>
            <a:ext cx="2966085" cy="465264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给老师和管理员看全局状态。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指标卡片展示课程、学生、锁定状态。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雷达图展示毕业要求达成度。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快捷入口连接主要业务模块。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3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721225" y="1059815"/>
            <a:ext cx="6977380" cy="437197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宏观支撑矩阵：权重配置演示</a:t>
            </a:r>
            <a:endParaRPr lang="zh-CN" altLang="en-US"/>
          </a:p>
        </p:txBody>
      </p:sp>
      <p:sp>
        <p:nvSpPr>
          <p:cNvPr id="6" name="shape"/>
          <p:cNvSpPr/>
          <p:nvPr/>
        </p:nvSpPr>
        <p:spPr>
          <a:xfrm>
            <a:off x="520065" y="1029970"/>
            <a:ext cx="3525520" cy="51435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40105" y="1360170"/>
            <a:ext cx="3003550" cy="466280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课程对毕业要求指标点的支撑权重 Wc。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每列合计为 1.00，保证计算权重有效。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当前作为专业级计算前置配置展示。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后端 SQL 已有矩阵表，接口后续补齐。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512945" y="1059815"/>
            <a:ext cx="7270750" cy="4544060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课程大纲：课程目标与权重</a:t>
            </a:r>
            <a:endParaRPr lang="zh-CN" altLang="en-US"/>
          </a:p>
        </p:txBody>
      </p:sp>
      <p:sp>
        <p:nvSpPr>
          <p:cNvPr id="7" name="shape"/>
          <p:cNvSpPr/>
          <p:nvPr/>
        </p:nvSpPr>
        <p:spPr>
          <a:xfrm>
            <a:off x="396240" y="1096645"/>
            <a:ext cx="3482340" cy="502729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716280" y="1426845"/>
            <a:ext cx="2966085" cy="455866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管理课程目标 CO。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配置课程目标到指标点的内部权重 wjk。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管理考核点、分值和考核方式。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对应课程级达成度计算前置数据。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369435" y="1126490"/>
            <a:ext cx="7205980" cy="4410710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成绩导入与课程级计算</a:t>
            </a:r>
            <a:endParaRPr lang="zh-CN" altLang="en-US"/>
          </a:p>
        </p:txBody>
      </p:sp>
      <p:sp>
        <p:nvSpPr>
          <p:cNvPr id="16" name="shape"/>
          <p:cNvSpPr/>
          <p:nvPr/>
        </p:nvSpPr>
        <p:spPr>
          <a:xfrm>
            <a:off x="520065" y="1029970"/>
            <a:ext cx="3583305" cy="538416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40105" y="1360170"/>
            <a:ext cx="3052445" cy="488124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提供 Excel 导入和模板下载入口。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展示学生各考核点原始成绩。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点击计算并锁定，生成课程级达成度结果。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当前保留 mock，等待成绩接口实现。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8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568825" y="1059815"/>
            <a:ext cx="7326630" cy="466788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专业计算与报表导出</a:t>
            </a:r>
            <a:endParaRPr lang="zh-CN" altLang="en-US"/>
          </a:p>
        </p:txBody>
      </p:sp>
      <p:sp>
        <p:nvSpPr>
          <p:cNvPr id="7" name="shape"/>
          <p:cNvSpPr/>
          <p:nvPr/>
        </p:nvSpPr>
        <p:spPr>
          <a:xfrm>
            <a:off x="520065" y="1029970"/>
            <a:ext cx="3482340" cy="524700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40105" y="1360170"/>
            <a:ext cx="2966085" cy="475678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检查课程锁定状态。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展示三层计算链路。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输出专业指标点最终达成度 Gk。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报表中心用于导出认证材料。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559300" y="1059815"/>
            <a:ext cx="7139305" cy="453453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8" name="标题 7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报表中心</a:t>
            </a:r>
            <a:endParaRPr lang="zh-CN" altLang="en-US"/>
          </a:p>
        </p:txBody>
      </p:sp>
      <p:sp>
        <p:nvSpPr>
          <p:cNvPr id="9" name="shape"/>
          <p:cNvSpPr/>
          <p:nvPr/>
        </p:nvSpPr>
        <p:spPr>
          <a:xfrm>
            <a:off x="520065" y="1029970"/>
            <a:ext cx="3525520" cy="539559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40105" y="1360170"/>
            <a:ext cx="3002915" cy="489077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20" b="1">
                <a:solidFill>
                  <a:srgbClr val="25364D"/>
                </a:solidFill>
              </a:rPr>
              <a:t>功能定位</a:t>
            </a:r>
            <a:endParaRPr lang="zh-CN" sz="182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展示单项指标点达成度。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提供 Excel / PDF 导出入口。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对应认证材料整理和追溯。</a:t>
            </a:r>
            <a:endParaRPr lang="zh-CN" sz="182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20" b="0">
                <a:solidFill>
                  <a:srgbClr val="25364D"/>
                </a:solidFill>
              </a:rPr>
              <a:t>后续可接入真实报表下载接口。</a:t>
            </a:r>
            <a:endParaRPr lang="zh-CN" sz="1820" b="0">
              <a:solidFill>
                <a:srgbClr val="25364D"/>
              </a:solidFill>
            </a:endParaRPr>
          </a:p>
        </p:txBody>
      </p:sp>
      <p:pic>
        <p:nvPicPr>
          <p:cNvPr id="12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568825" y="1059815"/>
            <a:ext cx="7214235" cy="4675505"/>
          </a:xfrm>
          <a:prstGeom prst="rect">
            <a:avLst/>
          </a:prstGeom>
          <a:ln>
            <a:solidFill>
              <a:srgbClr val="D9E4F2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shape"/>
          <p:cNvSpPr/>
          <p:nvPr/>
        </p:nvSpPr>
        <p:spPr>
          <a:xfrm>
            <a:off x="341630" y="1019810"/>
            <a:ext cx="11516995" cy="535495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701675" y="1379855"/>
            <a:ext cx="10788650" cy="472821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  <a:sym typeface="+mn-ea"/>
              </a:rPr>
              <a:t>本周问题复盘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后端 JDK 要求 17，本机原来是 JDK 8，启动失败。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数据库建表 SQL 更新后，本地旧表缺少 sys_dict_school_year，原因是负责前端的同学没有及时拉取更新的内容。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GitHub 网络不稳定，push / pull 可能失败。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分支协作容易混淆：后端分支和前端分支不能混着提交。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>
                <a:solidFill>
                  <a:srgbClr val="25364D"/>
                </a:solidFill>
                <a:sym typeface="+mn-ea"/>
              </a:rPr>
              <a:t>解决思路：看 Swagger、看后端实体、用 PowerShell 逐个测接口。</a:t>
            </a:r>
            <a:endParaRPr lang="zh-CN" sz="2250" b="0">
              <a:solidFill>
                <a:srgbClr val="25364D"/>
              </a:solidFill>
            </a:endParaRPr>
          </a:p>
        </p:txBody>
      </p:sp>
      <p:sp>
        <p:nvSpPr>
          <p:cNvPr id="10" name="标题 9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开发中遇到的问题</a:t>
            </a:r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开源技术栈分享</a:t>
            </a:r>
            <a:endParaRPr lang="zh-CN" altLang="en-US"/>
          </a:p>
        </p:txBody>
      </p:sp>
      <p:sp>
        <p:nvSpPr>
          <p:cNvPr id="6" name="shape"/>
          <p:cNvSpPr/>
          <p:nvPr/>
        </p:nvSpPr>
        <p:spPr>
          <a:xfrm>
            <a:off x="294005" y="1019810"/>
            <a:ext cx="11431905" cy="545465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654050" y="1379855"/>
            <a:ext cx="10708005" cy="48164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</a:rPr>
              <a:t>我们用到的开源工具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Vue：构建前端页面。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Vite：本地开发服务器和构建工具。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Element Plus：后台管理 UI 组件。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Pinia：全局登录状态管理。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Axios：前后端请求通信。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ECharts：达成度图表展示。</a:t>
            </a:r>
            <a:endParaRPr lang="zh-CN" sz="2250" b="0">
              <a:solidFill>
                <a:srgbClr val="25364D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AI 辅助开发分享</a:t>
            </a:r>
            <a:endParaRPr lang="zh-CN" altLang="en-US"/>
          </a:p>
        </p:txBody>
      </p:sp>
      <p:sp>
        <p:nvSpPr>
          <p:cNvPr id="6" name="shape"/>
          <p:cNvSpPr/>
          <p:nvPr/>
        </p:nvSpPr>
        <p:spPr>
          <a:xfrm>
            <a:off x="760095" y="1019810"/>
            <a:ext cx="10859770" cy="522351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1120140" y="1379855"/>
            <a:ext cx="10172700" cy="4612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</a:rPr>
              <a:t>AI 在本周帮了什么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快速阅读前端开发须知，提炼接口规范。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根据后端 Controller / Entity 反推前端 API 类型。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定位 502、系统错误、数据库表缺失等联调问题。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但关键判断仍要靠真实运行、日志和团队确认。</a:t>
            </a:r>
            <a:endParaRPr lang="zh-CN" sz="2250" b="0">
              <a:solidFill>
                <a:srgbClr val="25364D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后续计划</a:t>
            </a:r>
            <a:endParaRPr lang="zh-CN" altLang="en-US"/>
          </a:p>
        </p:txBody>
      </p:sp>
      <p:sp>
        <p:nvSpPr>
          <p:cNvPr id="9" name="shape"/>
          <p:cNvSpPr/>
          <p:nvPr/>
        </p:nvSpPr>
        <p:spPr>
          <a:xfrm>
            <a:off x="370205" y="953135"/>
            <a:ext cx="113284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730250" y="1313180"/>
            <a:ext cx="10611485" cy="480441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</a:rPr>
              <a:t>下一步前端工作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继续把课程、学生、成绩、权重、计算接口从 mock 替换为真实接口。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根据角色权限控制菜单和按钮显隐。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增加表格分页、搜索、增删改弹窗。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完成 Excel 上传和报表下载接口联调。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优化构建体积和部署流程。</a:t>
            </a:r>
            <a:endParaRPr lang="zh-CN" sz="2250" b="0">
              <a:solidFill>
                <a:srgbClr val="25364D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>
                <a:solidFill>
                  <a:srgbClr val="FFFFFF"/>
                </a:solidFill>
                <a:sym typeface="+mn-ea"/>
              </a:rPr>
              <a:t>总结</a:t>
            </a:r>
            <a:endParaRPr lang="zh-CN" altLang="en-US"/>
          </a:p>
        </p:txBody>
      </p:sp>
      <p:sp>
        <p:nvSpPr>
          <p:cNvPr id="4" name="shape"/>
          <p:cNvSpPr/>
          <p:nvPr/>
        </p:nvSpPr>
        <p:spPr>
          <a:xfrm>
            <a:off x="370205" y="1019810"/>
            <a:ext cx="11327765" cy="5375275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730250" y="1379855"/>
            <a:ext cx="10611485" cy="4745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250" b="1">
                <a:solidFill>
                  <a:srgbClr val="25364D"/>
                </a:solidFill>
              </a:rPr>
              <a:t>本周前端改进的核心价值</a:t>
            </a:r>
            <a:endParaRPr lang="zh-CN" sz="22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从纯演示原型，推进到可登录、可鉴权、可联调的前端结构。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API 拆分后，后续模块可以逐步接入真实后端。</a:t>
            </a:r>
            <a:endParaRPr lang="zh-CN" sz="22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250" b="0">
                <a:solidFill>
                  <a:srgbClr val="25364D"/>
                </a:solidFill>
              </a:rPr>
              <a:t>mock 与真实接口并存，保证开发节奏和课堂演示都不被阻断。</a:t>
            </a:r>
            <a:endParaRPr lang="zh-CN" sz="2250" b="0">
              <a:solidFill>
                <a:srgbClr val="25364D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4236086" y="2030205"/>
            <a:ext cx="3719830" cy="10153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600" b="1" spc="300" dirty="0">
                <a:solidFill>
                  <a:schemeClr val="accent2"/>
                </a:solidFill>
                <a:cs typeface="+mn-ea"/>
                <a:sym typeface="+mn-lt"/>
              </a:rPr>
              <a:t>THANKS</a:t>
            </a:r>
            <a:endParaRPr lang="zh-CN" altLang="en-US" sz="5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  <p:sp>
        <p:nvSpPr>
          <p:cNvPr id="21" name="powerpoint template design by DAJU_PPT正版来源小红书大橘PPT微信DAJU_PPT请勿抄袭搬运！盗版必究！-1"/>
          <p:cNvSpPr txBox="1"/>
          <p:nvPr/>
        </p:nvSpPr>
        <p:spPr>
          <a:xfrm>
            <a:off x="4750289" y="4088870"/>
            <a:ext cx="2691423" cy="4546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</a:t>
            </a:r>
            <a:r>
              <a:rPr lang="zh-CN" altLang="en-US" sz="1800" b="1" smtClean="0">
                <a:latin typeface="+mn-ea"/>
              </a:rPr>
              <a:t>：</a:t>
            </a:r>
            <a:endParaRPr lang="zh-CN" altLang="en-US" sz="1800" b="1" smtClean="0">
              <a:latin typeface="+mn-ea"/>
            </a:endParaRPr>
          </a:p>
        </p:txBody>
      </p:sp>
    </p:spTree>
    <p:custDataLst>
      <p:tags r:id="rId8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ISLIDE.ICON" val="#36637;"/>
</p:tagLst>
</file>

<file path=ppt/tags/tag8.xml><?xml version="1.0" encoding="utf-8"?>
<p:tagLst xmlns:p="http://schemas.openxmlformats.org/presentationml/2006/main">
  <p:tag name="TABLE_ENDDRAG_ORIGIN_RECT" val="821*112"/>
  <p:tag name="TABLE_ENDDRAG_RECT" val="71*187*821*113"/>
</p:tagLst>
</file>

<file path=ppt/tags/tag9.xml><?xml version="1.0" encoding="utf-8"?>
<p:tagLst xmlns:p="http://schemas.openxmlformats.org/presentationml/2006/main">
  <p:tag name="PA" val="v5.2.9"/>
</p:tagLst>
</file>

<file path=ppt/tags/tag10.xml><?xml version="1.0" encoding="utf-8"?>
<p:tagLst xmlns:p="http://schemas.openxmlformats.org/presentationml/2006/main">
  <p:tag name="PA" val="v5.2.9"/>
</p:tagLst>
</file>

<file path=ppt/tags/tag11.xml><?xml version="1.0" encoding="utf-8"?>
<p:tagLst xmlns:p="http://schemas.openxmlformats.org/presentationml/2006/main">
  <p:tag name="PA" val="v5.2.9"/>
</p:tagLst>
</file>

<file path=ppt/tags/tag12.xml><?xml version="1.0" encoding="utf-8"?>
<p:tagLst xmlns:p="http://schemas.openxmlformats.org/presentationml/2006/main">
  <p:tag name="PA" val="v5.2.9"/>
</p:tagLst>
</file>

<file path=ppt/tags/tag13.xml><?xml version="1.0" encoding="utf-8"?>
<p:tagLst xmlns:p="http://schemas.openxmlformats.org/presentationml/2006/main">
  <p:tag name="PA" val="v5.2.9"/>
</p:tagLst>
</file>

<file path=ppt/tags/tag14.xml><?xml version="1.0" encoding="utf-8"?>
<p:tagLst xmlns:p="http://schemas.openxmlformats.org/presentationml/2006/main">
  <p:tag name="PA" val="v5.2.9"/>
</p:tagLst>
</file>

<file path=ppt/tags/tag15.xml><?xml version="1.0" encoding="utf-8"?>
<p:tagLst xmlns:p="http://schemas.openxmlformats.org/presentationml/2006/main">
  <p:tag name="ISLIDE.ICON" val="#36637;"/>
</p:tagLst>
</file>

<file path=ppt/tags/tag16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4180</Words>
  <Application>WPS 演示</Application>
  <PresentationFormat>宽屏</PresentationFormat>
  <Paragraphs>462</Paragraphs>
  <Slides>34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阿里巴巴普惠体 2.0 45 Light</vt:lpstr>
      <vt:lpstr>Segoe Print</vt:lpstr>
      <vt:lpstr>Arial Unicode MS</vt:lpstr>
      <vt:lpstr>等线</vt:lpstr>
      <vt:lpstr>Helvetica</vt:lpstr>
      <vt:lpstr>KSOF7FC4CF2A</vt:lpstr>
      <vt:lpstr>KSOFB4AB0A6B</vt:lpstr>
      <vt:lpstr>Office Theme</vt:lpstr>
      <vt:lpstr>PowerPoint 演示文稿</vt:lpstr>
      <vt:lpstr>本周前端工作总览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本周后端工作总览</vt:lpstr>
      <vt:lpstr>汇报路线</vt:lpstr>
      <vt:lpstr>本周前端工作总览</vt:lpstr>
      <vt:lpstr>登录页改进：从演示入口到真实登录</vt:lpstr>
      <vt:lpstr>登录实现逻辑</vt:lpstr>
      <vt:lpstr>auth.ts：登录接口封装</vt:lpstr>
      <vt:lpstr>stores/user.ts：登录状态管理</vt:lpstr>
      <vt:lpstr>request.ts：统一请求规范</vt:lpstr>
      <vt:lpstr>dict.ts：基础字典接口</vt:lpstr>
      <vt:lpstr>基础数据页：真实接口 + mock 并存</vt:lpstr>
      <vt:lpstr>前端开发须知</vt:lpstr>
      <vt:lpstr>首页看板：系统整体状态展示</vt:lpstr>
      <vt:lpstr>宏观支撑矩阵：权重配置演示</vt:lpstr>
      <vt:lpstr>课程大纲：课程目标与权重</vt:lpstr>
      <vt:lpstr>成绩导入与课程级计算</vt:lpstr>
      <vt:lpstr>专业计算与报表导出</vt:lpstr>
      <vt:lpstr>报表中心</vt:lpstr>
      <vt:lpstr>开发中遇到的问题</vt:lpstr>
      <vt:lpstr>开源技术栈分享</vt:lpstr>
      <vt:lpstr>AI 辅助开发分享</vt:lpstr>
      <vt:lpstr>后续计划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像风像云像你.</cp:lastModifiedBy>
  <cp:revision>873</cp:revision>
  <dcterms:created xsi:type="dcterms:W3CDTF">2019-11-26T03:41:00Z</dcterms:created>
  <dcterms:modified xsi:type="dcterms:W3CDTF">2026-06-02T12:37:06Z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A379D433551C4B65ADAE7CCF3FCD8602_13</vt:lpwstr>
  </property>
  <property fmtid="{D5CDD505-2E9C-101B-9397-08002B2CF9AE}" pid="3" name="KSOProductBuildVer">
    <vt:lpwstr>2052-12.1.0.26375</vt:lpwstr>
  </property>
</Properties>
</file>